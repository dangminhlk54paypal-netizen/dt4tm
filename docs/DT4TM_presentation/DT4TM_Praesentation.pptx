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t>Eigenwertanalyse: Zeitkonstanten τᵢ [s]</a:t>
            </a:r>
          </a:p>
        </c:rich>
      </c:tx>
      <c:layout/>
      <c:overlay val="0"/>
    </c:title>
    <c:autoTitleDeleted val="0"/>
    <c:plotArea>
      <c:barChart>
        <c:barDir val="col"/>
        <c:grouping val="clustered"/>
        <c:ser>
          <c:idx val="0"/>
          <c:order val="0"/>
          <c:tx>
            <c:strRef>
              <c:f>Sheet1!$B$1</c:f>
              <c:strCache>
                <c:ptCount val="1"/>
                <c:pt idx="0">
                  <c:v>τᵢ [s]</c:v>
                </c:pt>
              </c:strCache>
            </c:strRef>
          </c:tx>
          <c:dPt>
            <c:idx val="0"/>
            <c:spPr>
              <a:solidFill>
                <a:srgbClr val="2A9BD6"/>
              </a:solidFill>
            </c:spPr>
          </c:dPt>
          <c:dPt>
            <c:idx val="1"/>
            <c:spPr>
              <a:solidFill>
                <a:srgbClr val="8A8F98"/>
              </a:solidFill>
            </c:spPr>
          </c:dPt>
          <c:dPt>
            <c:idx val="2"/>
            <c:spPr>
              <a:solidFill>
                <a:srgbClr val="8A8F98"/>
              </a:solidFill>
            </c:spPr>
          </c:dPt>
          <c:dPt>
            <c:idx val="3"/>
            <c:spPr>
              <a:solidFill>
                <a:srgbClr val="8A8F98"/>
              </a:solidFill>
            </c:spPr>
          </c:dPt>
          <c:dPt>
            <c:idx val="4"/>
            <c:spPr>
              <a:solidFill>
                <a:srgbClr val="8A8F98"/>
              </a:solidFill>
            </c:spPr>
          </c:dPt>
          <c:dPt>
            <c:idx val="5"/>
            <c:spPr>
              <a:solidFill>
                <a:srgbClr val="8A8F98"/>
              </a:solidFill>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203.931</c:v>
                </c:pt>
                <c:pt idx="1">
                  <c:v>4.38</c:v>
                </c:pt>
                <c:pt idx="2">
                  <c:v>1.33</c:v>
                </c:pt>
                <c:pt idx="3">
                  <c:v>0.637</c:v>
                </c:pt>
                <c:pt idx="4">
                  <c:v>0.373</c:v>
                </c:pt>
                <c:pt idx="5">
                  <c:v>0.246</c:v>
                </c:pt>
              </c:numCache>
            </c:numRef>
          </c:val>
        </c:ser>
        <c:dLbls>
          <c:numFmt formatCode="0.0#&quot; s&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title>
          <c:tx>
            <c:rich>
              <a:bodyPr/>
              <a:lstStyle/>
              <a:p>
                <a:r>
                  <a:t>Eigenform i</a:t>
                </a:r>
              </a:p>
            </c:rich>
          </c:tx>
          <c:layout/>
          <c:overlay val="0"/>
        </c:title>
        <c:majorTickMark val="out"/>
        <c:minorTickMark val="none"/>
        <c:tickLblPos val="nextTo"/>
        <c:crossAx val="-2113994440"/>
        <c:crosses val="autoZero"/>
        <c:auto val="1"/>
        <c:lblAlgn val="ctr"/>
        <c:lblOffset val="100"/>
        <c:noMultiLvlLbl val="0"/>
      </c:catAx>
      <c:valAx>
        <c:axId val="-2113994440"/>
        <c:scaling>
          <c:logBase val="10"/>
          <c:max val="1000.0"/>
          <c:min val="0.1"/>
        </c:scaling>
        <c:delete val="0"/>
        <c:axPos val="l"/>
        <c:majorGridlines>
          <c:spPr>
            <a:ln>
              <a:solidFill>
                <a:srgbClr val="DDDDDD"/>
              </a:solidFill>
            </a:ln>
          </c:spPr>
        </c:majorGridlines>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400"/>
              <a:t>Aufheizen bei 5 A: ΔT heißester Knoten [K]</a:t>
            </a:r>
          </a:p>
        </c:rich>
      </c:tx>
      <c:layout/>
      <c:overlay val="0"/>
    </c:title>
    <c:plotArea>
      <c:scatterChart>
        <c:scatterStyle val="lineMarker"/>
        <c:varyColors val="0"/>
        <c:ser>
          <c:idx val="0"/>
          <c:order val="0"/>
          <c:tx>
            <c:strRef>
              <c:f>Sheet1!$B$1</c:f>
              <c:strCache>
                <c:ptCount val="1"/>
                <c:pt idx="0">
                  <c:v>FEM (697 Unbekannte)</c:v>
                </c:pt>
              </c:strCache>
            </c:strRef>
          </c:tx>
          <c:spPr>
            <a:ln w="38100">
              <a:solidFill>
                <a:srgbClr val="222222"/>
              </a:solidFill>
            </a:ln>
          </c:spPr>
          <c:marker>
            <c:symbol val="none"/>
          </c:marker>
          <c:xVal>
            <c:numRef>
              <c:f>Sheet1!$A$2:$A$58</c:f>
              <c:numCache>
                <c:formatCode>General</c:formatCode>
                <c:ptCount val="57"/>
                <c:pt idx="0">
                  <c:v>0.0</c:v>
                </c:pt>
                <c:pt idx="1">
                  <c:v>0.017</c:v>
                </c:pt>
                <c:pt idx="2">
                  <c:v>0.083</c:v>
                </c:pt>
                <c:pt idx="3">
                  <c:v>0.167</c:v>
                </c:pt>
                <c:pt idx="4">
                  <c:v>0.25</c:v>
                </c:pt>
                <c:pt idx="5">
                  <c:v>0.333</c:v>
                </c:pt>
                <c:pt idx="6">
                  <c:v>0.417</c:v>
                </c:pt>
                <c:pt idx="7">
                  <c:v>0.5</c:v>
                </c:pt>
                <c:pt idx="8">
                  <c:v>0.583</c:v>
                </c:pt>
                <c:pt idx="9">
                  <c:v>0.667</c:v>
                </c:pt>
                <c:pt idx="10">
                  <c:v>0.75</c:v>
                </c:pt>
                <c:pt idx="11">
                  <c:v>0.833</c:v>
                </c:pt>
                <c:pt idx="12">
                  <c:v>0.917</c:v>
                </c:pt>
                <c:pt idx="13">
                  <c:v>1.0</c:v>
                </c:pt>
                <c:pt idx="14">
                  <c:v>1.083</c:v>
                </c:pt>
                <c:pt idx="15">
                  <c:v>1.167</c:v>
                </c:pt>
                <c:pt idx="16">
                  <c:v>1.25</c:v>
                </c:pt>
                <c:pt idx="17">
                  <c:v>1.333</c:v>
                </c:pt>
                <c:pt idx="18">
                  <c:v>1.417</c:v>
                </c:pt>
                <c:pt idx="19">
                  <c:v>1.5</c:v>
                </c:pt>
                <c:pt idx="20">
                  <c:v>2.0</c:v>
                </c:pt>
                <c:pt idx="21">
                  <c:v>2.5</c:v>
                </c:pt>
                <c:pt idx="22">
                  <c:v>3.0</c:v>
                </c:pt>
                <c:pt idx="23">
                  <c:v>3.5</c:v>
                </c:pt>
                <c:pt idx="24">
                  <c:v>4.0</c:v>
                </c:pt>
                <c:pt idx="25">
                  <c:v>4.5</c:v>
                </c:pt>
                <c:pt idx="26">
                  <c:v>5.0</c:v>
                </c:pt>
                <c:pt idx="27">
                  <c:v>5.5</c:v>
                </c:pt>
                <c:pt idx="28">
                  <c:v>6.0</c:v>
                </c:pt>
                <c:pt idx="29">
                  <c:v>6.5</c:v>
                </c:pt>
                <c:pt idx="30">
                  <c:v>7.0</c:v>
                </c:pt>
                <c:pt idx="31">
                  <c:v>7.5</c:v>
                </c:pt>
                <c:pt idx="32">
                  <c:v>8.0</c:v>
                </c:pt>
                <c:pt idx="33">
                  <c:v>8.5</c:v>
                </c:pt>
                <c:pt idx="34">
                  <c:v>9.0</c:v>
                </c:pt>
                <c:pt idx="35">
                  <c:v>9.5</c:v>
                </c:pt>
                <c:pt idx="36">
                  <c:v>10.0</c:v>
                </c:pt>
                <c:pt idx="37">
                  <c:v>10.5</c:v>
                </c:pt>
                <c:pt idx="38">
                  <c:v>11.0</c:v>
                </c:pt>
                <c:pt idx="39">
                  <c:v>11.5</c:v>
                </c:pt>
                <c:pt idx="40">
                  <c:v>12.0</c:v>
                </c:pt>
                <c:pt idx="41">
                  <c:v>12.5</c:v>
                </c:pt>
                <c:pt idx="42">
                  <c:v>13.0</c:v>
                </c:pt>
                <c:pt idx="43">
                  <c:v>13.5</c:v>
                </c:pt>
                <c:pt idx="44">
                  <c:v>14.0</c:v>
                </c:pt>
                <c:pt idx="45">
                  <c:v>14.5</c:v>
                </c:pt>
                <c:pt idx="46">
                  <c:v>15.0</c:v>
                </c:pt>
                <c:pt idx="47">
                  <c:v>15.5</c:v>
                </c:pt>
                <c:pt idx="48">
                  <c:v>16.0</c:v>
                </c:pt>
                <c:pt idx="49">
                  <c:v>16.5</c:v>
                </c:pt>
                <c:pt idx="50">
                  <c:v>17.0</c:v>
                </c:pt>
                <c:pt idx="51">
                  <c:v>17.5</c:v>
                </c:pt>
                <c:pt idx="52">
                  <c:v>18.0</c:v>
                </c:pt>
                <c:pt idx="53">
                  <c:v>18.5</c:v>
                </c:pt>
                <c:pt idx="54">
                  <c:v>19.0</c:v>
                </c:pt>
                <c:pt idx="55">
                  <c:v>19.5</c:v>
                </c:pt>
                <c:pt idx="56">
                  <c:v>20.0</c:v>
                </c:pt>
              </c:numCache>
            </c:numRef>
          </c:xVal>
          <c:yVal>
            <c:numRef>
              <c:f>Sheet1!$B$2:$B$58</c:f>
              <c:numCache>
                <c:formatCode>General</c:formatCode>
                <c:ptCount val="57"/>
                <c:pt idx="0">
                  <c:v>0.0</c:v>
                </c:pt>
                <c:pt idx="1">
                  <c:v>0.316</c:v>
                </c:pt>
                <c:pt idx="2">
                  <c:v>1.332</c:v>
                </c:pt>
                <c:pt idx="3">
                  <c:v>2.413</c:v>
                </c:pt>
                <c:pt idx="4">
                  <c:v>3.423</c:v>
                </c:pt>
                <c:pt idx="5">
                  <c:v>4.395</c:v>
                </c:pt>
                <c:pt idx="6">
                  <c:v>5.339</c:v>
                </c:pt>
                <c:pt idx="7">
                  <c:v>6.258</c:v>
                </c:pt>
                <c:pt idx="8">
                  <c:v>7.154</c:v>
                </c:pt>
                <c:pt idx="9">
                  <c:v>8.029</c:v>
                </c:pt>
                <c:pt idx="10">
                  <c:v>8.882</c:v>
                </c:pt>
                <c:pt idx="11">
                  <c:v>9.714</c:v>
                </c:pt>
                <c:pt idx="12">
                  <c:v>10.527</c:v>
                </c:pt>
                <c:pt idx="13">
                  <c:v>11.32</c:v>
                </c:pt>
                <c:pt idx="14">
                  <c:v>12.093</c:v>
                </c:pt>
                <c:pt idx="15">
                  <c:v>12.848</c:v>
                </c:pt>
                <c:pt idx="16">
                  <c:v>13.585</c:v>
                </c:pt>
                <c:pt idx="17">
                  <c:v>14.304</c:v>
                </c:pt>
                <c:pt idx="18">
                  <c:v>15.006</c:v>
                </c:pt>
                <c:pt idx="19">
                  <c:v>15.69</c:v>
                </c:pt>
                <c:pt idx="20">
                  <c:v>19.464</c:v>
                </c:pt>
                <c:pt idx="21">
                  <c:v>22.723</c:v>
                </c:pt>
                <c:pt idx="22">
                  <c:v>25.537</c:v>
                </c:pt>
                <c:pt idx="23">
                  <c:v>27.967</c:v>
                </c:pt>
                <c:pt idx="24">
                  <c:v>30.066</c:v>
                </c:pt>
                <c:pt idx="25">
                  <c:v>31.878</c:v>
                </c:pt>
                <c:pt idx="26">
                  <c:v>33.442</c:v>
                </c:pt>
                <c:pt idx="27">
                  <c:v>34.794</c:v>
                </c:pt>
                <c:pt idx="28">
                  <c:v>35.96</c:v>
                </c:pt>
                <c:pt idx="29">
                  <c:v>36.968</c:v>
                </c:pt>
                <c:pt idx="30">
                  <c:v>37.838</c:v>
                </c:pt>
                <c:pt idx="31">
                  <c:v>38.589</c:v>
                </c:pt>
                <c:pt idx="32">
                  <c:v>39.237</c:v>
                </c:pt>
                <c:pt idx="33">
                  <c:v>39.798</c:v>
                </c:pt>
                <c:pt idx="34">
                  <c:v>40.281</c:v>
                </c:pt>
                <c:pt idx="35">
                  <c:v>40.699</c:v>
                </c:pt>
                <c:pt idx="36">
                  <c:v>41.06</c:v>
                </c:pt>
                <c:pt idx="37">
                  <c:v>41.371</c:v>
                </c:pt>
                <c:pt idx="38">
                  <c:v>41.64</c:v>
                </c:pt>
                <c:pt idx="39">
                  <c:v>41.872</c:v>
                </c:pt>
                <c:pt idx="40">
                  <c:v>42.073</c:v>
                </c:pt>
                <c:pt idx="41">
                  <c:v>42.246</c:v>
                </c:pt>
                <c:pt idx="42">
                  <c:v>42.395</c:v>
                </c:pt>
                <c:pt idx="43">
                  <c:v>42.524</c:v>
                </c:pt>
                <c:pt idx="44">
                  <c:v>42.636</c:v>
                </c:pt>
                <c:pt idx="45">
                  <c:v>42.732</c:v>
                </c:pt>
                <c:pt idx="46">
                  <c:v>42.815</c:v>
                </c:pt>
                <c:pt idx="47">
                  <c:v>42.887</c:v>
                </c:pt>
                <c:pt idx="48">
                  <c:v>42.949</c:v>
                </c:pt>
                <c:pt idx="49">
                  <c:v>43.003</c:v>
                </c:pt>
                <c:pt idx="50">
                  <c:v>43.049</c:v>
                </c:pt>
                <c:pt idx="51">
                  <c:v>43.089</c:v>
                </c:pt>
                <c:pt idx="52">
                  <c:v>43.123</c:v>
                </c:pt>
                <c:pt idx="53">
                  <c:v>43.153</c:v>
                </c:pt>
                <c:pt idx="54">
                  <c:v>43.179</c:v>
                </c:pt>
                <c:pt idx="55">
                  <c:v>43.201</c:v>
                </c:pt>
                <c:pt idx="56">
                  <c:v>43.22</c:v>
                </c:pt>
              </c:numCache>
            </c:numRef>
          </c:yVal>
          <c:smooth val="0"/>
        </c:ser>
        <c:ser>
          <c:idx val="1"/>
          <c:order val="1"/>
          <c:tx>
            <c:strRef>
              <c:f>Sheet1!$B$60</c:f>
              <c:strCache>
                <c:ptCount val="1"/>
                <c:pt idx="0">
                  <c:v>ROM, τ₁ aus Eigenproblem</c:v>
                </c:pt>
              </c:strCache>
            </c:strRef>
          </c:tx>
          <c:spPr>
            <a:ln w="25400">
              <a:solidFill>
                <a:srgbClr val="2A9BD6"/>
              </a:solidFill>
              <a:prstDash val="dash"/>
            </a:ln>
          </c:spPr>
          <c:marker>
            <c:symbol val="none"/>
          </c:marker>
          <c:xVal>
            <c:numRef>
              <c:f>Sheet1!$A$61:$A$117</c:f>
              <c:numCache>
                <c:formatCode>General</c:formatCode>
                <c:ptCount val="57"/>
                <c:pt idx="0">
                  <c:v>0.0</c:v>
                </c:pt>
                <c:pt idx="1">
                  <c:v>0.017</c:v>
                </c:pt>
                <c:pt idx="2">
                  <c:v>0.083</c:v>
                </c:pt>
                <c:pt idx="3">
                  <c:v>0.167</c:v>
                </c:pt>
                <c:pt idx="4">
                  <c:v>0.25</c:v>
                </c:pt>
                <c:pt idx="5">
                  <c:v>0.333</c:v>
                </c:pt>
                <c:pt idx="6">
                  <c:v>0.417</c:v>
                </c:pt>
                <c:pt idx="7">
                  <c:v>0.5</c:v>
                </c:pt>
                <c:pt idx="8">
                  <c:v>0.583</c:v>
                </c:pt>
                <c:pt idx="9">
                  <c:v>0.667</c:v>
                </c:pt>
                <c:pt idx="10">
                  <c:v>0.75</c:v>
                </c:pt>
                <c:pt idx="11">
                  <c:v>0.833</c:v>
                </c:pt>
                <c:pt idx="12">
                  <c:v>0.917</c:v>
                </c:pt>
                <c:pt idx="13">
                  <c:v>1.0</c:v>
                </c:pt>
                <c:pt idx="14">
                  <c:v>1.083</c:v>
                </c:pt>
                <c:pt idx="15">
                  <c:v>1.167</c:v>
                </c:pt>
                <c:pt idx="16">
                  <c:v>1.25</c:v>
                </c:pt>
                <c:pt idx="17">
                  <c:v>1.333</c:v>
                </c:pt>
                <c:pt idx="18">
                  <c:v>1.417</c:v>
                </c:pt>
                <c:pt idx="19">
                  <c:v>1.5</c:v>
                </c:pt>
                <c:pt idx="20">
                  <c:v>2.0</c:v>
                </c:pt>
                <c:pt idx="21">
                  <c:v>2.5</c:v>
                </c:pt>
                <c:pt idx="22">
                  <c:v>3.0</c:v>
                </c:pt>
                <c:pt idx="23">
                  <c:v>3.5</c:v>
                </c:pt>
                <c:pt idx="24">
                  <c:v>4.0</c:v>
                </c:pt>
                <c:pt idx="25">
                  <c:v>4.5</c:v>
                </c:pt>
                <c:pt idx="26">
                  <c:v>5.0</c:v>
                </c:pt>
                <c:pt idx="27">
                  <c:v>5.5</c:v>
                </c:pt>
                <c:pt idx="28">
                  <c:v>6.0</c:v>
                </c:pt>
                <c:pt idx="29">
                  <c:v>6.5</c:v>
                </c:pt>
                <c:pt idx="30">
                  <c:v>7.0</c:v>
                </c:pt>
                <c:pt idx="31">
                  <c:v>7.5</c:v>
                </c:pt>
                <c:pt idx="32">
                  <c:v>8.0</c:v>
                </c:pt>
                <c:pt idx="33">
                  <c:v>8.5</c:v>
                </c:pt>
                <c:pt idx="34">
                  <c:v>9.0</c:v>
                </c:pt>
                <c:pt idx="35">
                  <c:v>9.5</c:v>
                </c:pt>
                <c:pt idx="36">
                  <c:v>10.0</c:v>
                </c:pt>
                <c:pt idx="37">
                  <c:v>10.5</c:v>
                </c:pt>
                <c:pt idx="38">
                  <c:v>11.0</c:v>
                </c:pt>
                <c:pt idx="39">
                  <c:v>11.5</c:v>
                </c:pt>
                <c:pt idx="40">
                  <c:v>12.0</c:v>
                </c:pt>
                <c:pt idx="41">
                  <c:v>12.5</c:v>
                </c:pt>
                <c:pt idx="42">
                  <c:v>13.0</c:v>
                </c:pt>
                <c:pt idx="43">
                  <c:v>13.5</c:v>
                </c:pt>
                <c:pt idx="44">
                  <c:v>14.0</c:v>
                </c:pt>
                <c:pt idx="45">
                  <c:v>14.5</c:v>
                </c:pt>
                <c:pt idx="46">
                  <c:v>15.0</c:v>
                </c:pt>
                <c:pt idx="47">
                  <c:v>15.5</c:v>
                </c:pt>
                <c:pt idx="48">
                  <c:v>16.0</c:v>
                </c:pt>
                <c:pt idx="49">
                  <c:v>16.5</c:v>
                </c:pt>
                <c:pt idx="50">
                  <c:v>17.0</c:v>
                </c:pt>
                <c:pt idx="51">
                  <c:v>17.5</c:v>
                </c:pt>
                <c:pt idx="52">
                  <c:v>18.0</c:v>
                </c:pt>
                <c:pt idx="53">
                  <c:v>18.5</c:v>
                </c:pt>
                <c:pt idx="54">
                  <c:v>19.0</c:v>
                </c:pt>
                <c:pt idx="55">
                  <c:v>19.5</c:v>
                </c:pt>
                <c:pt idx="56">
                  <c:v>20.0</c:v>
                </c:pt>
              </c:numCache>
            </c:numRef>
          </c:xVal>
          <c:yVal>
            <c:numRef>
              <c:f>Sheet1!$B$61:$B$117</c:f>
              <c:numCache>
                <c:formatCode>General</c:formatCode>
                <c:ptCount val="57"/>
                <c:pt idx="0">
                  <c:v>0.0</c:v>
                </c:pt>
                <c:pt idx="1">
                  <c:v>0.211</c:v>
                </c:pt>
                <c:pt idx="2">
                  <c:v>1.047</c:v>
                </c:pt>
                <c:pt idx="3">
                  <c:v>2.069</c:v>
                </c:pt>
                <c:pt idx="4">
                  <c:v>3.066</c:v>
                </c:pt>
                <c:pt idx="5">
                  <c:v>4.039</c:v>
                </c:pt>
                <c:pt idx="6">
                  <c:v>4.989</c:v>
                </c:pt>
                <c:pt idx="7">
                  <c:v>5.916</c:v>
                </c:pt>
                <c:pt idx="8">
                  <c:v>6.82</c:v>
                </c:pt>
                <c:pt idx="9">
                  <c:v>7.702</c:v>
                </c:pt>
                <c:pt idx="10">
                  <c:v>8.563</c:v>
                </c:pt>
                <c:pt idx="11">
                  <c:v>9.404</c:v>
                </c:pt>
                <c:pt idx="12">
                  <c:v>10.224</c:v>
                </c:pt>
                <c:pt idx="13">
                  <c:v>11.024</c:v>
                </c:pt>
                <c:pt idx="14">
                  <c:v>11.805</c:v>
                </c:pt>
                <c:pt idx="15">
                  <c:v>12.567</c:v>
                </c:pt>
                <c:pt idx="16">
                  <c:v>13.31</c:v>
                </c:pt>
                <c:pt idx="17">
                  <c:v>14.036</c:v>
                </c:pt>
                <c:pt idx="18">
                  <c:v>14.744</c:v>
                </c:pt>
                <c:pt idx="19">
                  <c:v>15.435</c:v>
                </c:pt>
                <c:pt idx="20">
                  <c:v>19.244</c:v>
                </c:pt>
                <c:pt idx="21">
                  <c:v>22.533</c:v>
                </c:pt>
                <c:pt idx="22">
                  <c:v>25.373</c:v>
                </c:pt>
                <c:pt idx="23">
                  <c:v>27.825</c:v>
                </c:pt>
                <c:pt idx="24">
                  <c:v>29.943</c:v>
                </c:pt>
                <c:pt idx="25">
                  <c:v>31.772</c:v>
                </c:pt>
                <c:pt idx="26">
                  <c:v>33.351</c:v>
                </c:pt>
                <c:pt idx="27">
                  <c:v>34.715</c:v>
                </c:pt>
                <c:pt idx="28">
                  <c:v>35.892</c:v>
                </c:pt>
                <c:pt idx="29">
                  <c:v>36.909</c:v>
                </c:pt>
                <c:pt idx="30">
                  <c:v>37.787</c:v>
                </c:pt>
                <c:pt idx="31">
                  <c:v>38.545</c:v>
                </c:pt>
                <c:pt idx="32">
                  <c:v>39.2</c:v>
                </c:pt>
                <c:pt idx="33">
                  <c:v>39.765</c:v>
                </c:pt>
                <c:pt idx="34">
                  <c:v>40.253</c:v>
                </c:pt>
                <c:pt idx="35">
                  <c:v>40.675</c:v>
                </c:pt>
                <c:pt idx="36">
                  <c:v>41.038</c:v>
                </c:pt>
                <c:pt idx="37">
                  <c:v>41.353</c:v>
                </c:pt>
                <c:pt idx="38">
                  <c:v>41.624</c:v>
                </c:pt>
                <c:pt idx="39">
                  <c:v>41.859</c:v>
                </c:pt>
                <c:pt idx="40">
                  <c:v>42.061</c:v>
                </c:pt>
                <c:pt idx="41">
                  <c:v>42.236</c:v>
                </c:pt>
                <c:pt idx="42">
                  <c:v>42.387</c:v>
                </c:pt>
                <c:pt idx="43">
                  <c:v>42.517</c:v>
                </c:pt>
                <c:pt idx="44">
                  <c:v>42.629</c:v>
                </c:pt>
                <c:pt idx="45">
                  <c:v>42.727</c:v>
                </c:pt>
                <c:pt idx="46">
                  <c:v>42.81</c:v>
                </c:pt>
                <c:pt idx="47">
                  <c:v>42.883</c:v>
                </c:pt>
                <c:pt idx="48">
                  <c:v>42.945</c:v>
                </c:pt>
                <c:pt idx="49">
                  <c:v>43.0</c:v>
                </c:pt>
                <c:pt idx="50">
                  <c:v>43.046</c:v>
                </c:pt>
                <c:pt idx="51">
                  <c:v>43.086</c:v>
                </c:pt>
                <c:pt idx="52">
                  <c:v>43.121</c:v>
                </c:pt>
                <c:pt idx="53">
                  <c:v>43.151</c:v>
                </c:pt>
                <c:pt idx="54">
                  <c:v>43.177</c:v>
                </c:pt>
                <c:pt idx="55">
                  <c:v>43.2</c:v>
                </c:pt>
                <c:pt idx="56">
                  <c:v>43.219</c:v>
                </c:pt>
              </c:numCache>
            </c:numRef>
          </c:yVal>
          <c:smooth val="0"/>
        </c:ser>
        <c:ser>
          <c:idx val="2"/>
          <c:order val="2"/>
          <c:tx>
            <c:strRef>
              <c:f>Sheet1!$B$119</c:f>
              <c:strCache>
                <c:ptCount val="1"/>
                <c:pt idx="0">
                  <c:v>ROM im Code, τ = C/UA</c:v>
                </c:pt>
              </c:strCache>
            </c:strRef>
          </c:tx>
          <c:spPr>
            <a:ln w="25400">
              <a:solidFill>
                <a:srgbClr val="C8641E"/>
              </a:solidFill>
              <a:prstDash val="sysDash"/>
            </a:ln>
          </c:spPr>
          <c:marker>
            <c:symbol val="none"/>
          </c:marker>
          <c:xVal>
            <c:numRef>
              <c:f>Sheet1!$A$120:$A$176</c:f>
              <c:numCache>
                <c:formatCode>General</c:formatCode>
                <c:ptCount val="57"/>
                <c:pt idx="0">
                  <c:v>0.0</c:v>
                </c:pt>
                <c:pt idx="1">
                  <c:v>0.017</c:v>
                </c:pt>
                <c:pt idx="2">
                  <c:v>0.083</c:v>
                </c:pt>
                <c:pt idx="3">
                  <c:v>0.167</c:v>
                </c:pt>
                <c:pt idx="4">
                  <c:v>0.25</c:v>
                </c:pt>
                <c:pt idx="5">
                  <c:v>0.333</c:v>
                </c:pt>
                <c:pt idx="6">
                  <c:v>0.417</c:v>
                </c:pt>
                <c:pt idx="7">
                  <c:v>0.5</c:v>
                </c:pt>
                <c:pt idx="8">
                  <c:v>0.583</c:v>
                </c:pt>
                <c:pt idx="9">
                  <c:v>0.667</c:v>
                </c:pt>
                <c:pt idx="10">
                  <c:v>0.75</c:v>
                </c:pt>
                <c:pt idx="11">
                  <c:v>0.833</c:v>
                </c:pt>
                <c:pt idx="12">
                  <c:v>0.917</c:v>
                </c:pt>
                <c:pt idx="13">
                  <c:v>1.0</c:v>
                </c:pt>
                <c:pt idx="14">
                  <c:v>1.083</c:v>
                </c:pt>
                <c:pt idx="15">
                  <c:v>1.167</c:v>
                </c:pt>
                <c:pt idx="16">
                  <c:v>1.25</c:v>
                </c:pt>
                <c:pt idx="17">
                  <c:v>1.333</c:v>
                </c:pt>
                <c:pt idx="18">
                  <c:v>1.417</c:v>
                </c:pt>
                <c:pt idx="19">
                  <c:v>1.5</c:v>
                </c:pt>
                <c:pt idx="20">
                  <c:v>2.0</c:v>
                </c:pt>
                <c:pt idx="21">
                  <c:v>2.5</c:v>
                </c:pt>
                <c:pt idx="22">
                  <c:v>3.0</c:v>
                </c:pt>
                <c:pt idx="23">
                  <c:v>3.5</c:v>
                </c:pt>
                <c:pt idx="24">
                  <c:v>4.0</c:v>
                </c:pt>
                <c:pt idx="25">
                  <c:v>4.5</c:v>
                </c:pt>
                <c:pt idx="26">
                  <c:v>5.0</c:v>
                </c:pt>
                <c:pt idx="27">
                  <c:v>5.5</c:v>
                </c:pt>
                <c:pt idx="28">
                  <c:v>6.0</c:v>
                </c:pt>
                <c:pt idx="29">
                  <c:v>6.5</c:v>
                </c:pt>
                <c:pt idx="30">
                  <c:v>7.0</c:v>
                </c:pt>
                <c:pt idx="31">
                  <c:v>7.5</c:v>
                </c:pt>
                <c:pt idx="32">
                  <c:v>8.0</c:v>
                </c:pt>
                <c:pt idx="33">
                  <c:v>8.5</c:v>
                </c:pt>
                <c:pt idx="34">
                  <c:v>9.0</c:v>
                </c:pt>
                <c:pt idx="35">
                  <c:v>9.5</c:v>
                </c:pt>
                <c:pt idx="36">
                  <c:v>10.0</c:v>
                </c:pt>
                <c:pt idx="37">
                  <c:v>10.5</c:v>
                </c:pt>
                <c:pt idx="38">
                  <c:v>11.0</c:v>
                </c:pt>
                <c:pt idx="39">
                  <c:v>11.5</c:v>
                </c:pt>
                <c:pt idx="40">
                  <c:v>12.0</c:v>
                </c:pt>
                <c:pt idx="41">
                  <c:v>12.5</c:v>
                </c:pt>
                <c:pt idx="42">
                  <c:v>13.0</c:v>
                </c:pt>
                <c:pt idx="43">
                  <c:v>13.5</c:v>
                </c:pt>
                <c:pt idx="44">
                  <c:v>14.0</c:v>
                </c:pt>
                <c:pt idx="45">
                  <c:v>14.5</c:v>
                </c:pt>
                <c:pt idx="46">
                  <c:v>15.0</c:v>
                </c:pt>
                <c:pt idx="47">
                  <c:v>15.5</c:v>
                </c:pt>
                <c:pt idx="48">
                  <c:v>16.0</c:v>
                </c:pt>
                <c:pt idx="49">
                  <c:v>16.5</c:v>
                </c:pt>
                <c:pt idx="50">
                  <c:v>17.0</c:v>
                </c:pt>
                <c:pt idx="51">
                  <c:v>17.5</c:v>
                </c:pt>
                <c:pt idx="52">
                  <c:v>18.0</c:v>
                </c:pt>
                <c:pt idx="53">
                  <c:v>18.5</c:v>
                </c:pt>
                <c:pt idx="54">
                  <c:v>19.0</c:v>
                </c:pt>
                <c:pt idx="55">
                  <c:v>19.5</c:v>
                </c:pt>
                <c:pt idx="56">
                  <c:v>20.0</c:v>
                </c:pt>
              </c:numCache>
            </c:numRef>
          </c:xVal>
          <c:yVal>
            <c:numRef>
              <c:f>Sheet1!$B$120:$B$176</c:f>
              <c:numCache>
                <c:formatCode>General</c:formatCode>
                <c:ptCount val="57"/>
                <c:pt idx="0">
                  <c:v>0.0</c:v>
                </c:pt>
                <c:pt idx="1">
                  <c:v>0.177</c:v>
                </c:pt>
                <c:pt idx="2">
                  <c:v>0.878</c:v>
                </c:pt>
                <c:pt idx="3">
                  <c:v>1.738</c:v>
                </c:pt>
                <c:pt idx="4">
                  <c:v>2.581</c:v>
                </c:pt>
                <c:pt idx="5">
                  <c:v>3.407</c:v>
                </c:pt>
                <c:pt idx="6">
                  <c:v>4.216</c:v>
                </c:pt>
                <c:pt idx="7">
                  <c:v>5.008</c:v>
                </c:pt>
                <c:pt idx="8">
                  <c:v>5.785</c:v>
                </c:pt>
                <c:pt idx="9">
                  <c:v>6.545</c:v>
                </c:pt>
                <c:pt idx="10">
                  <c:v>7.291</c:v>
                </c:pt>
                <c:pt idx="11">
                  <c:v>8.021</c:v>
                </c:pt>
                <c:pt idx="12">
                  <c:v>8.736</c:v>
                </c:pt>
                <c:pt idx="13">
                  <c:v>9.437</c:v>
                </c:pt>
                <c:pt idx="14">
                  <c:v>10.124</c:v>
                </c:pt>
                <c:pt idx="15">
                  <c:v>10.797</c:v>
                </c:pt>
                <c:pt idx="16">
                  <c:v>11.456</c:v>
                </c:pt>
                <c:pt idx="17">
                  <c:v>12.102</c:v>
                </c:pt>
                <c:pt idx="18">
                  <c:v>12.735</c:v>
                </c:pt>
                <c:pt idx="19">
                  <c:v>13.355</c:v>
                </c:pt>
                <c:pt idx="20">
                  <c:v>16.82</c:v>
                </c:pt>
                <c:pt idx="21">
                  <c:v>19.884</c:v>
                </c:pt>
                <c:pt idx="22">
                  <c:v>22.595</c:v>
                </c:pt>
                <c:pt idx="23">
                  <c:v>24.992</c:v>
                </c:pt>
                <c:pt idx="24">
                  <c:v>27.112</c:v>
                </c:pt>
                <c:pt idx="25">
                  <c:v>28.988</c:v>
                </c:pt>
                <c:pt idx="26">
                  <c:v>30.646</c:v>
                </c:pt>
                <c:pt idx="27">
                  <c:v>32.113</c:v>
                </c:pt>
                <c:pt idx="28">
                  <c:v>33.411</c:v>
                </c:pt>
                <c:pt idx="29">
                  <c:v>34.558</c:v>
                </c:pt>
                <c:pt idx="30">
                  <c:v>35.573</c:v>
                </c:pt>
                <c:pt idx="31">
                  <c:v>36.471</c:v>
                </c:pt>
                <c:pt idx="32">
                  <c:v>37.264</c:v>
                </c:pt>
                <c:pt idx="33">
                  <c:v>37.967</c:v>
                </c:pt>
                <c:pt idx="34">
                  <c:v>38.588</c:v>
                </c:pt>
                <c:pt idx="35">
                  <c:v>39.137</c:v>
                </c:pt>
                <c:pt idx="36">
                  <c:v>39.623</c:v>
                </c:pt>
                <c:pt idx="37">
                  <c:v>40.052</c:v>
                </c:pt>
                <c:pt idx="38">
                  <c:v>40.432</c:v>
                </c:pt>
                <c:pt idx="39">
                  <c:v>40.769</c:v>
                </c:pt>
                <c:pt idx="40">
                  <c:v>41.066</c:v>
                </c:pt>
                <c:pt idx="41">
                  <c:v>41.329</c:v>
                </c:pt>
                <c:pt idx="42">
                  <c:v>41.561</c:v>
                </c:pt>
                <c:pt idx="43">
                  <c:v>41.767</c:v>
                </c:pt>
                <c:pt idx="44">
                  <c:v>41.949</c:v>
                </c:pt>
                <c:pt idx="45">
                  <c:v>42.11</c:v>
                </c:pt>
                <c:pt idx="46">
                  <c:v>42.252</c:v>
                </c:pt>
                <c:pt idx="47">
                  <c:v>42.378</c:v>
                </c:pt>
                <c:pt idx="48">
                  <c:v>42.489</c:v>
                </c:pt>
                <c:pt idx="49">
                  <c:v>42.588</c:v>
                </c:pt>
                <c:pt idx="50">
                  <c:v>42.675</c:v>
                </c:pt>
                <c:pt idx="51">
                  <c:v>42.752</c:v>
                </c:pt>
                <c:pt idx="52">
                  <c:v>42.82</c:v>
                </c:pt>
                <c:pt idx="53">
                  <c:v>42.88</c:v>
                </c:pt>
                <c:pt idx="54">
                  <c:v>42.933</c:v>
                </c:pt>
                <c:pt idx="55">
                  <c:v>42.981</c:v>
                </c:pt>
                <c:pt idx="56">
                  <c:v>43.022</c:v>
                </c:pt>
              </c:numCache>
            </c:numRef>
          </c:yVal>
          <c:smooth val="0"/>
        </c:ser>
        <c:axId val="-2128940872"/>
        <c:axId val="-2129643912"/>
      </c:scatterChart>
      <c:valAx>
        <c:axId val="-2128940872"/>
        <c:scaling>
          <c:orientation val="minMax"/>
          <c:max val="20.0"/>
          <c:min val="0.0"/>
        </c:scaling>
        <c:delete val="0"/>
        <c:axPos val="b"/>
        <c:title>
          <c:tx>
            <c:rich>
              <a:bodyPr/>
              <a:lstStyle/>
              <a:p>
                <a:r>
                  <a:t>Zeit [min]</a:t>
                </a:r>
              </a:p>
            </c:rich>
          </c:tx>
          <c:layout/>
          <c:overlay val="0"/>
        </c:title>
        <c:numFmt formatCode="General" sourceLinked="1"/>
        <c:majorTickMark val="out"/>
        <c:minorTickMark val="none"/>
        <c:tickLblPos val="nextTo"/>
        <c:crossAx val="-2129643912"/>
        <c:crosses val="autoZero"/>
        <c:crossBetween val="midCat"/>
      </c:valAx>
      <c:valAx>
        <c:axId val="-2129643912"/>
        <c:scaling>
          <c:orientation val="minMax"/>
          <c:max val="45.0"/>
          <c:min val="0.0"/>
        </c:scaling>
        <c:delete val="0"/>
        <c:axPos val="l"/>
        <c:majorGridlines>
          <c:spPr>
            <a:ln>
              <a:solidFill>
                <a:srgbClr val="DDDDDD"/>
              </a:solidFill>
            </a:ln>
          </c:spPr>
        </c:majorGridlines>
        <c:numFmt formatCode="General" sourceLinked="1"/>
        <c:majorTickMark val="out"/>
        <c:minorTickMark val="none"/>
        <c:tickLblPos val="nextTo"/>
        <c:crossAx val="-2128940872"/>
        <c:crosses val="autoZero"/>
        <c:crossBetween val="midCat"/>
      </c:valAx>
    </c:plotArea>
    <c:legend>
      <c:legendPos val="b"/>
      <c:layout/>
      <c:overlay val="0"/>
      <c:txPr>
        <a:bodyPr/>
        <a:lstStyle/>
        <a:p>
          <a:pPr>
            <a:defRPr sz="1100"/>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 [W]</c:v>
                </c:pt>
              </c:strCache>
            </c:strRef>
          </c:tx>
          <c:dPt>
            <c:idx val="0"/>
            <c:spPr>
              <a:solidFill>
                <a:srgbClr val="C8641E"/>
              </a:solidFill>
            </c:spPr>
          </c:dPt>
          <c:dPt>
            <c:idx val="1"/>
            <c:spPr>
              <a:solidFill>
                <a:srgbClr val="C8641E"/>
              </a:solidFill>
            </c:spPr>
          </c:dPt>
          <c:dPt>
            <c:idx val="2"/>
            <c:spPr>
              <a:solidFill>
                <a:srgbClr val="2A9BD6"/>
              </a:solidFill>
            </c:spPr>
          </c:dPt>
          <c:dPt>
            <c:idx val="3"/>
            <c:spPr>
              <a:solidFill>
                <a:srgbClr val="8A8F98"/>
              </a:solidFill>
            </c:spPr>
          </c:dPt>
          <c:cat>
            <c:strRef>
              <c:f>Sheet1!$A$2:$A$5</c:f>
              <c:strCache>
                <c:ptCount val="4"/>
                <c:pt idx="0">
                  <c:v>Außenspule</c:v>
                </c:pt>
                <c:pt idx="1">
                  <c:v>Innenspule</c:v>
                </c:pt>
                <c:pt idx="2">
                  <c:v>Wirbelstrom Scheibe</c:v>
                </c:pt>
                <c:pt idx="3">
                  <c:v>Wirbelstrom Eisen</c:v>
                </c:pt>
              </c:strCache>
            </c:strRef>
          </c:cat>
          <c:val>
            <c:numRef>
              <c:f>Sheet1!$B$2:$B$5</c:f>
              <c:numCache>
                <c:formatCode>General</c:formatCode>
                <c:ptCount val="4"/>
                <c:pt idx="0">
                  <c:v>54.12</c:v>
                </c:pt>
                <c:pt idx="1">
                  <c:v>52.32</c:v>
                </c:pt>
                <c:pt idx="2">
                  <c:v>25.81</c:v>
                </c:pt>
                <c:pt idx="3">
                  <c:v>5.86</c:v>
                </c:pt>
              </c:numCache>
            </c:numRef>
          </c:val>
        </c:ser>
        <c:dLbls>
          <c:numFmt formatCode="0.00&quot; W&quot;" sourceLinked="0"/>
          <c:txPr>
            <a:bodyPr/>
            <a:lstStyle/>
            <a:p>
              <a:pPr>
                <a:defRPr sz="1400"/>
              </a:pPr>
            </a:p>
          </c:txPr>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65.0"/>
        </c:scaling>
        <c:delete/>
        <c:axPos val="b"/>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400"/>
              <a:t>Aufheizrampe Außenspule (Vorhersage)</a:t>
            </a:r>
          </a:p>
        </c:rich>
      </c:tx>
      <c:layout/>
      <c:overlay val="0"/>
    </c:title>
    <c:plotArea>
      <c:scatterChart>
        <c:scatterStyle val="lineMarker"/>
        <c:varyColors val="0"/>
        <c:ser>
          <c:idx val="0"/>
          <c:order val="0"/>
          <c:tx>
            <c:strRef>
              <c:f>Sheet1!$B$1</c:f>
              <c:strCache>
                <c:ptCount val="1"/>
                <c:pt idx="0">
                  <c:v>IR-Messung Außenspule</c:v>
                </c:pt>
              </c:strCache>
            </c:strRef>
          </c:tx>
          <c:spPr>
            <a:ln w="25400">
              <a:solidFill>
                <a:srgbClr val="C0392B"/>
              </a:solidFill>
            </a:ln>
          </c:spPr>
          <c:marker>
            <c:symbol val="circle"/>
            <c:size val="8"/>
            <c:spPr>
              <a:solidFill>
                <a:srgbClr val="C0392B"/>
              </a:solidFill>
              <a:ln>
                <a:solidFill>
                  <a:srgbClr val="C0392B"/>
                </a:solidFill>
              </a:ln>
            </c:spPr>
          </c:marker>
          <c:xVal>
            <c:numRef>
              <c:f>Sheet1!$A$2:$A$6</c:f>
              <c:numCache>
                <c:formatCode>General</c:formatCode>
                <c:ptCount val="5"/>
                <c:pt idx="0">
                  <c:v>140</c:v>
                </c:pt>
                <c:pt idx="1">
                  <c:v>200</c:v>
                </c:pt>
                <c:pt idx="2">
                  <c:v>300</c:v>
                </c:pt>
                <c:pt idx="3">
                  <c:v>360</c:v>
                </c:pt>
                <c:pt idx="4">
                  <c:v>450</c:v>
                </c:pt>
              </c:numCache>
            </c:numRef>
          </c:xVal>
          <c:yVal>
            <c:numRef>
              <c:f>Sheet1!$B$2:$B$6</c:f>
              <c:numCache>
                <c:formatCode>General</c:formatCode>
                <c:ptCount val="5"/>
                <c:pt idx="0">
                  <c:v>40.0</c:v>
                </c:pt>
                <c:pt idx="1">
                  <c:v>43.0</c:v>
                </c:pt>
                <c:pt idx="2">
                  <c:v>48.5</c:v>
                </c:pt>
                <c:pt idx="3">
                  <c:v>55.75</c:v>
                </c:pt>
                <c:pt idx="4">
                  <c:v>56.0</c:v>
                </c:pt>
              </c:numCache>
            </c:numRef>
          </c:yVal>
          <c:smooth val="0"/>
        </c:ser>
        <c:ser>
          <c:idx val="1"/>
          <c:order val="1"/>
          <c:tx>
            <c:strRef>
              <c:f>Sheet1!$B$8</c:f>
              <c:strCache>
                <c:ptCount val="1"/>
                <c:pt idx="0">
                  <c:v>Modell (ROM)</c:v>
                </c:pt>
              </c:strCache>
            </c:strRef>
          </c:tx>
          <c:spPr>
            <a:ln w="25400">
              <a:solidFill>
                <a:srgbClr val="1F3A5F"/>
              </a:solidFill>
            </a:ln>
          </c:spPr>
          <c:marker>
            <c:symbol val="square"/>
            <c:size val="8"/>
            <c:spPr>
              <a:solidFill>
                <a:srgbClr val="1F3A5F"/>
              </a:solidFill>
              <a:ln>
                <a:solidFill>
                  <a:srgbClr val="1F3A5F"/>
                </a:solidFill>
              </a:ln>
            </c:spPr>
          </c:marker>
          <c:xVal>
            <c:numRef>
              <c:f>Sheet1!$A$9:$A$13</c:f>
              <c:numCache>
                <c:formatCode>General</c:formatCode>
                <c:ptCount val="5"/>
                <c:pt idx="0">
                  <c:v>140</c:v>
                </c:pt>
                <c:pt idx="1">
                  <c:v>200</c:v>
                </c:pt>
                <c:pt idx="2">
                  <c:v>300</c:v>
                </c:pt>
                <c:pt idx="3">
                  <c:v>360</c:v>
                </c:pt>
                <c:pt idx="4">
                  <c:v>450</c:v>
                </c:pt>
              </c:numCache>
            </c:numRef>
          </c:xVal>
          <c:yVal>
            <c:numRef>
              <c:f>Sheet1!$B$9:$B$13</c:f>
              <c:numCache>
                <c:formatCode>General</c:formatCode>
                <c:ptCount val="5"/>
                <c:pt idx="0">
                  <c:v>33.55</c:v>
                </c:pt>
                <c:pt idx="1">
                  <c:v>34.7</c:v>
                </c:pt>
                <c:pt idx="2">
                  <c:v>36.22</c:v>
                </c:pt>
                <c:pt idx="3">
                  <c:v>40.0</c:v>
                </c:pt>
                <c:pt idx="4">
                  <c:v>43.56</c:v>
                </c:pt>
              </c:numCache>
            </c:numRef>
          </c:yVal>
          <c:smooth val="0"/>
        </c:ser>
        <c:axId val="-2128940872"/>
        <c:axId val="-2129643912"/>
      </c:scatterChart>
      <c:valAx>
        <c:axId val="-2128940872"/>
        <c:scaling>
          <c:orientation val="minMax"/>
          <c:max val="480.0"/>
          <c:min val="100.0"/>
        </c:scaling>
        <c:delete val="0"/>
        <c:axPos val="b"/>
        <c:title>
          <c:tx>
            <c:rich>
              <a:bodyPr/>
              <a:lstStyle/>
              <a:p>
                <a:r>
                  <a:t>Zeit [s]</a:t>
                </a:r>
              </a:p>
            </c:rich>
          </c:tx>
          <c:layout/>
          <c:overlay val="0"/>
        </c:title>
        <c:numFmt formatCode="General" sourceLinked="1"/>
        <c:majorTickMark val="out"/>
        <c:minorTickMark val="none"/>
        <c:tickLblPos val="nextTo"/>
        <c:crossAx val="-2129643912"/>
        <c:crosses val="autoZero"/>
        <c:crossBetween val="midCat"/>
      </c:valAx>
      <c:valAx>
        <c:axId val="-2129643912"/>
        <c:scaling>
          <c:orientation val="minMax"/>
          <c:max val="60.0"/>
          <c:min val="30.0"/>
        </c:scaling>
        <c:delete val="0"/>
        <c:axPos val="l"/>
        <c:majorGridlines>
          <c:spPr>
            <a:ln>
              <a:solidFill>
                <a:srgbClr val="DDDDDD"/>
              </a:solidFill>
            </a:ln>
          </c:spPr>
        </c:majorGridlines>
        <c:title>
          <c:tx>
            <c:rich>
              <a:bodyPr/>
              <a:lstStyle/>
              <a:p>
                <a:r>
                  <a:t>T [°C]</a:t>
                </a:r>
              </a:p>
            </c:rich>
          </c:tx>
          <c:layout/>
          <c:overlay val="0"/>
        </c:title>
        <c:numFmt formatCode="General" sourceLinked="1"/>
        <c:majorTickMark val="out"/>
        <c:minorTickMark val="none"/>
        <c:tickLblPos val="nextTo"/>
        <c:crossAx val="-2128940872"/>
        <c:crosses val="autoZero"/>
        <c:crossBetween val="midCat"/>
      </c:valAx>
    </c:plotArea>
    <c:legend>
      <c:legendPos val="b"/>
      <c:layout/>
      <c:overlay val="0"/>
    </c:legend>
    <c:plotVisOnly val="1"/>
    <c:dispBlanksAs val="gap"/>
    <c:showDLblsOverMax val="0"/>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0:30]</a:t>
            </a:r>
          </a:p>
          <a:p>
            <a:r>
              <a:t>Guten Tag, sehr geehrter Herr Professor Hartmann, sehr geehrte Frau Dr. Merkel, liebe Kommilitoninnen und Kommilitonen.</a:t>
            </a:r>
          </a:p>
          <a:p>
            <a:r>
              <a:t>Wir stellen heute unser Projekt vor: einen Digital Twin für das Thermomanagement eines elektrodynamischen Levitators.</a:t>
            </a:r>
          </a:p>
          <a:p>
            <a:r>
              <a:t>Kurz gesagt: Wir berechnen aus dem Spulenstrom die Temperaturen im Gerät, und zwar so schnell, dass die Vorhersage live mitläuft.</a:t>
            </a:r>
          </a:p>
          <a:p>
            <a:r>
              <a:t>Wir zeigen, wie wir dafür ein genaues, aber langsames FEM-Modell in ein schnelles reduziertes Modell überführt haben, wie gut es zur Messung passt und wo es noch nicht passt.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1:15]</a:t>
            </a:r>
          </a:p>
          <a:p>
            <a:r>
              <a:t>Worum geht es? Unser Versuchsstand ist ein Levitator nach dem TEAM-Benchmark 28. Zwei Spulen mit 50-Hz-Wechselstrom erzeugen ein Magnetfeld; es induziert Wirbelströme in einer Aluminiumscheibe, und die Scheibe schwebt.</a:t>
            </a:r>
          </a:p>
          <a:p>
            <a:r>
              <a:t>Dieselben Ströme erzeugen aber auch Wärme – in der Scheibe, in den Spulen und im Eisen.</a:t>
            </a:r>
          </a:p>
          <a:p>
            <a:r>
              <a:t>Diese Temperaturen sind schwer zu messen: Ein Fühler an der schwebenden Scheibe würde die Levitation stören, und in die Wicklung kommt man nicht hinein. Den Strom dagegen kann man leicht messen.</a:t>
            </a:r>
          </a:p>
          <a:p>
            <a:r>
              <a:t>Die Idee ist deshalb ein virtueller Sensor: Ein Modell rechnet aus dem Strom die Temperatur.</a:t>
            </a:r>
          </a:p>
          <a:p>
            <a:r>
              <a:t>Dafür muss es drei Dinge erfüllen: Es muss schnell sein, also in Echtzeit laufen. Es muss physikalisch begründet sein, nicht nur eine angepasste Kurve. Und es muss sich an Messungen kalibrieren lassen.</a:t>
            </a:r>
          </a:p>
          <a:p>
            <a:r>
              <a:t>Das Problem: Genaue Modelle sind langsam. Die Brücke dazwischen ist die Modellordnungsreduktion – und genau darum geht es in diesem Vortrag.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1:15]</a:t>
            </a:r>
          </a:p>
          <a:p>
            <a:r>
              <a:t>Hier sehen Sie den halben Querschnitt – die Radien haben wir selbst mit dem Lineal gemessen.</a:t>
            </a:r>
          </a:p>
          <a:p>
            <a:r>
              <a:t>Von innen nach außen: Eisenkern, Innenspule mit etwa 1000 Windungen, Eisenring, Außenspule mit etwa 500 Windungen. Darüber schwebt die Aluminiumscheibe mit 80 Millimetern Radius und 3 Millimetern Dicke.</a:t>
            </a:r>
          </a:p>
          <a:p>
            <a:r>
              <a:t>Das Eisen bündelt das Feld, das Wechselfeld induziert in Scheibe und Eisen Wirbelströme, und alle Ströme erzeugen Wärme.</a:t>
            </a:r>
          </a:p>
          <a:p>
            <a:r>
              <a:t>Für das Modell treffen wir vier Vereinfachungen: Das Gerät ist drehsymmetrisch, also rechnen wir nur in einer Halbebene r–z. Die Umgebung ist konstant 20 Grad, wie mit Ihnen vereinbart. Standardmäßig fließen 5 Ampere, im Modell ist der Strom aber frei einstellbar. Und in der Feldrechnung ist die Scheibenhöhe fest.</a:t>
            </a:r>
          </a:p>
          <a:p>
            <a:r>
              <a:t>Wichtig für später: Das Gerät hat keine fest eingebauten Temperatursensoren. Alle Temperaturmesswerte stammen aus Aufnahmen mit einer IR-Kamera vom 23. Juni.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1:30]</a:t>
            </a:r>
          </a:p>
          <a:p>
            <a:r>
              <a:t>Jeder dieser physikalischen Vorgänge wird zu einer Gleichung.</a:t>
            </a:r>
          </a:p>
          <a:p>
            <a:r>
              <a:t>Erstens das Magnetfeld: Wir rechnen das magnetische Vektorpotential A-phi. Weil der Strom sinusförmig ist, reicht eine komplexe Amplitude, ein Phasor – wir müssen die 50 Hertz also nicht in der Zeit auflösen.</a:t>
            </a:r>
          </a:p>
          <a:p>
            <a:r>
              <a:t>Zweitens die Wärmequelle: Aus dem Feld folgt die Wirbelstromdichte und daraus die mittlere Verlustleistung pro Volumen: q gleich ein halb sigma omega-Quadrat mal Betrag A zum Quadrat. In den Spulen ist es einfach ein halb I-Quadrat R.</a:t>
            </a:r>
          </a:p>
          <a:p>
            <a:r>
              <a:t>Drittens die Wärmeleitung: die Fourier-Gleichung mit Konvektion am Rand.</a:t>
            </a:r>
          </a:p>
          <a:p>
            <a:r>
              <a:t>Viertens die Temperaturabhängigkeit: Warme Metalle leiten schlechter. Das koppelt zurück auf die Feldgleichung – aber langsam, weil sich Temperaturen über Minuten ändern.</a:t>
            </a:r>
          </a:p>
          <a:p>
            <a:r>
              <a:t>Im Bericht steht zu jeder Gleichung, in welchem Python-Modul sie gelöst wird.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1:00]</a:t>
            </a:r>
          </a:p>
          <a:p>
            <a:r>
              <a:t>Wie lösen wir das? In zwei Stufen.</a:t>
            </a:r>
          </a:p>
          <a:p>
            <a:r>
              <a:t>Offline, also einmal, löst die Finite-Elemente-Methode die Gleichungen genau – das dauert etwa eine Sekunde und braucht Löserbibliotheken.</a:t>
            </a:r>
          </a:p>
          <a:p>
            <a:r>
              <a:t>Daraus leiten wir mit Modellordnungsreduktion, kurz MOR, ein reduziertes Modell ab, das ROM. Zur Begriffsklärung: MOR ist das Verfahren, das ROM ist sein Ergebnis.</a:t>
            </a:r>
          </a:p>
          <a:p>
            <a:r>
              <a:t>Das ROM läuft online: Jeder Zeitschritt dauert wenige Mikrosekunden und braucht nur Grundrechenarten. Deshalb kann es live mitlaufen und im Browser dargestellt werden.</a:t>
            </a:r>
          </a:p>
          <a:p>
            <a:r>
              <a:t>Die nächsten Folien gehen die beiden Stufen durch – zuerst die FEM, dann die Reduktion.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1:15]</a:t>
            </a:r>
          </a:p>
          <a:p>
            <a:r>
              <a:t>Warum FEM? Das Gerät hat fünf Materialbereiche, dafür gibt es keine Formellösung.</a:t>
            </a:r>
          </a:p>
          <a:p>
            <a:r>
              <a:t>Wir zerlegen die r-z-Ebene in Dreiecke; in jedem Dreieck ändert sich die gesuchte Größe linear. Die Gleichung wird im Mittel um jeden Knoten erfüllt – physikalisch ist das eine Wärmebilanz pro Knoten, mit dem Faktor 2 pi r für die Drehung um die Achse. Heraus kommt ein großes, aber fast leeres lineares Gleichungssystem, das wir mit SciPy direkt lösen.</a:t>
            </a:r>
          </a:p>
          <a:p>
            <a:r>
              <a:t>Klein bleibt es durch zwei physikalische Argumente: den Phasor statt Zeitschritten, und die Eindringtiefe von etwa 12 Millimetern – viel mehr als die 3 Millimeter Scheibendicke. Wir brauchen also kein feines Netz in Dickenrichtung. So kommen wir auf rund 8700 Unbekannte im Feld und 700 in der Scheibe.</a:t>
            </a:r>
          </a:p>
          <a:p>
            <a:r>
              <a:t>Da eine FEM immer Zahlen liefert, auch falsche, prüfen wir bei jedem Lauf drei Dinge: Die Energiebilanz stimmt auf Rundungsgenauigkeit, zwei verschiedene Randbedingungen unterscheiden sich um weniger als ein Prozent, und doppelter Strom ergibt exakt vierfache Verluste.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1:15]</a:t>
            </a:r>
          </a:p>
          <a:p>
            <a:r>
              <a:t>Jetzt zur Reduktion. Die FEM ist genau, aber für jeden neuen Strom und jeden Zeitschritt müsste man sie neu lösen.</a:t>
            </a:r>
          </a:p>
          <a:p>
            <a:r>
              <a:t>Die Beobachtung dahinter: Die tausenden Unbekannten sind nicht unabhängig. Beim Aufheizen ändert sich vor allem, wie warm die Scheibe ist – kaum, wo sie wärmer ist.</a:t>
            </a:r>
          </a:p>
          <a:p>
            <a:r>
              <a:t>Stellen Sie sich ein Foto vor, das nur heller oder dunkler wird: Man speichert das Bild einmal und merkt sich pro Moment nur einen Helligkeitsfaktor. Mathematisch schreiben wir das Feld als Summe weniger fester Formen mit zeitabhängigen Gewichten.</a:t>
            </a:r>
          </a:p>
          <a:p>
            <a:r>
              <a:t>Das setzen wir in drei Schritten um. Reduktion A: Die Feldgleichung ist linear. Doppelter Strom heißt doppeltes Feld und vierfache Wärmequelle – an jedem Ort gleich. Also lösen wir die Feld-FEM genau einmal bei 5 Ampere; für jeden anderen Strom ist es nur noch eine Multiplikation.</a:t>
            </a:r>
          </a:p>
          <a:p>
            <a:r>
              <a:t>Das gilt, solange das Eisen nicht sättigt – am Betriebspunkt ist das erfüllt.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1:30]</a:t>
            </a:r>
          </a:p>
          <a:p>
            <a:r>
              <a:t>Reduktion B betrifft die Scheibe. Aluminium leitet sehr gut, die Scheibe ist dünn und gibt Wärme nur langsam ab – sie ist also fast überall gleich warm.</a:t>
            </a:r>
          </a:p>
          <a:p>
            <a:r>
              <a:t>Deshalb nehmen wir nur eine einzige Form, nämlich das stationäre FEM-Temperaturfeld, und eine Gleichung für ihr Gewicht beta: Beta strebt mit der Zeitkonstante tau gegen seinen Zielwert.</a:t>
            </a:r>
          </a:p>
          <a:p>
            <a:r>
              <a:t>Dass eine Form genügt, haben wir nicht angenommen, sondern geprüft.</a:t>
            </a:r>
          </a:p>
          <a:p>
            <a:r>
              <a:t>Links die Eigenwertanalyse: Die langsamste Form hat 204 Sekunden, die zweite nur 4,4 Sekunden – ein Faktor 47. Alles außer der ersten Form ist nach wenigen Sekunden abgeklungen.</a:t>
            </a:r>
          </a:p>
          <a:p>
            <a:r>
              <a:t>Rechts der direkte Vergleich mit der vollen FEM: Mit der Zeitkonstante aus dem Eigenproblem ist der größte Fehler 0,36 Kelvin.</a:t>
            </a:r>
          </a:p>
          <a:p>
            <a:r>
              <a:t>Im Code verwenden wir tau gleich C durch UA, also 244 Sekunden. Das gibt beim Aufheizen bis zu 3 Kelvin Fehler, im Endwert null. Der Grund: Die Scheibenunterseite sieht Luft, die von den Spulen vorgewärmt 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1:15]</a:t>
            </a:r>
          </a:p>
          <a:p>
            <a:r>
              <a:t>Reduktion C betrifft Spulen und Eisen. Hier nutzen wir ein thermisches RC-Netzwerk – wie ein elektrischer Schaltkreis: Wärmekapazität entspricht einem Kondensator, Wärmeleitwert einem Widerstand.</a:t>
            </a:r>
          </a:p>
          <a:p>
            <a:r>
              <a:t>Jede Spule hat zwei Knoten: die sichtbare Oberfläche und das träge Wicklungsinnere. Dazu kommen das Eisen und die Luft im Gerät – also sechs Knoten.</a:t>
            </a:r>
          </a:p>
          <a:p>
            <a:r>
              <a:t>Die zwei wichtigsten Parameter, die Wärmeübergänge der Spulen, kalibrieren wir an der IR-Messung bei 7,8 Ampere: 79 und 74 Grad.</a:t>
            </a:r>
          </a:p>
          <a:p>
            <a:r>
              <a:t>Wichtig dabei: Das Suchverfahren lässt jeweils das tatsächliche, nichtlineare Modell bis zum Gleichgewicht laufen – keine vereinfachte Handformel.</a:t>
            </a:r>
          </a:p>
          <a:p>
            <a:r>
              <a:t>Zusammen ergibt das acht Zustandsgrößen: zwei Gewichte beta für die Scheibe und sechs Knoten. Ein Zeitschritt dauert rund drei Mikrosekunden.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1:15]</a:t>
            </a:r>
          </a:p>
          <a:p>
            <a:r>
              <a:t>So sieht das im Code aus. Alle Zahlenwerte stehen in einer einzigen Datei, params.yaml – keine Konstante ist im Code fest verdrahtet.</a:t>
            </a:r>
          </a:p>
          <a:p>
            <a:r>
              <a:t>Offline rechnen em_solver und thermal_solver die FEM, rom.py macht die Reduktionen A und B, der HTML-Builder die Reduktion C. Online läuft nur twin_core.py – das ist das ROM.</a:t>
            </a:r>
          </a:p>
          <a:p>
            <a:r>
              <a:t>Ein Doppelklick auf RUN startet alles und öffnet die Ansicht im Browser; rechts sehen Sie einen Screenshot. Man kann den Strom mit einem Schieberegler ändern und sieht Temperaturen und Schwebehöhe live.</a:t>
            </a:r>
          </a:p>
          <a:p>
            <a:r>
              <a:t>[OPTIONAL: kurze Live-Demo, höchstens 30 Sekunden – Strom hochziehen, Zeitraffer mit „+“.]</a:t>
            </a:r>
          </a:p>
          <a:p>
            <a:r>
              <a:t>Ein Stromsensor am Arduino ist softwareseitig vorbereitet; der Einbau am Versuchsstand läuft noch.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0:45]</a:t>
            </a:r>
          </a:p>
          <a:p>
            <a:r>
              <a:t>Zu den Ergebnissen. Bei 5 Ampere liefert die Feld-FEM insgesamt 138 Watt.</a:t>
            </a:r>
          </a:p>
          <a:p>
            <a:r>
              <a:t>Die beiden Spulen erzeugen zusammen gut drei Viertel davon, die Scheibe etwa ein Fünftel, das Eisen vier Prozent. Das passt zum Wärmebild, in dem die Spulen die heißesten Bauteile sind.</a:t>
            </a:r>
          </a:p>
          <a:p>
            <a:r>
              <a:t>Eine ehrliche Anmerkung zur Stromkonvention: Die Verlustrechnung setzt den gemessenen Effektivwert als Amplitude ein. Die absoluten Wattzahlen sind dadurch um den Faktor zwei zu klein. Für die Temperatur ist das unschädlich, weil die Kalibrierung den Faktor auffängt – Details auf einer Backup-Folie.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1:30]</a:t>
            </a:r>
          </a:p>
          <a:p>
            <a:r>
              <a:t>Jetzt der Vergleich mit der Messung – und hier trennen wir bewusst.</a:t>
            </a:r>
          </a:p>
          <a:p>
            <a:r>
              <a:t>Die stationären Spulentemperaturen trifft das Modell exakt, aber nur, weil wir genau darauf kalibriert haben. Das ist also kein Nachweis.</a:t>
            </a:r>
          </a:p>
          <a:p>
            <a:r>
              <a:t>Der Zeitverlauf ist eine echte Vorhersage – und hier liegt das Modell daneben: In der Aufheizrampe der Außenspule heizt es zu langsam; der mittlere Fehler ist 11,5 Kelvin. Links sehen Sie die fünf Messpunkte gegen das Modell.</a:t>
            </a:r>
          </a:p>
          <a:p>
            <a:r>
              <a:t>Bei der Scheibe misst die IR-Kamera 37 bis 40 Grad, das Modell sagt 107 – aber auf blankem Aluminium ist die IR-Messung nicht verlässlich; ein Urteil ist nicht möglich.</a:t>
            </a:r>
          </a:p>
          <a:p>
            <a:r>
              <a:t>Und die Schwebehöhe überschätzt das Modell um etwa 7 Millimeter.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1:00]</a:t>
            </a:r>
          </a:p>
          <a:p>
            <a:r>
              <a:t>Woran liegt das?</a:t>
            </a:r>
          </a:p>
          <a:p>
            <a:r>
              <a:t>Erstens der Zeitverlauf: Die Endtemperatur hängt nur von den kalibrierten Wärmeübergängen ab, das Tempo aber von den Wärmekapazitäten und der Aufteilung zwischen Oberfläche und Wicklung. Die lassen sich aus einer Aufheizkurve allein nicht bestimmen – dafür fehlt eine Abkühlkurve.</a:t>
            </a:r>
          </a:p>
          <a:p>
            <a:r>
              <a:t>Zweitens die Scheibe: Blankes Aluminium strahlt wenig ab und spiegelt die Umgebung, deshalb zeigt die Kamera zu tiefe Werte.</a:t>
            </a:r>
          </a:p>
          <a:p>
            <a:r>
              <a:t>Drittens die Schwebehöhe: Wahrscheinlichste Ursache ist die angenommene Eisenpermeabilität von 1000, die nie gemessen wurde. Wir haben sie bewusst nicht nachträglich an die Beobachtung angepasst – sonst hätten wir eine Anpassung als Validierung verkauft.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1:00]</a:t>
            </a:r>
          </a:p>
          <a:p>
            <a:r>
              <a:t>Fast alle Abweichungen haben also dieselbe Ursache: Es fehlen Messdaten. Die nächsten Schritte sind deshalb konkret: eine Abkühlkurve aufnehmen, ein mattschwarzer Messfleck für verlässliche IR-Werte, die Eisenpermeabilität messen, den Stromsensor einbauen und einen unabhängigen Messpunkt bei 5 Ampere, um die Kalibrierung zu prüfen statt nur anzupassen.</a:t>
            </a:r>
          </a:p>
          <a:p>
            <a:r>
              <a:t>Unser Fazit: Aus einem FEM-Modell mit tausenden Unbekannten ist ein ROM mit acht Zuständen geworden, das in Mikrosekunden rechnet. Die Reduzierbarkeit ist geprüft, nicht angenommen. Und wir wissen genau, wo das Modell noch nicht stimmt und warum. Das Vorgehen lässt sich auf 3D-Modelle übertragen.</a:t>
            </a:r>
          </a:p>
          <a:p>
            <a:r>
              <a:t>Vielen Dank für Ihre Aufmerksamkeit – wir freuen uns auf Ihre Fragen.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Fragerunde. Backup-Folien B1–B7 folgen nach dieser Folie (nur bei Bedarf zeigen).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Falls nach den 138 W gefragt wird: ehrlich sagen, dass die Absolutwerte wegen der Konvention um Faktor 2 zu klein sind, die Temperaturen aber stimmen, weil hA kalibriert 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Sättigung wurde als Ursache für die Schwebehöhe getestet und ausgeschlossen (Kraft ändert sich &lt; 0,1 %).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Unterschied 244 s vs. 204 s: UA wird gegen 20 °C gebildet, die Unterseite sieht aber vorgewärmte Luft (≈ 30 °C).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Kernaussage: nur zwei Parameter sind kalibriert; die meisten Unsicherheiten stecken in den angenommenen Werten (rote Spalte).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Falls nach Netzkonvergenz gefragt wird: ehrlich sagen, dass keine systematische Studie dokumentiert ist; Argument Skintiefe und die drei Prüfungen nennen.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Übersicht entspricht Anhang B des Berichts.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nur zeigen, wenn gefragt wird, ob alle drei Reduktionen verwendet werden oder nur eine. Langsam, Zeile für Zeile erklären:</a:t>
            </a:r>
          </a:p>
          <a:p>
            <a:r>
              <a:t>1) Links das große Modell: Magnetfeld mit 8 700 Unbekannten, Scheibe mit 697 Knoten, Spulen und Eisen als feines Feld (so nicht gerechnet).</a:t>
            </a:r>
          </a:p>
          <a:p>
            <a:r>
              <a:t>2) Zeile A: Die Feldgleichung ist linear. Einmal bei 5 A lösen, Verlustkarte speichern, danach nur mal (I/5 A)² – wie ein Lautstärkeregler. Gilt für alle Bauteile.</a:t>
            </a:r>
          </a:p>
          <a:p>
            <a:r>
              <a:t>3) Zeile B: Die Scheibe ist fast gleich warm. Form einmal speichern, nur die Stärke beta merken – wie ein Foto, das heller oder dunkler wird. Zwei Gewichte: Wirbelströme und warme Luft.</a:t>
            </a:r>
          </a:p>
          <a:p>
            <a:r>
              <a:t>4) Zeile C: Jeder Körper fast gleich warm, also ein Knoten pro Körper – Schaltplan statt Landkarte. Spulen je zwei Knoten, dazu Eisen und Luft: sechs.</a:t>
            </a:r>
          </a:p>
          <a:p>
            <a:r>
              <a:t>5) Unten: In jedem Zeitschritt alle drei nacheinander. A skaliert die Verluste, C rechnet die Knoten, B rechnet die Scheibe; die warme Luft aus C heizt die Scheibe mit – B und C sind gekoppelt.</a:t>
            </a:r>
          </a:p>
          <a:p>
            <a:r>
              <a:t>6) Ergebnis: acht Zahlen statt über 9 000, etwa drei Mikrosekunden pro Schritt.</a:t>
            </a:r>
          </a:p>
          <a:p>
            <a:r>
              <a:t>Kernsatz: „Alle drei gleichzeitig, jede für einen anderen Teil des Geräts.“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206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10789920" cy="365760"/>
          </a:xfrm>
          <a:prstGeom prst="rect">
            <a:avLst/>
          </a:prstGeom>
          <a:noFill/>
        </p:spPr>
        <p:txBody>
          <a:bodyPr wrap="square" anchor="t" lIns="45720" rIns="45720" tIns="27432" bIns="27432">
            <a:spAutoFit/>
          </a:bodyPr>
          <a:lstStyle/>
          <a:p>
            <a:pPr algn="l">
              <a:spcAft>
                <a:spcPts val="600"/>
              </a:spcAft>
            </a:pPr>
            <a:r>
              <a:rPr sz="1400" b="0" i="0">
                <a:solidFill>
                  <a:srgbClr val="F0B284"/>
                </a:solidFill>
                <a:latin typeface="Calibri"/>
              </a:rPr>
              <a:t>PROJECT COURSE DIGITAL TWIN · SOMMERSEMESTER 2026</a:t>
            </a:r>
          </a:p>
        </p:txBody>
      </p:sp>
      <p:sp>
        <p:nvSpPr>
          <p:cNvPr id="4" name="TextBox 3"/>
          <p:cNvSpPr txBox="1"/>
          <p:nvPr/>
        </p:nvSpPr>
        <p:spPr>
          <a:xfrm>
            <a:off x="731520" y="1325880"/>
            <a:ext cx="10789920" cy="1828800"/>
          </a:xfrm>
          <a:prstGeom prst="rect">
            <a:avLst/>
          </a:prstGeom>
          <a:noFill/>
        </p:spPr>
        <p:txBody>
          <a:bodyPr wrap="square" anchor="t" lIns="45720" rIns="45720" tIns="27432" bIns="27432">
            <a:spAutoFit/>
          </a:bodyPr>
          <a:lstStyle/>
          <a:p>
            <a:pPr algn="l">
              <a:spcAft>
                <a:spcPts val="200"/>
              </a:spcAft>
            </a:pPr>
            <a:r>
              <a:rPr sz="4000" b="0" i="0">
                <a:solidFill>
                  <a:srgbClr val="FFFFFF"/>
                </a:solidFill>
                <a:latin typeface="Calibri"/>
              </a:rPr>
              <a:t>Digital Twin für das Thermomanagement</a:t>
            </a:r>
          </a:p>
          <a:p>
            <a:pPr algn="l">
              <a:spcAft>
                <a:spcPts val="200"/>
              </a:spcAft>
            </a:pPr>
            <a:r>
              <a:rPr sz="4000" b="0" i="0">
                <a:solidFill>
                  <a:srgbClr val="FFFFFF"/>
                </a:solidFill>
                <a:latin typeface="Calibri"/>
              </a:rPr>
              <a:t>eines elektrodynamischen Levitators</a:t>
            </a:r>
          </a:p>
        </p:txBody>
      </p:sp>
      <p:sp>
        <p:nvSpPr>
          <p:cNvPr id="5" name="TextBox 4"/>
          <p:cNvSpPr txBox="1"/>
          <p:nvPr/>
        </p:nvSpPr>
        <p:spPr>
          <a:xfrm>
            <a:off x="731520" y="3063240"/>
            <a:ext cx="10789920" cy="731520"/>
          </a:xfrm>
          <a:prstGeom prst="rect">
            <a:avLst/>
          </a:prstGeom>
          <a:noFill/>
        </p:spPr>
        <p:txBody>
          <a:bodyPr wrap="square" anchor="t" lIns="45720" rIns="45720" tIns="27432" bIns="27432">
            <a:spAutoFit/>
          </a:bodyPr>
          <a:lstStyle/>
          <a:p>
            <a:pPr algn="l">
              <a:spcAft>
                <a:spcPts val="600"/>
              </a:spcAft>
            </a:pPr>
            <a:r>
              <a:rPr sz="2000" b="0" i="0">
                <a:solidFill>
                  <a:srgbClr val="C9D6E8"/>
                </a:solidFill>
                <a:latin typeface="Calibri"/>
              </a:rPr>
              <a:t>Vom FEM-Modell zum Echtzeit-ROM durch Modellordnungsreduktion</a:t>
            </a:r>
          </a:p>
        </p:txBody>
      </p:sp>
      <p:sp>
        <p:nvSpPr>
          <p:cNvPr id="6" name="TextBox 5"/>
          <p:cNvSpPr txBox="1"/>
          <p:nvPr/>
        </p:nvSpPr>
        <p:spPr>
          <a:xfrm>
            <a:off x="731520" y="4526280"/>
            <a:ext cx="10789920" cy="457200"/>
          </a:xfrm>
          <a:prstGeom prst="rect">
            <a:avLst/>
          </a:prstGeom>
          <a:noFill/>
        </p:spPr>
        <p:txBody>
          <a:bodyPr wrap="square" anchor="t" lIns="45720" rIns="45720" tIns="27432" bIns="27432">
            <a:spAutoFit/>
          </a:bodyPr>
          <a:lstStyle/>
          <a:p>
            <a:pPr algn="l">
              <a:spcAft>
                <a:spcPts val="600"/>
              </a:spcAft>
            </a:pPr>
            <a:r>
              <a:rPr sz="2200" b="0" i="0">
                <a:solidFill>
                  <a:srgbClr val="1F3A5F"/>
                </a:solidFill>
                <a:latin typeface="Calibri"/>
              </a:rPr>
              <a:t>Dang Minh Hoang · Marina Borchert · Mohamed Aziz El Majid</a:t>
            </a:r>
          </a:p>
        </p:txBody>
      </p:sp>
      <p:sp>
        <p:nvSpPr>
          <p:cNvPr id="7" name="TextBox 6"/>
          <p:cNvSpPr txBox="1"/>
          <p:nvPr/>
        </p:nvSpPr>
        <p:spPr>
          <a:xfrm>
            <a:off x="731520" y="5074920"/>
            <a:ext cx="10789920" cy="822960"/>
          </a:xfrm>
          <a:prstGeom prst="rect">
            <a:avLst/>
          </a:prstGeom>
          <a:noFill/>
        </p:spPr>
        <p:txBody>
          <a:bodyPr wrap="square" anchor="t" lIns="45720" rIns="45720" tIns="27432" bIns="27432">
            <a:spAutoFit/>
          </a:bodyPr>
          <a:lstStyle/>
          <a:p>
            <a:pPr algn="l">
              <a:spcAft>
                <a:spcPts val="400"/>
              </a:spcAft>
            </a:pPr>
            <a:r>
              <a:rPr sz="1600" b="0" i="0">
                <a:solidFill>
                  <a:srgbClr val="5F6670"/>
                </a:solidFill>
                <a:latin typeface="Calibri"/>
              </a:rPr>
              <a:t>Betreuung: Prof. Dr. rer. nat. Dirk Hartmann · Dr.-Ing. Melina Merkel</a:t>
            </a:r>
          </a:p>
          <a:p>
            <a:pPr algn="l">
              <a:spcAft>
                <a:spcPts val="400"/>
              </a:spcAft>
            </a:pPr>
            <a:r>
              <a:rPr sz="1600" b="0" i="0">
                <a:solidFill>
                  <a:srgbClr val="5F6670"/>
                </a:solidFill>
                <a:latin typeface="Calibri"/>
              </a:rPr>
              <a:t>Stand: 27.09.2026</a:t>
            </a:r>
          </a:p>
        </p:txBody>
      </p:sp>
      <p:sp>
        <p:nvSpPr>
          <p:cNvPr id="8" name="Rectangle 7"/>
          <p:cNvSpPr/>
          <p:nvPr/>
        </p:nvSpPr>
        <p:spPr>
          <a:xfrm>
            <a:off x="8778240" y="4892040"/>
            <a:ext cx="663122" cy="1097280"/>
          </a:xfrm>
          <a:prstGeom prst="rect">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492569" y="4892040"/>
            <a:ext cx="870508" cy="1097280"/>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9887" y="4892040"/>
            <a:ext cx="384048" cy="1097280"/>
          </a:xfrm>
          <a:prstGeom prst="rect">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00745" y="4892040"/>
            <a:ext cx="512064" cy="1097280"/>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78240" y="4590288"/>
            <a:ext cx="2048256" cy="91440"/>
          </a:xfrm>
          <a:prstGeom prst="rect">
            <a:avLst/>
          </a:prstGeom>
          <a:solidFill>
            <a:srgbClr val="2A9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EINLEITUNG</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Warum ein virtueller Sensor?</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2</a:t>
            </a:r>
          </a:p>
        </p:txBody>
      </p:sp>
      <p:sp>
        <p:nvSpPr>
          <p:cNvPr id="7" name="TextBox 6"/>
          <p:cNvSpPr txBox="1"/>
          <p:nvPr/>
        </p:nvSpPr>
        <p:spPr>
          <a:xfrm>
            <a:off x="548640" y="1554480"/>
            <a:ext cx="5852160" cy="4480560"/>
          </a:xfrm>
          <a:prstGeom prst="rect">
            <a:avLst/>
          </a:prstGeom>
          <a:noFill/>
        </p:spPr>
        <p:txBody>
          <a:bodyPr wrap="square" anchor="t" lIns="45720" rIns="45720" tIns="27432" bIns="27432">
            <a:spAutoFit/>
          </a:bodyPr>
          <a:lstStyle/>
          <a:p>
            <a:pPr algn="l">
              <a:spcAft>
                <a:spcPts val="600"/>
              </a:spcAft>
            </a:pPr>
            <a:r>
              <a:rPr sz="1900" b="0" i="0">
                <a:solidFill>
                  <a:srgbClr val="222222"/>
                </a:solidFill>
                <a:latin typeface="Calibri"/>
              </a:rPr>
              <a:t>• </a:t>
            </a:r>
            <a:r>
              <a:rPr sz="1900" b="1" i="0">
                <a:solidFill>
                  <a:srgbClr val="222222"/>
                </a:solidFill>
                <a:latin typeface="Calibri"/>
              </a:rPr>
              <a:t>Versuchsstand:</a:t>
            </a:r>
            <a:r>
              <a:rPr sz="1900" b="0" i="0">
                <a:solidFill>
                  <a:srgbClr val="222222"/>
                </a:solidFill>
                <a:latin typeface="Calibri"/>
              </a:rPr>
              <a:t> Levitator nach TEAM-Benchmark 28</a:t>
            </a:r>
          </a:p>
          <a:p>
            <a:pPr algn="l" marL="320040">
              <a:spcAft>
                <a:spcPts val="600"/>
              </a:spcAft>
            </a:pPr>
            <a:r>
              <a:rPr sz="1600" b="0" i="0">
                <a:solidFill>
                  <a:srgbClr val="222222"/>
                </a:solidFill>
                <a:latin typeface="Calibri"/>
              </a:rPr>
              <a:t>– Wechselstrom (50 Hz) → Magnetfeld → Wirbelströme → die Al-Scheibe schwebt</a:t>
            </a:r>
          </a:p>
          <a:p>
            <a:pPr algn="l" marL="320040">
              <a:spcAft>
                <a:spcPts val="600"/>
              </a:spcAft>
            </a:pPr>
            <a:r>
              <a:rPr sz="1600" b="0" i="0">
                <a:solidFill>
                  <a:srgbClr val="222222"/>
                </a:solidFill>
                <a:latin typeface="Calibri"/>
              </a:rPr>
              <a:t>– Dieselben Ströme erzeugen </a:t>
            </a:r>
            <a:r>
              <a:rPr sz="1600" b="1" i="0">
                <a:solidFill>
                  <a:srgbClr val="222222"/>
                </a:solidFill>
                <a:latin typeface="Calibri"/>
              </a:rPr>
              <a:t>Wärme</a:t>
            </a:r>
            <a:r>
              <a:rPr sz="1600" b="0" i="0">
                <a:solidFill>
                  <a:srgbClr val="222222"/>
                </a:solidFill>
                <a:latin typeface="Calibri"/>
              </a:rPr>
              <a:t> in Scheibe, Spulen und Eisen</a:t>
            </a:r>
          </a:p>
          <a:p>
            <a:pPr algn="l">
              <a:spcAft>
                <a:spcPts val="600"/>
              </a:spcAft>
            </a:pPr>
            <a:r>
              <a:rPr sz="1900" b="0" i="0">
                <a:solidFill>
                  <a:srgbClr val="222222"/>
                </a:solidFill>
                <a:latin typeface="Calibri"/>
              </a:rPr>
              <a:t>• </a:t>
            </a:r>
            <a:r>
              <a:rPr sz="1900" b="1" i="0">
                <a:solidFill>
                  <a:srgbClr val="222222"/>
                </a:solidFill>
                <a:latin typeface="Calibri"/>
              </a:rPr>
              <a:t>Temperatur schwer messbar</a:t>
            </a:r>
          </a:p>
          <a:p>
            <a:pPr algn="l" marL="320040">
              <a:spcAft>
                <a:spcPts val="600"/>
              </a:spcAft>
            </a:pPr>
            <a:r>
              <a:rPr sz="1600" b="0" i="0">
                <a:solidFill>
                  <a:srgbClr val="222222"/>
                </a:solidFill>
                <a:latin typeface="Calibri"/>
              </a:rPr>
              <a:t>– Fühler an der schwebenden Scheibe stört die Levitation</a:t>
            </a:r>
          </a:p>
          <a:p>
            <a:pPr algn="l" marL="320040">
              <a:spcAft>
                <a:spcPts val="600"/>
              </a:spcAft>
            </a:pPr>
            <a:r>
              <a:rPr sz="1600" b="0" i="0">
                <a:solidFill>
                  <a:srgbClr val="222222"/>
                </a:solidFill>
                <a:latin typeface="Calibri"/>
              </a:rPr>
              <a:t>– Das Innere der Wicklung ist nicht zugänglich</a:t>
            </a:r>
          </a:p>
          <a:p>
            <a:pPr algn="l">
              <a:spcAft>
                <a:spcPts val="600"/>
              </a:spcAft>
            </a:pPr>
            <a:r>
              <a:rPr sz="1900" b="0" i="0">
                <a:solidFill>
                  <a:srgbClr val="222222"/>
                </a:solidFill>
                <a:latin typeface="Calibri"/>
              </a:rPr>
              <a:t>• </a:t>
            </a:r>
            <a:r>
              <a:rPr sz="1900" b="1" i="0">
                <a:solidFill>
                  <a:srgbClr val="222222"/>
                </a:solidFill>
                <a:latin typeface="Calibri"/>
              </a:rPr>
              <a:t>Strom leicht messbar</a:t>
            </a:r>
            <a:r>
              <a:rPr sz="1900" b="0" i="0">
                <a:solidFill>
                  <a:srgbClr val="222222"/>
                </a:solidFill>
                <a:latin typeface="Calibri"/>
              </a:rPr>
              <a:t> → Modell rechnet Strom → Temperatur</a:t>
            </a:r>
          </a:p>
        </p:txBody>
      </p:sp>
      <p:sp>
        <p:nvSpPr>
          <p:cNvPr id="8" name="Rounded Rectangle 7"/>
          <p:cNvSpPr/>
          <p:nvPr/>
        </p:nvSpPr>
        <p:spPr>
          <a:xfrm>
            <a:off x="6858000" y="1600200"/>
            <a:ext cx="4754880" cy="6858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i="0">
                <a:solidFill>
                  <a:srgbClr val="FFFFFF"/>
                </a:solidFill>
                <a:latin typeface="Calibri"/>
              </a:rPr>
              <a:t>Anforderungen an das Modell</a:t>
            </a:r>
          </a:p>
        </p:txBody>
      </p:sp>
      <p:sp>
        <p:nvSpPr>
          <p:cNvPr id="9" name="Oval 8"/>
          <p:cNvSpPr/>
          <p:nvPr/>
        </p:nvSpPr>
        <p:spPr>
          <a:xfrm>
            <a:off x="6858000" y="2423160"/>
            <a:ext cx="685800" cy="82296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i="0">
                <a:solidFill>
                  <a:srgbClr val="FFFFFF"/>
                </a:solidFill>
                <a:latin typeface="Calibri"/>
              </a:rPr>
              <a:t>1</a:t>
            </a:r>
          </a:p>
        </p:txBody>
      </p:sp>
      <p:sp>
        <p:nvSpPr>
          <p:cNvPr id="10" name="TextBox 9"/>
          <p:cNvSpPr txBox="1"/>
          <p:nvPr/>
        </p:nvSpPr>
        <p:spPr>
          <a:xfrm>
            <a:off x="7680960" y="2441448"/>
            <a:ext cx="3931920" cy="868680"/>
          </a:xfrm>
          <a:prstGeom prst="rect">
            <a:avLst/>
          </a:prstGeom>
          <a:noFill/>
        </p:spPr>
        <p:txBody>
          <a:bodyPr wrap="square" anchor="t" lIns="45720" rIns="45720" tIns="27432" bIns="27432">
            <a:spAutoFit/>
          </a:bodyPr>
          <a:lstStyle/>
          <a:p>
            <a:pPr algn="l">
              <a:spcAft>
                <a:spcPts val="0"/>
              </a:spcAft>
            </a:pPr>
            <a:r>
              <a:rPr sz="1800" b="1" i="0">
                <a:solidFill>
                  <a:srgbClr val="222222"/>
                </a:solidFill>
                <a:latin typeface="Calibri"/>
              </a:rPr>
              <a:t>schnell</a:t>
            </a:r>
          </a:p>
          <a:p>
            <a:pPr algn="l">
              <a:spcAft>
                <a:spcPts val="0"/>
              </a:spcAft>
            </a:pPr>
            <a:r>
              <a:rPr sz="1400" b="0" i="0">
                <a:solidFill>
                  <a:srgbClr val="5F6670"/>
                </a:solidFill>
                <a:latin typeface="Calibri"/>
              </a:rPr>
              <a:t>Echtzeit, ohne Wartezeit</a:t>
            </a:r>
          </a:p>
        </p:txBody>
      </p:sp>
      <p:sp>
        <p:nvSpPr>
          <p:cNvPr id="11" name="Oval 10"/>
          <p:cNvSpPr/>
          <p:nvPr/>
        </p:nvSpPr>
        <p:spPr>
          <a:xfrm>
            <a:off x="6858000" y="3410712"/>
            <a:ext cx="685800" cy="82296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i="0">
                <a:solidFill>
                  <a:srgbClr val="FFFFFF"/>
                </a:solidFill>
                <a:latin typeface="Calibri"/>
              </a:rPr>
              <a:t>2</a:t>
            </a:r>
          </a:p>
        </p:txBody>
      </p:sp>
      <p:sp>
        <p:nvSpPr>
          <p:cNvPr id="12" name="TextBox 11"/>
          <p:cNvSpPr txBox="1"/>
          <p:nvPr/>
        </p:nvSpPr>
        <p:spPr>
          <a:xfrm>
            <a:off x="7680960" y="3429000"/>
            <a:ext cx="3931920" cy="868680"/>
          </a:xfrm>
          <a:prstGeom prst="rect">
            <a:avLst/>
          </a:prstGeom>
          <a:noFill/>
        </p:spPr>
        <p:txBody>
          <a:bodyPr wrap="square" anchor="t" lIns="45720" rIns="45720" tIns="27432" bIns="27432">
            <a:spAutoFit/>
          </a:bodyPr>
          <a:lstStyle/>
          <a:p>
            <a:pPr algn="l">
              <a:spcAft>
                <a:spcPts val="0"/>
              </a:spcAft>
            </a:pPr>
            <a:r>
              <a:rPr sz="1800" b="1" i="0">
                <a:solidFill>
                  <a:srgbClr val="222222"/>
                </a:solidFill>
                <a:latin typeface="Calibri"/>
              </a:rPr>
              <a:t>physikalisch begründet</a:t>
            </a:r>
          </a:p>
          <a:p>
            <a:pPr algn="l">
              <a:spcAft>
                <a:spcPts val="0"/>
              </a:spcAft>
            </a:pPr>
            <a:r>
              <a:rPr sz="1400" b="0" i="0">
                <a:solidFill>
                  <a:srgbClr val="5F6670"/>
                </a:solidFill>
                <a:latin typeface="Calibri"/>
              </a:rPr>
              <a:t>aus den Grundgleichungen,
nicht nur Kurvenanpassung</a:t>
            </a:r>
          </a:p>
        </p:txBody>
      </p:sp>
      <p:sp>
        <p:nvSpPr>
          <p:cNvPr id="13" name="Oval 12"/>
          <p:cNvSpPr/>
          <p:nvPr/>
        </p:nvSpPr>
        <p:spPr>
          <a:xfrm>
            <a:off x="6858000" y="4398264"/>
            <a:ext cx="685800" cy="82296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i="0">
                <a:solidFill>
                  <a:srgbClr val="FFFFFF"/>
                </a:solidFill>
                <a:latin typeface="Calibri"/>
              </a:rPr>
              <a:t>3</a:t>
            </a:r>
          </a:p>
        </p:txBody>
      </p:sp>
      <p:sp>
        <p:nvSpPr>
          <p:cNvPr id="14" name="TextBox 13"/>
          <p:cNvSpPr txBox="1"/>
          <p:nvPr/>
        </p:nvSpPr>
        <p:spPr>
          <a:xfrm>
            <a:off x="7680960" y="4416552"/>
            <a:ext cx="3931920" cy="868680"/>
          </a:xfrm>
          <a:prstGeom prst="rect">
            <a:avLst/>
          </a:prstGeom>
          <a:noFill/>
        </p:spPr>
        <p:txBody>
          <a:bodyPr wrap="square" anchor="t" lIns="45720" rIns="45720" tIns="27432" bIns="27432">
            <a:spAutoFit/>
          </a:bodyPr>
          <a:lstStyle/>
          <a:p>
            <a:pPr algn="l">
              <a:spcAft>
                <a:spcPts val="0"/>
              </a:spcAft>
            </a:pPr>
            <a:r>
              <a:rPr sz="1800" b="1" i="0">
                <a:solidFill>
                  <a:srgbClr val="222222"/>
                </a:solidFill>
                <a:latin typeface="Calibri"/>
              </a:rPr>
              <a:t>kalibrierbar</a:t>
            </a:r>
          </a:p>
          <a:p>
            <a:pPr algn="l">
              <a:spcAft>
                <a:spcPts val="0"/>
              </a:spcAft>
            </a:pPr>
            <a:r>
              <a:rPr sz="1400" b="0" i="0">
                <a:solidFill>
                  <a:srgbClr val="5F6670"/>
                </a:solidFill>
                <a:latin typeface="Calibri"/>
              </a:rPr>
              <a:t>wenige unsichere Parameter,
an Messungen einstellbar</a:t>
            </a:r>
          </a:p>
        </p:txBody>
      </p:sp>
      <p:sp>
        <p:nvSpPr>
          <p:cNvPr id="15" name="Rounded Rectangle 14"/>
          <p:cNvSpPr/>
          <p:nvPr/>
        </p:nvSpPr>
        <p:spPr>
          <a:xfrm>
            <a:off x="6858000" y="5440680"/>
            <a:ext cx="4754880" cy="685800"/>
          </a:xfrm>
          <a:prstGeom prst="roundRect">
            <a:avLst/>
          </a:prstGeom>
          <a:solidFill>
            <a:srgbClr val="FFF4CC"/>
          </a:solidFill>
          <a:ln w="15875">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i="0">
                <a:solidFill>
                  <a:srgbClr val="222222"/>
                </a:solidFill>
                <a:latin typeface="Calibri"/>
              </a:rPr>
              <a:t>Genaue Modelle sind langsam → </a:t>
            </a:r>
            <a:r>
              <a:rPr sz="1500" b="1" i="0">
                <a:solidFill>
                  <a:srgbClr val="222222"/>
                </a:solidFill>
                <a:latin typeface="Calibri"/>
              </a:rPr>
              <a:t>Modellordnungsreduktion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PROBLEMSTELLUNG</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Versuchsstand und physikalisches Modell</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3</a:t>
            </a:r>
          </a:p>
        </p:txBody>
      </p:sp>
      <p:sp>
        <p:nvSpPr>
          <p:cNvPr id="7" name="Rectangle 6"/>
          <p:cNvSpPr/>
          <p:nvPr/>
        </p:nvSpPr>
        <p:spPr>
          <a:xfrm>
            <a:off x="822960" y="2957169"/>
            <a:ext cx="1349928" cy="2762402"/>
          </a:xfrm>
          <a:prstGeom prst="rect">
            <a:avLst/>
          </a:prstGeom>
          <a:solidFill>
            <a:srgbClr val="D9DBDF"/>
          </a:solidFill>
          <a:ln w="9525">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i="0">
                <a:solidFill>
                  <a:srgbClr val="222222"/>
                </a:solidFill>
                <a:latin typeface="Calibri"/>
              </a:rPr>
              <a:t>Eisen-</a:t>
            </a:r>
          </a:p>
          <a:p>
            <a:pPr algn="ctr"/>
            <a:r>
              <a:rPr sz="1200" b="0" i="0">
                <a:solidFill>
                  <a:srgbClr val="222222"/>
                </a:solidFill>
                <a:latin typeface="Calibri"/>
              </a:rPr>
              <a:t>kern</a:t>
            </a:r>
          </a:p>
        </p:txBody>
      </p:sp>
      <p:sp>
        <p:nvSpPr>
          <p:cNvPr id="8" name="Rectangle 7"/>
          <p:cNvSpPr/>
          <p:nvPr/>
        </p:nvSpPr>
        <p:spPr>
          <a:xfrm>
            <a:off x="2277130" y="2957169"/>
            <a:ext cx="1772107" cy="2762402"/>
          </a:xfrm>
          <a:prstGeom prst="rect">
            <a:avLst/>
          </a:prstGeom>
          <a:solidFill>
            <a:srgbClr val="F6D9C2"/>
          </a:solidFill>
          <a:ln w="9525">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i="0">
                <a:solidFill>
                  <a:srgbClr val="222222"/>
                </a:solidFill>
                <a:latin typeface="Calibri"/>
              </a:rPr>
              <a:t>Innenspule</a:t>
            </a:r>
          </a:p>
          <a:p>
            <a:pPr algn="ctr"/>
            <a:r>
              <a:rPr sz="1200" b="0" i="0">
                <a:solidFill>
                  <a:srgbClr val="222222"/>
                </a:solidFill>
                <a:latin typeface="Calibri"/>
              </a:rPr>
              <a:t>ca. 1000 Wdg.</a:t>
            </a:r>
          </a:p>
        </p:txBody>
      </p:sp>
      <p:sp>
        <p:nvSpPr>
          <p:cNvPr id="9" name="Rectangle 8"/>
          <p:cNvSpPr/>
          <p:nvPr/>
        </p:nvSpPr>
        <p:spPr>
          <a:xfrm>
            <a:off x="4205599" y="2957169"/>
            <a:ext cx="781812" cy="2762402"/>
          </a:xfrm>
          <a:prstGeom prst="rect">
            <a:avLst/>
          </a:prstGeom>
          <a:solidFill>
            <a:srgbClr val="D9DBDF"/>
          </a:solidFill>
          <a:ln w="9525">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i="0">
                <a:solidFill>
                  <a:srgbClr val="222222"/>
                </a:solidFill>
                <a:latin typeface="Calibri"/>
              </a:rPr>
              <a:t>Eisen-</a:t>
            </a:r>
          </a:p>
          <a:p>
            <a:pPr algn="ctr"/>
            <a:r>
              <a:rPr sz="1100" b="0" i="0">
                <a:solidFill>
                  <a:srgbClr val="222222"/>
                </a:solidFill>
                <a:latin typeface="Calibri"/>
              </a:rPr>
              <a:t>ring</a:t>
            </a:r>
          </a:p>
        </p:txBody>
      </p:sp>
      <p:sp>
        <p:nvSpPr>
          <p:cNvPr id="10" name="Rectangle 9"/>
          <p:cNvSpPr/>
          <p:nvPr/>
        </p:nvSpPr>
        <p:spPr>
          <a:xfrm>
            <a:off x="5143774" y="2957169"/>
            <a:ext cx="1042416" cy="2762402"/>
          </a:xfrm>
          <a:prstGeom prst="rect">
            <a:avLst/>
          </a:prstGeom>
          <a:solidFill>
            <a:srgbClr val="F6D9C2"/>
          </a:solidFill>
          <a:ln w="9525">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i="0">
                <a:solidFill>
                  <a:srgbClr val="222222"/>
                </a:solidFill>
                <a:latin typeface="Calibri"/>
              </a:rPr>
              <a:t>Außen-</a:t>
            </a:r>
          </a:p>
          <a:p>
            <a:pPr algn="ctr"/>
            <a:r>
              <a:rPr sz="1100" b="0" i="0">
                <a:solidFill>
                  <a:srgbClr val="222222"/>
                </a:solidFill>
                <a:latin typeface="Calibri"/>
              </a:rPr>
              <a:t>spule</a:t>
            </a:r>
          </a:p>
          <a:p>
            <a:pPr algn="ctr"/>
            <a:r>
              <a:rPr sz="1100" b="0" i="0">
                <a:solidFill>
                  <a:srgbClr val="222222"/>
                </a:solidFill>
                <a:latin typeface="Calibri"/>
              </a:rPr>
              <a:t>ca. 500</a:t>
            </a:r>
          </a:p>
          <a:p>
            <a:pPr algn="ctr"/>
            <a:r>
              <a:rPr sz="1100" b="0" i="0">
                <a:solidFill>
                  <a:srgbClr val="222222"/>
                </a:solidFill>
                <a:latin typeface="Calibri"/>
              </a:rPr>
              <a:t>Wdg.</a:t>
            </a:r>
          </a:p>
        </p:txBody>
      </p:sp>
      <p:sp>
        <p:nvSpPr>
          <p:cNvPr id="11" name="Rectangle 10"/>
          <p:cNvSpPr/>
          <p:nvPr/>
        </p:nvSpPr>
        <p:spPr>
          <a:xfrm>
            <a:off x="822960" y="2331720"/>
            <a:ext cx="4169664" cy="156362"/>
          </a:xfrm>
          <a:prstGeom prst="rect">
            <a:avLst/>
          </a:prstGeom>
          <a:solidFill>
            <a:srgbClr val="D4ECF8"/>
          </a:solidFill>
          <a:ln w="9525">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2" name="TextBox 11"/>
          <p:cNvSpPr txBox="1"/>
          <p:nvPr/>
        </p:nvSpPr>
        <p:spPr>
          <a:xfrm>
            <a:off x="1083564" y="1947672"/>
            <a:ext cx="3840480" cy="320040"/>
          </a:xfrm>
          <a:prstGeom prst="rect">
            <a:avLst/>
          </a:prstGeom>
          <a:noFill/>
        </p:spPr>
        <p:txBody>
          <a:bodyPr wrap="square" anchor="t" lIns="45720" rIns="45720" tIns="27432" bIns="27432">
            <a:spAutoFit/>
          </a:bodyPr>
          <a:lstStyle/>
          <a:p>
            <a:pPr algn="l">
              <a:spcAft>
                <a:spcPts val="600"/>
              </a:spcAft>
            </a:pPr>
            <a:r>
              <a:rPr sz="1300" b="0" i="0">
                <a:solidFill>
                  <a:srgbClr val="1F3A5F"/>
                </a:solidFill>
                <a:latin typeface="Calibri"/>
              </a:rPr>
              <a:t>Al-Scheibe  R = 80 mm, d = 3 mm</a:t>
            </a:r>
          </a:p>
        </p:txBody>
      </p:sp>
      <p:cxnSp>
        <p:nvCxnSpPr>
          <p:cNvPr id="13" name="Connector 12"/>
          <p:cNvCxnSpPr/>
          <p:nvPr/>
        </p:nvCxnSpPr>
        <p:spPr>
          <a:xfrm flipV="1">
            <a:off x="5409590" y="2488082"/>
            <a:ext cx="0" cy="469087"/>
          </a:xfrm>
          <a:prstGeom prst="line">
            <a:avLst/>
          </a:prstGeom>
          <a:ln w="12700">
            <a:solidFill>
              <a:srgbClr val="5F667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513832" y="2409901"/>
            <a:ext cx="1097280" cy="274320"/>
          </a:xfrm>
          <a:prstGeom prst="rect">
            <a:avLst/>
          </a:prstGeom>
          <a:noFill/>
        </p:spPr>
        <p:txBody>
          <a:bodyPr wrap="square" anchor="t" lIns="45720" rIns="45720" tIns="27432" bIns="27432">
            <a:spAutoFit/>
          </a:bodyPr>
          <a:lstStyle/>
          <a:p>
            <a:pPr algn="l">
              <a:spcAft>
                <a:spcPts val="600"/>
              </a:spcAft>
            </a:pPr>
            <a:r>
              <a:rPr sz="1100" b="0" i="0">
                <a:solidFill>
                  <a:srgbClr val="5F6670"/>
                </a:solidFill>
                <a:latin typeface="Calibri"/>
              </a:rPr>
              <a:t>Luftspalt</a:t>
            </a:r>
          </a:p>
        </p:txBody>
      </p:sp>
      <p:cxnSp>
        <p:nvCxnSpPr>
          <p:cNvPr id="15" name="Connector 14"/>
          <p:cNvCxnSpPr/>
          <p:nvPr/>
        </p:nvCxnSpPr>
        <p:spPr>
          <a:xfrm>
            <a:off x="822960" y="5823813"/>
            <a:ext cx="5733288" cy="0"/>
          </a:xfrm>
          <a:prstGeom prst="line">
            <a:avLst/>
          </a:prstGeom>
          <a:ln w="12700">
            <a:solidFill>
              <a:srgbClr val="222222"/>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52848" y="5849874"/>
            <a:ext cx="640080" cy="274320"/>
          </a:xfrm>
          <a:prstGeom prst="rect">
            <a:avLst/>
          </a:prstGeom>
          <a:noFill/>
        </p:spPr>
        <p:txBody>
          <a:bodyPr wrap="square" anchor="t" lIns="45720" rIns="45720" tIns="27432" bIns="27432">
            <a:spAutoFit/>
          </a:bodyPr>
          <a:lstStyle/>
          <a:p>
            <a:pPr algn="ctr">
              <a:spcAft>
                <a:spcPts val="600"/>
              </a:spcAft>
            </a:pPr>
            <a:r>
              <a:rPr sz="1100" b="0" i="0">
                <a:solidFill>
                  <a:srgbClr val="5F6670"/>
                </a:solidFill>
                <a:latin typeface="Calibri"/>
              </a:rPr>
              <a:t>25,9</a:t>
            </a:r>
          </a:p>
        </p:txBody>
      </p:sp>
      <p:sp>
        <p:nvSpPr>
          <p:cNvPr id="17" name="TextBox 16"/>
          <p:cNvSpPr txBox="1"/>
          <p:nvPr/>
        </p:nvSpPr>
        <p:spPr>
          <a:xfrm>
            <a:off x="3729197" y="5849874"/>
            <a:ext cx="640080" cy="274320"/>
          </a:xfrm>
          <a:prstGeom prst="rect">
            <a:avLst/>
          </a:prstGeom>
          <a:noFill/>
        </p:spPr>
        <p:txBody>
          <a:bodyPr wrap="square" anchor="t" lIns="45720" rIns="45720" tIns="27432" bIns="27432">
            <a:spAutoFit/>
          </a:bodyPr>
          <a:lstStyle/>
          <a:p>
            <a:pPr algn="ctr">
              <a:spcAft>
                <a:spcPts val="600"/>
              </a:spcAft>
            </a:pPr>
            <a:r>
              <a:rPr sz="1100" b="0" i="0">
                <a:solidFill>
                  <a:srgbClr val="5F6670"/>
                </a:solidFill>
                <a:latin typeface="Calibri"/>
              </a:rPr>
              <a:t>61,9</a:t>
            </a:r>
          </a:p>
        </p:txBody>
      </p:sp>
      <p:sp>
        <p:nvSpPr>
          <p:cNvPr id="18" name="TextBox 17"/>
          <p:cNvSpPr txBox="1"/>
          <p:nvPr/>
        </p:nvSpPr>
        <p:spPr>
          <a:xfrm>
            <a:off x="4667371" y="5849874"/>
            <a:ext cx="640080" cy="274320"/>
          </a:xfrm>
          <a:prstGeom prst="rect">
            <a:avLst/>
          </a:prstGeom>
          <a:noFill/>
        </p:spPr>
        <p:txBody>
          <a:bodyPr wrap="square" anchor="t" lIns="45720" rIns="45720" tIns="27432" bIns="27432">
            <a:spAutoFit/>
          </a:bodyPr>
          <a:lstStyle/>
          <a:p>
            <a:pPr algn="ctr">
              <a:spcAft>
                <a:spcPts val="600"/>
              </a:spcAft>
            </a:pPr>
            <a:r>
              <a:rPr sz="1100" b="0" i="0">
                <a:solidFill>
                  <a:srgbClr val="5F6670"/>
                </a:solidFill>
                <a:latin typeface="Calibri"/>
              </a:rPr>
              <a:t>79,9</a:t>
            </a:r>
          </a:p>
        </p:txBody>
      </p:sp>
      <p:sp>
        <p:nvSpPr>
          <p:cNvPr id="19" name="TextBox 18"/>
          <p:cNvSpPr txBox="1"/>
          <p:nvPr/>
        </p:nvSpPr>
        <p:spPr>
          <a:xfrm>
            <a:off x="5866150" y="5849874"/>
            <a:ext cx="640080" cy="274320"/>
          </a:xfrm>
          <a:prstGeom prst="rect">
            <a:avLst/>
          </a:prstGeom>
          <a:noFill/>
        </p:spPr>
        <p:txBody>
          <a:bodyPr wrap="square" anchor="t" lIns="45720" rIns="45720" tIns="27432" bIns="27432">
            <a:spAutoFit/>
          </a:bodyPr>
          <a:lstStyle/>
          <a:p>
            <a:pPr algn="ctr">
              <a:spcAft>
                <a:spcPts val="600"/>
              </a:spcAft>
            </a:pPr>
            <a:r>
              <a:rPr sz="1100" b="0" i="0">
                <a:solidFill>
                  <a:srgbClr val="5F6670"/>
                </a:solidFill>
                <a:latin typeface="Calibri"/>
              </a:rPr>
              <a:t>102,9</a:t>
            </a:r>
          </a:p>
        </p:txBody>
      </p:sp>
      <p:sp>
        <p:nvSpPr>
          <p:cNvPr id="20" name="TextBox 19"/>
          <p:cNvSpPr txBox="1"/>
          <p:nvPr/>
        </p:nvSpPr>
        <p:spPr>
          <a:xfrm>
            <a:off x="6243523" y="5615330"/>
            <a:ext cx="822960" cy="274320"/>
          </a:xfrm>
          <a:prstGeom prst="rect">
            <a:avLst/>
          </a:prstGeom>
          <a:noFill/>
        </p:spPr>
        <p:txBody>
          <a:bodyPr wrap="square" anchor="t" lIns="45720" rIns="45720" tIns="27432" bIns="27432">
            <a:spAutoFit/>
          </a:bodyPr>
          <a:lstStyle/>
          <a:p>
            <a:pPr algn="l">
              <a:spcAft>
                <a:spcPts val="600"/>
              </a:spcAft>
            </a:pPr>
            <a:r>
              <a:rPr sz="1100" b="0" i="0">
                <a:solidFill>
                  <a:srgbClr val="5F6670"/>
                </a:solidFill>
                <a:latin typeface="Calibri"/>
              </a:rPr>
              <a:t>r [mm]</a:t>
            </a:r>
          </a:p>
        </p:txBody>
      </p:sp>
      <p:cxnSp>
        <p:nvCxnSpPr>
          <p:cNvPr id="21" name="Connector 20"/>
          <p:cNvCxnSpPr/>
          <p:nvPr/>
        </p:nvCxnSpPr>
        <p:spPr>
          <a:xfrm>
            <a:off x="822960" y="1783079"/>
            <a:ext cx="0" cy="4040734"/>
          </a:xfrm>
          <a:prstGeom prst="line">
            <a:avLst/>
          </a:prstGeom>
          <a:ln w="12700">
            <a:solidFill>
              <a:srgbClr val="5F667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1463039"/>
            <a:ext cx="914400" cy="274320"/>
          </a:xfrm>
          <a:prstGeom prst="rect">
            <a:avLst/>
          </a:prstGeom>
          <a:noFill/>
        </p:spPr>
        <p:txBody>
          <a:bodyPr wrap="square" anchor="t" lIns="45720" rIns="45720" tIns="27432" bIns="27432">
            <a:spAutoFit/>
          </a:bodyPr>
          <a:lstStyle/>
          <a:p>
            <a:pPr algn="l">
              <a:spcAft>
                <a:spcPts val="600"/>
              </a:spcAft>
            </a:pPr>
            <a:r>
              <a:rPr sz="1100" b="0" i="0">
                <a:solidFill>
                  <a:srgbClr val="5F6670"/>
                </a:solidFill>
                <a:latin typeface="Calibri"/>
              </a:rPr>
              <a:t>Achse r = 0</a:t>
            </a:r>
          </a:p>
        </p:txBody>
      </p:sp>
      <p:sp>
        <p:nvSpPr>
          <p:cNvPr id="23" name="TextBox 22"/>
          <p:cNvSpPr txBox="1"/>
          <p:nvPr/>
        </p:nvSpPr>
        <p:spPr>
          <a:xfrm>
            <a:off x="548640" y="5897880"/>
            <a:ext cx="6035040" cy="457200"/>
          </a:xfrm>
          <a:prstGeom prst="rect">
            <a:avLst/>
          </a:prstGeom>
          <a:noFill/>
        </p:spPr>
        <p:txBody>
          <a:bodyPr wrap="square" anchor="t" lIns="45720" rIns="45720" tIns="27432" bIns="27432">
            <a:spAutoFit/>
          </a:bodyPr>
          <a:lstStyle/>
          <a:p>
            <a:pPr algn="l">
              <a:spcAft>
                <a:spcPts val="600"/>
              </a:spcAft>
            </a:pPr>
            <a:r>
              <a:rPr sz="1200" b="0" i="1">
                <a:solidFill>
                  <a:srgbClr val="5F6670"/>
                </a:solidFill>
                <a:latin typeface="Calibri"/>
              </a:rPr>
              <a:t>Halber Querschnitt, Radien gemessen (Lineal); Höhe 53 mm</a:t>
            </a:r>
          </a:p>
        </p:txBody>
      </p:sp>
      <p:sp>
        <p:nvSpPr>
          <p:cNvPr id="24" name="TextBox 23"/>
          <p:cNvSpPr txBox="1"/>
          <p:nvPr/>
        </p:nvSpPr>
        <p:spPr>
          <a:xfrm>
            <a:off x="7040880" y="1554480"/>
            <a:ext cx="4663440" cy="4754880"/>
          </a:xfrm>
          <a:prstGeom prst="rect">
            <a:avLst/>
          </a:prstGeom>
          <a:noFill/>
        </p:spPr>
        <p:txBody>
          <a:bodyPr wrap="square" anchor="t" lIns="45720" rIns="45720" tIns="27432" bIns="27432">
            <a:spAutoFit/>
          </a:bodyPr>
          <a:lstStyle/>
          <a:p>
            <a:pPr algn="l">
              <a:spcAft>
                <a:spcPts val="600"/>
              </a:spcAft>
            </a:pPr>
            <a:r>
              <a:rPr sz="1900" b="1" i="0">
                <a:solidFill>
                  <a:srgbClr val="1F3A5F"/>
                </a:solidFill>
                <a:latin typeface="Calibri"/>
              </a:rPr>
              <a:t>Wirkprinzip</a:t>
            </a:r>
          </a:p>
          <a:p>
            <a:pPr algn="l">
              <a:spcAft>
                <a:spcPts val="600"/>
              </a:spcAft>
            </a:pPr>
            <a:r>
              <a:rPr sz="1600" b="0" i="0">
                <a:solidFill>
                  <a:srgbClr val="222222"/>
                </a:solidFill>
                <a:latin typeface="Calibri"/>
              </a:rPr>
              <a:t>• Eisen bündelt das Wechselfeld</a:t>
            </a:r>
          </a:p>
          <a:p>
            <a:pPr algn="l">
              <a:spcAft>
                <a:spcPts val="600"/>
              </a:spcAft>
            </a:pPr>
            <a:r>
              <a:rPr sz="1600" b="0" i="0">
                <a:solidFill>
                  <a:srgbClr val="222222"/>
                </a:solidFill>
                <a:latin typeface="Calibri"/>
              </a:rPr>
              <a:t>• Wirbelströme in Scheibe und Eisen, Ohm'sche Verluste in den Spulen</a:t>
            </a:r>
          </a:p>
          <a:p>
            <a:pPr algn="l">
              <a:spcAft>
                <a:spcPts val="1400"/>
              </a:spcAft>
            </a:pPr>
            <a:r>
              <a:rPr sz="1600" b="0" i="0">
                <a:solidFill>
                  <a:srgbClr val="222222"/>
                </a:solidFill>
                <a:latin typeface="Calibri"/>
              </a:rPr>
              <a:t>• Wärme verteilt sich und geht an die Luft</a:t>
            </a:r>
          </a:p>
          <a:p>
            <a:pPr algn="l">
              <a:spcAft>
                <a:spcPts val="600"/>
              </a:spcAft>
            </a:pPr>
            <a:r>
              <a:rPr sz="1900" b="1" i="0">
                <a:solidFill>
                  <a:srgbClr val="1F3A5F"/>
                </a:solidFill>
                <a:latin typeface="Calibri"/>
              </a:rPr>
              <a:t>Vereinfachungen</a:t>
            </a:r>
          </a:p>
          <a:p>
            <a:pPr algn="l">
              <a:spcAft>
                <a:spcPts val="600"/>
              </a:spcAft>
            </a:pPr>
            <a:r>
              <a:rPr sz="1600" b="0" i="0">
                <a:solidFill>
                  <a:srgbClr val="222222"/>
                </a:solidFill>
                <a:latin typeface="Calibri"/>
              </a:rPr>
              <a:t>• Drehsymmetrie → Halbebene (r, z)</a:t>
            </a:r>
          </a:p>
          <a:p>
            <a:pPr algn="l">
              <a:spcAft>
                <a:spcPts val="600"/>
              </a:spcAft>
            </a:pPr>
            <a:r>
              <a:rPr sz="1600" b="0" i="0">
                <a:solidFill>
                  <a:srgbClr val="222222"/>
                </a:solidFill>
                <a:latin typeface="Calibri"/>
              </a:rPr>
              <a:t>• Umgebung konstant 20 °C (wie vereinbart)</a:t>
            </a:r>
          </a:p>
          <a:p>
            <a:pPr algn="l">
              <a:spcAft>
                <a:spcPts val="600"/>
              </a:spcAft>
            </a:pPr>
            <a:r>
              <a:rPr sz="1600" b="0" i="0">
                <a:solidFill>
                  <a:srgbClr val="222222"/>
                </a:solidFill>
                <a:latin typeface="Calibri"/>
              </a:rPr>
              <a:t>• Strom 5 A eff. als Standard, frei einstellbar</a:t>
            </a:r>
          </a:p>
          <a:p>
            <a:pPr algn="l">
              <a:spcAft>
                <a:spcPts val="1400"/>
              </a:spcAft>
            </a:pPr>
            <a:r>
              <a:rPr sz="1600" b="0" i="0">
                <a:solidFill>
                  <a:srgbClr val="222222"/>
                </a:solidFill>
                <a:latin typeface="Calibri"/>
              </a:rPr>
              <a:t>• Feste Scheibenhöhe in der Feldrechnung</a:t>
            </a:r>
          </a:p>
          <a:p>
            <a:pPr algn="l">
              <a:spcAft>
                <a:spcPts val="600"/>
              </a:spcAft>
            </a:pPr>
            <a:r>
              <a:rPr sz="1500" b="1" i="0">
                <a:solidFill>
                  <a:srgbClr val="C0392B"/>
                </a:solidFill>
                <a:latin typeface="Calibri"/>
              </a:rPr>
              <a:t>Keine fest eingebauten Temperatursensoren</a:t>
            </a:r>
            <a:r>
              <a:rPr sz="1500" b="0" i="0">
                <a:solidFill>
                  <a:srgbClr val="C0392B"/>
                </a:solidFill>
                <a:latin typeface="Calibri"/>
              </a:rPr>
              <a:t> – alle Messwerte: IR-Kamera, 23.06.2026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PROBLEMSTELLUNG</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Vom physikalischen Vorgang zur Gleichung</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4</a:t>
            </a:r>
          </a:p>
        </p:txBody>
      </p:sp>
      <p:sp>
        <p:nvSpPr>
          <p:cNvPr id="7" name="Rounded Rectangle 6"/>
          <p:cNvSpPr/>
          <p:nvPr/>
        </p:nvSpPr>
        <p:spPr>
          <a:xfrm>
            <a:off x="548640" y="1600200"/>
            <a:ext cx="2834640" cy="868680"/>
          </a:xfrm>
          <a:prstGeom prst="roundRect">
            <a:avLst/>
          </a:prstGeom>
          <a:solidFill>
            <a:srgbClr val="D4EC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1  Magnetfeld (Phasor)</a:t>
            </a:r>
          </a:p>
        </p:txBody>
      </p:sp>
      <p:sp>
        <p:nvSpPr>
          <p:cNvPr id="8" name="Rounded Rectangle 7"/>
          <p:cNvSpPr/>
          <p:nvPr/>
        </p:nvSpPr>
        <p:spPr>
          <a:xfrm>
            <a:off x="3520440" y="1600200"/>
            <a:ext cx="5760720" cy="86868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0" i="0">
                <a:solidFill>
                  <a:srgbClr val="222222"/>
                </a:solidFill>
                <a:latin typeface="Calibri"/>
              </a:rPr>
              <a:t>−∇·(ν∇A) + ν·A/r² + jωσ·A = Jₛ</a:t>
            </a:r>
          </a:p>
        </p:txBody>
      </p:sp>
      <p:sp>
        <p:nvSpPr>
          <p:cNvPr id="9" name="TextBox 8"/>
          <p:cNvSpPr txBox="1"/>
          <p:nvPr/>
        </p:nvSpPr>
        <p:spPr>
          <a:xfrm>
            <a:off x="9418320" y="1856232"/>
            <a:ext cx="2377440" cy="457200"/>
          </a:xfrm>
          <a:prstGeom prst="rect">
            <a:avLst/>
          </a:prstGeom>
          <a:noFill/>
        </p:spPr>
        <p:txBody>
          <a:bodyPr wrap="square" anchor="t" lIns="45720" rIns="45720" tIns="27432" bIns="27432">
            <a:spAutoFit/>
          </a:bodyPr>
          <a:lstStyle/>
          <a:p>
            <a:pPr algn="l">
              <a:spcAft>
                <a:spcPts val="600"/>
              </a:spcAft>
            </a:pPr>
            <a:r>
              <a:rPr sz="1400" b="0" i="0">
                <a:solidFill>
                  <a:srgbClr val="5F6670"/>
                </a:solidFill>
                <a:latin typeface="Calibri"/>
              </a:rPr>
              <a:t>liefert A_φ(r, z)</a:t>
            </a:r>
          </a:p>
        </p:txBody>
      </p:sp>
      <p:cxnSp>
        <p:nvCxnSpPr>
          <p:cNvPr id="10" name="Connector 9"/>
          <p:cNvCxnSpPr/>
          <p:nvPr/>
        </p:nvCxnSpPr>
        <p:spPr>
          <a:xfrm>
            <a:off x="1965960" y="2468880"/>
            <a:ext cx="0" cy="22860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697480"/>
            <a:ext cx="2834640" cy="868680"/>
          </a:xfrm>
          <a:prstGeom prst="roundRect">
            <a:avLst/>
          </a:prstGeom>
          <a:solidFill>
            <a:srgbClr val="F6D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2  Wärmequelle</a:t>
            </a:r>
          </a:p>
        </p:txBody>
      </p:sp>
      <p:sp>
        <p:nvSpPr>
          <p:cNvPr id="12" name="Rounded Rectangle 11"/>
          <p:cNvSpPr/>
          <p:nvPr/>
        </p:nvSpPr>
        <p:spPr>
          <a:xfrm>
            <a:off x="3520440" y="2697480"/>
            <a:ext cx="5760720" cy="86868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0" i="0">
                <a:solidFill>
                  <a:srgbClr val="222222"/>
                </a:solidFill>
                <a:latin typeface="Calibri"/>
              </a:rPr>
              <a:t>q = ½ · σ · ω² · |A|²     (Spule: P = ½ I²R)</a:t>
            </a:r>
          </a:p>
        </p:txBody>
      </p:sp>
      <p:sp>
        <p:nvSpPr>
          <p:cNvPr id="13" name="TextBox 12"/>
          <p:cNvSpPr txBox="1"/>
          <p:nvPr/>
        </p:nvSpPr>
        <p:spPr>
          <a:xfrm>
            <a:off x="9418320" y="2953512"/>
            <a:ext cx="2377440" cy="457200"/>
          </a:xfrm>
          <a:prstGeom prst="rect">
            <a:avLst/>
          </a:prstGeom>
          <a:noFill/>
        </p:spPr>
        <p:txBody>
          <a:bodyPr wrap="square" anchor="t" lIns="45720" rIns="45720" tIns="27432" bIns="27432">
            <a:spAutoFit/>
          </a:bodyPr>
          <a:lstStyle/>
          <a:p>
            <a:pPr algn="l">
              <a:spcAft>
                <a:spcPts val="600"/>
              </a:spcAft>
            </a:pPr>
            <a:r>
              <a:rPr sz="1400" b="0" i="0">
                <a:solidFill>
                  <a:srgbClr val="5F6670"/>
                </a:solidFill>
                <a:latin typeface="Calibri"/>
              </a:rPr>
              <a:t>liefert q(r, z), P je Bauteil</a:t>
            </a:r>
          </a:p>
        </p:txBody>
      </p:sp>
      <p:cxnSp>
        <p:nvCxnSpPr>
          <p:cNvPr id="14" name="Connector 13"/>
          <p:cNvCxnSpPr/>
          <p:nvPr/>
        </p:nvCxnSpPr>
        <p:spPr>
          <a:xfrm>
            <a:off x="1965960" y="3566160"/>
            <a:ext cx="0" cy="22860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794760"/>
            <a:ext cx="2834640" cy="868680"/>
          </a:xfrm>
          <a:prstGeom prst="roundRect">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3  Wärmeleitung</a:t>
            </a:r>
          </a:p>
        </p:txBody>
      </p:sp>
      <p:sp>
        <p:nvSpPr>
          <p:cNvPr id="16" name="Rounded Rectangle 15"/>
          <p:cNvSpPr/>
          <p:nvPr/>
        </p:nvSpPr>
        <p:spPr>
          <a:xfrm>
            <a:off x="3520440" y="3794760"/>
            <a:ext cx="5760720" cy="86868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0" i="0">
                <a:solidFill>
                  <a:srgbClr val="222222"/>
                </a:solidFill>
                <a:latin typeface="Calibri"/>
              </a:rPr>
              <a:t>ρc_p ∂T/∂t = ∇·(k∇T) + q ;   Rand: −k ∂T/∂n = h (T − T∞)</a:t>
            </a:r>
          </a:p>
        </p:txBody>
      </p:sp>
      <p:sp>
        <p:nvSpPr>
          <p:cNvPr id="17" name="TextBox 16"/>
          <p:cNvSpPr txBox="1"/>
          <p:nvPr/>
        </p:nvSpPr>
        <p:spPr>
          <a:xfrm>
            <a:off x="9418320" y="4050792"/>
            <a:ext cx="2377440" cy="457200"/>
          </a:xfrm>
          <a:prstGeom prst="rect">
            <a:avLst/>
          </a:prstGeom>
          <a:noFill/>
        </p:spPr>
        <p:txBody>
          <a:bodyPr wrap="square" anchor="t" lIns="45720" rIns="45720" tIns="27432" bIns="27432">
            <a:spAutoFit/>
          </a:bodyPr>
          <a:lstStyle/>
          <a:p>
            <a:pPr algn="l">
              <a:spcAft>
                <a:spcPts val="600"/>
              </a:spcAft>
            </a:pPr>
            <a:r>
              <a:rPr sz="1400" b="0" i="0">
                <a:solidFill>
                  <a:srgbClr val="5F6670"/>
                </a:solidFill>
                <a:latin typeface="Calibri"/>
              </a:rPr>
              <a:t>liefert T(r, z, t)</a:t>
            </a:r>
          </a:p>
        </p:txBody>
      </p:sp>
      <p:cxnSp>
        <p:nvCxnSpPr>
          <p:cNvPr id="18" name="Connector 17"/>
          <p:cNvCxnSpPr/>
          <p:nvPr/>
        </p:nvCxnSpPr>
        <p:spPr>
          <a:xfrm>
            <a:off x="1965960" y="4663440"/>
            <a:ext cx="0" cy="22860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4892040"/>
            <a:ext cx="2834640" cy="868680"/>
          </a:xfrm>
          <a:prstGeom prst="roundRect">
            <a:avLst/>
          </a:prstGeom>
          <a:solidFill>
            <a:srgbClr val="D9DB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4  Temperaturabhängigkeit</a:t>
            </a:r>
          </a:p>
        </p:txBody>
      </p:sp>
      <p:sp>
        <p:nvSpPr>
          <p:cNvPr id="20" name="Rounded Rectangle 19"/>
          <p:cNvSpPr/>
          <p:nvPr/>
        </p:nvSpPr>
        <p:spPr>
          <a:xfrm>
            <a:off x="3520440" y="4892040"/>
            <a:ext cx="5760720" cy="86868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0" i="0">
                <a:solidFill>
                  <a:srgbClr val="222222"/>
                </a:solidFill>
                <a:latin typeface="Calibri"/>
              </a:rPr>
              <a:t>σ(T) = σ₀ / (1 + α (T − T₀)),   α ≈ 3,9·10⁻³ 1/K</a:t>
            </a:r>
          </a:p>
        </p:txBody>
      </p:sp>
      <p:sp>
        <p:nvSpPr>
          <p:cNvPr id="21" name="TextBox 20"/>
          <p:cNvSpPr txBox="1"/>
          <p:nvPr/>
        </p:nvSpPr>
        <p:spPr>
          <a:xfrm>
            <a:off x="9418320" y="5148072"/>
            <a:ext cx="2377440" cy="457200"/>
          </a:xfrm>
          <a:prstGeom prst="rect">
            <a:avLst/>
          </a:prstGeom>
          <a:noFill/>
        </p:spPr>
        <p:txBody>
          <a:bodyPr wrap="square" anchor="t" lIns="45720" rIns="45720" tIns="27432" bIns="27432">
            <a:spAutoFit/>
          </a:bodyPr>
          <a:lstStyle/>
          <a:p>
            <a:pPr algn="l">
              <a:spcAft>
                <a:spcPts val="600"/>
              </a:spcAft>
            </a:pPr>
            <a:r>
              <a:rPr sz="1400" b="0" i="0">
                <a:solidFill>
                  <a:srgbClr val="5F6670"/>
                </a:solidFill>
                <a:latin typeface="Calibri"/>
              </a:rPr>
              <a:t>Korrekturfaktor</a:t>
            </a:r>
          </a:p>
        </p:txBody>
      </p:sp>
      <p:cxnSp>
        <p:nvCxnSpPr>
          <p:cNvPr id="22" name="Connector 21"/>
          <p:cNvCxnSpPr/>
          <p:nvPr/>
        </p:nvCxnSpPr>
        <p:spPr>
          <a:xfrm flipV="1">
            <a:off x="411480" y="2029967"/>
            <a:ext cx="0" cy="3291840"/>
          </a:xfrm>
          <a:prstGeom prst="line">
            <a:avLst/>
          </a:prstGeom>
          <a:ln w="19050">
            <a:solidFill>
              <a:srgbClr val="C8641E"/>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5989320"/>
            <a:ext cx="10972800" cy="365760"/>
          </a:xfrm>
          <a:prstGeom prst="rect">
            <a:avLst/>
          </a:prstGeom>
          <a:noFill/>
        </p:spPr>
        <p:txBody>
          <a:bodyPr wrap="square" anchor="t" lIns="45720" rIns="45720" tIns="27432" bIns="27432">
            <a:spAutoFit/>
          </a:bodyPr>
          <a:lstStyle/>
          <a:p>
            <a:pPr algn="l">
              <a:spcAft>
                <a:spcPts val="600"/>
              </a:spcAft>
            </a:pPr>
            <a:r>
              <a:rPr sz="1300" b="0" i="1">
                <a:solidFill>
                  <a:srgbClr val="5F6670"/>
                </a:solidFill>
                <a:latin typeface="Calibri"/>
              </a:rPr>
              <a:t>Rückkopplung 4 → 1 langsam (Minuten). Zu jeder Gleichung nennt der Bericht das Python-Modul.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METHODIK</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Methodik: zwei Stufen</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5</a:t>
            </a:r>
          </a:p>
        </p:txBody>
      </p:sp>
      <p:sp>
        <p:nvSpPr>
          <p:cNvPr id="7" name="Rounded Rectangle 6"/>
          <p:cNvSpPr/>
          <p:nvPr/>
        </p:nvSpPr>
        <p:spPr>
          <a:xfrm>
            <a:off x="548640" y="2103120"/>
            <a:ext cx="1874519" cy="1417320"/>
          </a:xfrm>
          <a:prstGeom prst="roundRect">
            <a:avLst/>
          </a:prstGeom>
          <a:solidFill>
            <a:srgbClr val="F2F4F7"/>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0" i="0">
                <a:solidFill>
                  <a:srgbClr val="222222"/>
                </a:solidFill>
                <a:latin typeface="Calibri"/>
              </a:rPr>
              <a:t>Gleichungen</a:t>
            </a:r>
          </a:p>
          <a:p>
            <a:pPr algn="ctr"/>
            <a:r>
              <a:rPr sz="1600" b="0" i="0">
                <a:solidFill>
                  <a:srgbClr val="222222"/>
                </a:solidFill>
                <a:latin typeface="Calibri"/>
              </a:rPr>
              <a:t>1 – 4</a:t>
            </a:r>
          </a:p>
        </p:txBody>
      </p:sp>
      <p:cxnSp>
        <p:nvCxnSpPr>
          <p:cNvPr id="8" name="Connector 7"/>
          <p:cNvCxnSpPr/>
          <p:nvPr/>
        </p:nvCxnSpPr>
        <p:spPr>
          <a:xfrm>
            <a:off x="2423160" y="2807208"/>
            <a:ext cx="41148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34640" y="2103120"/>
            <a:ext cx="1874519" cy="1417320"/>
          </a:xfrm>
          <a:prstGeom prst="roundRect">
            <a:avLst/>
          </a:prstGeom>
          <a:solidFill>
            <a:srgbClr val="D4EC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FEM</a:t>
            </a:r>
          </a:p>
          <a:p>
            <a:pPr algn="ctr"/>
            <a:r>
              <a:rPr sz="1600" b="0" i="0">
                <a:solidFill>
                  <a:srgbClr val="222222"/>
                </a:solidFill>
                <a:latin typeface="Calibri"/>
              </a:rPr>
              <a:t>genau, langsam</a:t>
            </a:r>
          </a:p>
          <a:p>
            <a:pPr algn="ctr"/>
            <a:r>
              <a:rPr sz="1600" b="0" i="0">
                <a:solidFill>
                  <a:srgbClr val="222222"/>
                </a:solidFill>
                <a:latin typeface="Calibri"/>
              </a:rPr>
              <a:t>einmal (≈ 1 s)</a:t>
            </a:r>
          </a:p>
        </p:txBody>
      </p:sp>
      <p:cxnSp>
        <p:nvCxnSpPr>
          <p:cNvPr id="10" name="Connector 9"/>
          <p:cNvCxnSpPr/>
          <p:nvPr/>
        </p:nvCxnSpPr>
        <p:spPr>
          <a:xfrm>
            <a:off x="4709160" y="2807208"/>
            <a:ext cx="41148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20640" y="2103120"/>
            <a:ext cx="1874519" cy="1417320"/>
          </a:xfrm>
          <a:prstGeom prst="roundRect">
            <a:avLst/>
          </a:prstGeom>
          <a:solidFill>
            <a:srgbClr val="FFF4CC"/>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MOR</a:t>
            </a:r>
          </a:p>
          <a:p>
            <a:pPr algn="ctr"/>
            <a:r>
              <a:rPr sz="1600" b="0" i="0">
                <a:solidFill>
                  <a:srgbClr val="222222"/>
                </a:solidFill>
                <a:latin typeface="Calibri"/>
              </a:rPr>
              <a:t>Reduktion</a:t>
            </a:r>
          </a:p>
          <a:p>
            <a:pPr algn="ctr"/>
            <a:r>
              <a:rPr sz="1600" b="0" i="0">
                <a:solidFill>
                  <a:srgbClr val="222222"/>
                </a:solidFill>
                <a:latin typeface="Calibri"/>
              </a:rPr>
              <a:t>A, B, C</a:t>
            </a:r>
          </a:p>
        </p:txBody>
      </p:sp>
      <p:cxnSp>
        <p:nvCxnSpPr>
          <p:cNvPr id="12" name="Connector 11"/>
          <p:cNvCxnSpPr/>
          <p:nvPr/>
        </p:nvCxnSpPr>
        <p:spPr>
          <a:xfrm>
            <a:off x="6995159" y="2807208"/>
            <a:ext cx="411481"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406640" y="2103120"/>
            <a:ext cx="1874519" cy="1417320"/>
          </a:xfrm>
          <a:prstGeom prst="roundRect">
            <a:avLst/>
          </a:prstGeom>
          <a:solidFill>
            <a:srgbClr val="DDF0E4"/>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ROM</a:t>
            </a:r>
          </a:p>
          <a:p>
            <a:pPr algn="ctr"/>
            <a:r>
              <a:rPr sz="1600" b="0" i="0">
                <a:solidFill>
                  <a:srgbClr val="222222"/>
                </a:solidFill>
                <a:latin typeface="Calibri"/>
              </a:rPr>
              <a:t>8 Zustände</a:t>
            </a:r>
          </a:p>
          <a:p>
            <a:pPr algn="ctr"/>
            <a:r>
              <a:rPr sz="1600" b="0" i="0">
                <a:solidFill>
                  <a:srgbClr val="222222"/>
                </a:solidFill>
                <a:latin typeface="Calibri"/>
              </a:rPr>
              <a:t>≈ 3 µs / Schritt</a:t>
            </a:r>
          </a:p>
        </p:txBody>
      </p:sp>
      <p:cxnSp>
        <p:nvCxnSpPr>
          <p:cNvPr id="14" name="Connector 13"/>
          <p:cNvCxnSpPr/>
          <p:nvPr/>
        </p:nvCxnSpPr>
        <p:spPr>
          <a:xfrm>
            <a:off x="9281159" y="2807208"/>
            <a:ext cx="411481"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692640" y="2103120"/>
            <a:ext cx="1874519" cy="1417320"/>
          </a:xfrm>
          <a:prstGeom prst="roundRect">
            <a:avLst/>
          </a:prstGeom>
          <a:solidFill>
            <a:srgbClr val="F2F4F7"/>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0" i="0">
                <a:solidFill>
                  <a:srgbClr val="222222"/>
                </a:solidFill>
                <a:latin typeface="Calibri"/>
              </a:rPr>
              <a:t>Temperatur,</a:t>
            </a:r>
          </a:p>
          <a:p>
            <a:pPr algn="ctr"/>
            <a:r>
              <a:rPr sz="1600" b="0" i="0">
                <a:solidFill>
                  <a:srgbClr val="222222"/>
                </a:solidFill>
                <a:latin typeface="Calibri"/>
              </a:rPr>
              <a:t>Schwebehöhe</a:t>
            </a:r>
          </a:p>
          <a:p>
            <a:pPr algn="ctr"/>
            <a:r>
              <a:rPr sz="1600" b="0" i="0">
                <a:solidFill>
                  <a:srgbClr val="222222"/>
                </a:solidFill>
                <a:latin typeface="Calibri"/>
              </a:rPr>
              <a:t>HTML-Ansicht</a:t>
            </a:r>
          </a:p>
        </p:txBody>
      </p:sp>
      <p:sp>
        <p:nvSpPr>
          <p:cNvPr id="16" name="Rectangle 15"/>
          <p:cNvSpPr/>
          <p:nvPr/>
        </p:nvSpPr>
        <p:spPr>
          <a:xfrm>
            <a:off x="548640" y="3703320"/>
            <a:ext cx="598932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94760"/>
            <a:ext cx="5989320" cy="365760"/>
          </a:xfrm>
          <a:prstGeom prst="rect">
            <a:avLst/>
          </a:prstGeom>
          <a:noFill/>
        </p:spPr>
        <p:txBody>
          <a:bodyPr wrap="square" anchor="t" lIns="45720" rIns="45720" tIns="27432" bIns="27432">
            <a:spAutoFit/>
          </a:bodyPr>
          <a:lstStyle/>
          <a:p>
            <a:pPr algn="ctr">
              <a:spcAft>
                <a:spcPts val="600"/>
              </a:spcAft>
            </a:pPr>
            <a:r>
              <a:rPr sz="1500" b="0" i="0">
                <a:solidFill>
                  <a:srgbClr val="1F3A5F"/>
                </a:solidFill>
                <a:latin typeface="Calibri"/>
              </a:rPr>
              <a:t>OFFLINE – einmal</a:t>
            </a:r>
          </a:p>
        </p:txBody>
      </p:sp>
      <p:sp>
        <p:nvSpPr>
          <p:cNvPr id="18" name="Rectangle 17"/>
          <p:cNvSpPr/>
          <p:nvPr/>
        </p:nvSpPr>
        <p:spPr>
          <a:xfrm>
            <a:off x="7406640" y="3703320"/>
            <a:ext cx="4160520" cy="64008"/>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3794760"/>
            <a:ext cx="4160520" cy="365760"/>
          </a:xfrm>
          <a:prstGeom prst="rect">
            <a:avLst/>
          </a:prstGeom>
          <a:noFill/>
        </p:spPr>
        <p:txBody>
          <a:bodyPr wrap="square" anchor="t" lIns="45720" rIns="45720" tIns="27432" bIns="27432">
            <a:spAutoFit/>
          </a:bodyPr>
          <a:lstStyle/>
          <a:p>
            <a:pPr algn="ctr">
              <a:spcAft>
                <a:spcPts val="600"/>
              </a:spcAft>
            </a:pPr>
            <a:r>
              <a:rPr sz="1500" b="0" i="0">
                <a:solidFill>
                  <a:srgbClr val="2E8B57"/>
                </a:solidFill>
                <a:latin typeface="Calibri"/>
              </a:rPr>
              <a:t>ONLINE – jeder Zeitschritt</a:t>
            </a:r>
          </a:p>
        </p:txBody>
      </p:sp>
      <p:sp>
        <p:nvSpPr>
          <p:cNvPr id="20" name="Rounded Rectangle 19"/>
          <p:cNvSpPr/>
          <p:nvPr/>
        </p:nvSpPr>
        <p:spPr>
          <a:xfrm>
            <a:off x="2194560" y="4617720"/>
            <a:ext cx="7772400" cy="1097280"/>
          </a:xfrm>
          <a:prstGeom prst="roundRect">
            <a:avLst/>
          </a:prstGeom>
          <a:solidFill>
            <a:srgbClr val="FFFFFF"/>
          </a:solidFill>
          <a:ln w="254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i="0">
                <a:solidFill>
                  <a:srgbClr val="222222"/>
                </a:solidFill>
                <a:latin typeface="Calibri"/>
              </a:rPr>
              <a:t>MOR</a:t>
            </a:r>
            <a:r>
              <a:rPr sz="1700" b="0" i="0">
                <a:solidFill>
                  <a:srgbClr val="222222"/>
                </a:solidFill>
                <a:latin typeface="Calibri"/>
              </a:rPr>
              <a:t> (Model Order Reduction, Modellordnungsreduktion) = das </a:t>
            </a:r>
            <a:r>
              <a:rPr sz="1700" b="1" i="0">
                <a:solidFill>
                  <a:srgbClr val="222222"/>
                </a:solidFill>
                <a:latin typeface="Calibri"/>
              </a:rPr>
              <a:t>Verfahren</a:t>
            </a:r>
          </a:p>
          <a:p>
            <a:pPr algn="ctr"/>
            <a:r>
              <a:rPr sz="1700" b="1" i="0">
                <a:solidFill>
                  <a:srgbClr val="222222"/>
                </a:solidFill>
                <a:latin typeface="Calibri"/>
              </a:rPr>
              <a:t>ROM</a:t>
            </a:r>
            <a:r>
              <a:rPr sz="1700" b="0" i="0">
                <a:solidFill>
                  <a:srgbClr val="222222"/>
                </a:solidFill>
                <a:latin typeface="Calibri"/>
              </a:rPr>
              <a:t> (Reduced-Order Model, reduziertes Modell) = sein </a:t>
            </a:r>
            <a:r>
              <a:rPr sz="1700" b="1" i="0">
                <a:solidFill>
                  <a:srgbClr val="222222"/>
                </a:solidFill>
                <a:latin typeface="Calibri"/>
              </a:rPr>
              <a:t>Ergebnis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METHODIK</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Finite-Elemente-Methode (offline)</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6</a:t>
            </a:r>
          </a:p>
        </p:txBody>
      </p:sp>
      <p:sp>
        <p:nvSpPr>
          <p:cNvPr id="7" name="TextBox 6"/>
          <p:cNvSpPr txBox="1"/>
          <p:nvPr/>
        </p:nvSpPr>
        <p:spPr>
          <a:xfrm>
            <a:off x="548640" y="1554480"/>
            <a:ext cx="5943600" cy="4572000"/>
          </a:xfrm>
          <a:prstGeom prst="rect">
            <a:avLst/>
          </a:prstGeom>
          <a:noFill/>
        </p:spPr>
        <p:txBody>
          <a:bodyPr wrap="square" anchor="t" lIns="45720" rIns="45720" tIns="27432" bIns="27432">
            <a:spAutoFit/>
          </a:bodyPr>
          <a:lstStyle/>
          <a:p>
            <a:pPr algn="l">
              <a:spcAft>
                <a:spcPts val="600"/>
              </a:spcAft>
            </a:pPr>
            <a:r>
              <a:rPr sz="1900" b="1" i="0">
                <a:solidFill>
                  <a:srgbClr val="1F3A5F"/>
                </a:solidFill>
                <a:latin typeface="Calibri"/>
              </a:rPr>
              <a:t>Diskretisierung</a:t>
            </a:r>
          </a:p>
          <a:p>
            <a:pPr algn="l">
              <a:spcAft>
                <a:spcPts val="600"/>
              </a:spcAft>
            </a:pPr>
            <a:r>
              <a:rPr sz="1700" b="0" i="0">
                <a:solidFill>
                  <a:srgbClr val="222222"/>
                </a:solidFill>
                <a:latin typeface="Calibri"/>
              </a:rPr>
              <a:t>• Ebene (r, z) in Dreiecke zerlegt, lineare Ansatzfunktionen</a:t>
            </a:r>
          </a:p>
          <a:p>
            <a:pPr algn="l">
              <a:spcAft>
                <a:spcPts val="600"/>
              </a:spcAft>
            </a:pPr>
            <a:r>
              <a:rPr sz="1700" b="0" i="0">
                <a:solidFill>
                  <a:srgbClr val="222222"/>
                </a:solidFill>
                <a:latin typeface="Calibri"/>
              </a:rPr>
              <a:t>• Schwache Form = Wärmebilanz um jeden Knoten, Faktor 2πr für die Drehung</a:t>
            </a:r>
          </a:p>
          <a:p>
            <a:pPr algn="l">
              <a:spcAft>
                <a:spcPts val="1400"/>
              </a:spcAft>
            </a:pPr>
            <a:r>
              <a:rPr sz="1700" b="0" i="0">
                <a:solidFill>
                  <a:srgbClr val="222222"/>
                </a:solidFill>
                <a:latin typeface="Calibri"/>
              </a:rPr>
              <a:t>• Ergebnis: dünn besetztes System  </a:t>
            </a:r>
            <a:r>
              <a:rPr sz="1700" b="1" i="0">
                <a:solidFill>
                  <a:srgbClr val="222222"/>
                </a:solidFill>
                <a:latin typeface="Calibri"/>
              </a:rPr>
              <a:t>K·T = f</a:t>
            </a:r>
            <a:r>
              <a:rPr sz="1700" b="0" i="0">
                <a:solidFill>
                  <a:srgbClr val="222222"/>
                </a:solidFill>
                <a:latin typeface="Calibri"/>
              </a:rPr>
              <a:t>  → scipy.sparse.linalg.spsolve</a:t>
            </a:r>
          </a:p>
          <a:p>
            <a:pPr algn="l">
              <a:spcAft>
                <a:spcPts val="600"/>
              </a:spcAft>
            </a:pPr>
            <a:r>
              <a:rPr sz="1900" b="1" i="0">
                <a:solidFill>
                  <a:srgbClr val="1F3A5F"/>
                </a:solidFill>
                <a:latin typeface="Calibri"/>
              </a:rPr>
              <a:t>Warum das Problem klein bleibt</a:t>
            </a:r>
          </a:p>
          <a:p>
            <a:pPr algn="l">
              <a:spcAft>
                <a:spcPts val="600"/>
              </a:spcAft>
            </a:pPr>
            <a:r>
              <a:rPr sz="1700" b="0" i="0">
                <a:solidFill>
                  <a:srgbClr val="222222"/>
                </a:solidFill>
                <a:latin typeface="Calibri"/>
              </a:rPr>
              <a:t>• Phasor statt 50-Hz-Zeitschritten: Wärme spürt nur den Mittelwert</a:t>
            </a:r>
          </a:p>
          <a:p>
            <a:pPr algn="l">
              <a:spcAft>
                <a:spcPts val="600"/>
              </a:spcAft>
            </a:pPr>
            <a:r>
              <a:rPr sz="1700" b="0" i="0">
                <a:solidFill>
                  <a:srgbClr val="222222"/>
                </a:solidFill>
                <a:latin typeface="Calibri"/>
              </a:rPr>
              <a:t>• Eindringtiefe in Al ≈ 12 mm ≫ Scheibendicke 3 mm → grobes Netz in Dickenrichtung</a:t>
            </a:r>
          </a:p>
        </p:txBody>
      </p:sp>
      <p:sp>
        <p:nvSpPr>
          <p:cNvPr id="8" name="Rounded Rectangle 7"/>
          <p:cNvSpPr/>
          <p:nvPr/>
        </p:nvSpPr>
        <p:spPr>
          <a:xfrm>
            <a:off x="6858000" y="1600200"/>
            <a:ext cx="4754880" cy="1325880"/>
          </a:xfrm>
          <a:prstGeom prst="roundRect">
            <a:avLst/>
          </a:prstGeom>
          <a:solidFill>
            <a:srgbClr val="D4EC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222222"/>
                </a:solidFill>
                <a:latin typeface="Calibri"/>
              </a:rPr>
              <a:t>≈ 8 700</a:t>
            </a:r>
            <a:r>
              <a:rPr sz="1800" b="0" i="0">
                <a:solidFill>
                  <a:srgbClr val="222222"/>
                </a:solidFill>
                <a:latin typeface="Calibri"/>
              </a:rPr>
              <a:t> komplexe Unbekannte (Feld)</a:t>
            </a:r>
          </a:p>
          <a:p>
            <a:pPr algn="ctr"/>
            <a:r>
              <a:rPr sz="1800" b="1" i="0">
                <a:solidFill>
                  <a:srgbClr val="222222"/>
                </a:solidFill>
                <a:latin typeface="Calibri"/>
              </a:rPr>
              <a:t>≈ 700</a:t>
            </a:r>
            <a:r>
              <a:rPr sz="1800" b="0" i="0">
                <a:solidFill>
                  <a:srgbClr val="222222"/>
                </a:solidFill>
                <a:latin typeface="Calibri"/>
              </a:rPr>
              <a:t> Unbekannte (Wärme, Scheibe)</a:t>
            </a:r>
          </a:p>
        </p:txBody>
      </p:sp>
      <p:sp>
        <p:nvSpPr>
          <p:cNvPr id="9" name="Rounded Rectangle 8"/>
          <p:cNvSpPr/>
          <p:nvPr/>
        </p:nvSpPr>
        <p:spPr>
          <a:xfrm>
            <a:off x="6858000" y="3154680"/>
            <a:ext cx="4754880" cy="54864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FFFFFF"/>
                </a:solidFill>
                <a:latin typeface="Calibri"/>
              </a:rPr>
              <a:t>Plausibilitätsprüfung bei jedem Lauf</a:t>
            </a:r>
          </a:p>
        </p:txBody>
      </p:sp>
      <p:sp>
        <p:nvSpPr>
          <p:cNvPr id="10" name="Oval 9"/>
          <p:cNvSpPr/>
          <p:nvPr/>
        </p:nvSpPr>
        <p:spPr>
          <a:xfrm>
            <a:off x="6858000" y="384048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a:t>
            </a:r>
          </a:p>
        </p:txBody>
      </p:sp>
      <p:sp>
        <p:nvSpPr>
          <p:cNvPr id="11" name="TextBox 10"/>
          <p:cNvSpPr txBox="1"/>
          <p:nvPr/>
        </p:nvSpPr>
        <p:spPr>
          <a:xfrm>
            <a:off x="7498079" y="3794760"/>
            <a:ext cx="4206240" cy="731520"/>
          </a:xfrm>
          <a:prstGeom prst="rect">
            <a:avLst/>
          </a:prstGeom>
          <a:noFill/>
        </p:spPr>
        <p:txBody>
          <a:bodyPr wrap="square" anchor="t" lIns="45720" rIns="45720" tIns="27432" bIns="27432">
            <a:spAutoFit/>
          </a:bodyPr>
          <a:lstStyle/>
          <a:p>
            <a:pPr algn="l">
              <a:spcAft>
                <a:spcPts val="0"/>
              </a:spcAft>
            </a:pPr>
            <a:r>
              <a:rPr sz="1500" b="1" i="0">
                <a:solidFill>
                  <a:srgbClr val="222222"/>
                </a:solidFill>
                <a:latin typeface="Calibri"/>
              </a:rPr>
              <a:t>Energiebilanz</a:t>
            </a:r>
          </a:p>
          <a:p>
            <a:pPr algn="l">
              <a:spcAft>
                <a:spcPts val="0"/>
              </a:spcAft>
            </a:pPr>
            <a:r>
              <a:rPr sz="1300" b="0" i="0">
                <a:solidFill>
                  <a:srgbClr val="5F6670"/>
                </a:solidFill>
                <a:latin typeface="Calibri"/>
              </a:rPr>
              <a:t>erzeugt = abgegeben (25,81388 W = 25,81388 W)</a:t>
            </a:r>
          </a:p>
        </p:txBody>
      </p:sp>
      <p:sp>
        <p:nvSpPr>
          <p:cNvPr id="12" name="Oval 11"/>
          <p:cNvSpPr/>
          <p:nvPr/>
        </p:nvSpPr>
        <p:spPr>
          <a:xfrm>
            <a:off x="6858000" y="461772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a:t>
            </a:r>
          </a:p>
        </p:txBody>
      </p:sp>
      <p:sp>
        <p:nvSpPr>
          <p:cNvPr id="13" name="TextBox 12"/>
          <p:cNvSpPr txBox="1"/>
          <p:nvPr/>
        </p:nvSpPr>
        <p:spPr>
          <a:xfrm>
            <a:off x="7498079" y="4572000"/>
            <a:ext cx="4206240" cy="731520"/>
          </a:xfrm>
          <a:prstGeom prst="rect">
            <a:avLst/>
          </a:prstGeom>
          <a:noFill/>
        </p:spPr>
        <p:txBody>
          <a:bodyPr wrap="square" anchor="t" lIns="45720" rIns="45720" tIns="27432" bIns="27432">
            <a:spAutoFit/>
          </a:bodyPr>
          <a:lstStyle/>
          <a:p>
            <a:pPr algn="l">
              <a:spcAft>
                <a:spcPts val="0"/>
              </a:spcAft>
            </a:pPr>
            <a:r>
              <a:rPr sz="1500" b="1" i="0">
                <a:solidFill>
                  <a:srgbClr val="222222"/>
                </a:solidFill>
                <a:latin typeface="Calibri"/>
              </a:rPr>
              <a:t>Gebietsgröße</a:t>
            </a:r>
          </a:p>
          <a:p>
            <a:pPr algn="l">
              <a:spcAft>
                <a:spcPts val="0"/>
              </a:spcAft>
            </a:pPr>
            <a:r>
              <a:rPr sz="1300" b="0" i="0">
                <a:solidFill>
                  <a:srgbClr val="5F6670"/>
                </a:solidFill>
                <a:latin typeface="Calibri"/>
              </a:rPr>
              <a:t>Dirichlet- vs. Neumann-Rand: Abweichung &lt; 1 %</a:t>
            </a:r>
          </a:p>
        </p:txBody>
      </p:sp>
      <p:sp>
        <p:nvSpPr>
          <p:cNvPr id="14" name="Oval 13"/>
          <p:cNvSpPr/>
          <p:nvPr/>
        </p:nvSpPr>
        <p:spPr>
          <a:xfrm>
            <a:off x="6858000" y="539496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a:t>
            </a:r>
          </a:p>
        </p:txBody>
      </p:sp>
      <p:sp>
        <p:nvSpPr>
          <p:cNvPr id="15" name="TextBox 14"/>
          <p:cNvSpPr txBox="1"/>
          <p:nvPr/>
        </p:nvSpPr>
        <p:spPr>
          <a:xfrm>
            <a:off x="7498079" y="5349240"/>
            <a:ext cx="4206240" cy="731520"/>
          </a:xfrm>
          <a:prstGeom prst="rect">
            <a:avLst/>
          </a:prstGeom>
          <a:noFill/>
        </p:spPr>
        <p:txBody>
          <a:bodyPr wrap="square" anchor="t" lIns="45720" rIns="45720" tIns="27432" bIns="27432">
            <a:spAutoFit/>
          </a:bodyPr>
          <a:lstStyle/>
          <a:p>
            <a:pPr algn="l">
              <a:spcAft>
                <a:spcPts val="0"/>
              </a:spcAft>
            </a:pPr>
            <a:r>
              <a:rPr sz="1500" b="1" i="0">
                <a:solidFill>
                  <a:srgbClr val="222222"/>
                </a:solidFill>
                <a:latin typeface="Calibri"/>
              </a:rPr>
              <a:t>Linearität</a:t>
            </a:r>
          </a:p>
          <a:p>
            <a:pPr algn="l">
              <a:spcAft>
                <a:spcPts val="0"/>
              </a:spcAft>
            </a:pPr>
            <a:r>
              <a:rPr sz="1300" b="0" i="0">
                <a:solidFill>
                  <a:srgbClr val="5F6670"/>
                </a:solidFill>
                <a:latin typeface="Calibri"/>
              </a:rPr>
              <a:t>doppelter Strom → vierfache Verluste (4,000)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METHODIK</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MOR: Grundidee und Reduktion A</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7</a:t>
            </a:r>
          </a:p>
        </p:txBody>
      </p:sp>
      <p:sp>
        <p:nvSpPr>
          <p:cNvPr id="7" name="Rounded Rectangle 6"/>
          <p:cNvSpPr/>
          <p:nvPr/>
        </p:nvSpPr>
        <p:spPr>
          <a:xfrm>
            <a:off x="548640" y="1600200"/>
            <a:ext cx="5394960" cy="1234440"/>
          </a:xfrm>
          <a:prstGeom prst="roundRect">
            <a:avLst/>
          </a:prstGeom>
          <a:solidFill>
            <a:srgbClr val="FFF4CC"/>
          </a:solidFill>
          <a:ln w="15875">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222222"/>
                </a:solidFill>
                <a:latin typeface="Calibri"/>
              </a:rPr>
              <a:t>Analogie:</a:t>
            </a:r>
            <a:r>
              <a:rPr sz="1600" b="0" i="0">
                <a:solidFill>
                  <a:srgbClr val="222222"/>
                </a:solidFill>
                <a:latin typeface="Calibri"/>
              </a:rPr>
              <a:t> ein Foto, das nur heller oder dunkler wird.</a:t>
            </a:r>
          </a:p>
          <a:p>
            <a:pPr algn="ctr"/>
            <a:r>
              <a:rPr sz="1600" b="0" i="0">
                <a:solidFill>
                  <a:srgbClr val="222222"/>
                </a:solidFill>
                <a:latin typeface="Calibri"/>
              </a:rPr>
              <a:t>Bild einmal speichern – pro Moment nur einen Helligkeitsfaktor merken.</a:t>
            </a:r>
          </a:p>
        </p:txBody>
      </p:sp>
      <p:sp>
        <p:nvSpPr>
          <p:cNvPr id="8" name="TextBox 7"/>
          <p:cNvSpPr txBox="1"/>
          <p:nvPr/>
        </p:nvSpPr>
        <p:spPr>
          <a:xfrm>
            <a:off x="548640" y="3017520"/>
            <a:ext cx="5394960" cy="2560320"/>
          </a:xfrm>
          <a:prstGeom prst="rect">
            <a:avLst/>
          </a:prstGeom>
          <a:noFill/>
        </p:spPr>
        <p:txBody>
          <a:bodyPr wrap="square" anchor="t" lIns="45720" rIns="45720" tIns="27432" bIns="27432">
            <a:spAutoFit/>
          </a:bodyPr>
          <a:lstStyle/>
          <a:p>
            <a:pPr algn="l">
              <a:spcAft>
                <a:spcPts val="600"/>
              </a:spcAft>
            </a:pPr>
            <a:r>
              <a:rPr sz="1700" b="0" i="0">
                <a:solidFill>
                  <a:srgbClr val="222222"/>
                </a:solidFill>
                <a:latin typeface="Calibri"/>
              </a:rPr>
              <a:t>Beim Aufheizen ändert sich vor allem, </a:t>
            </a:r>
            <a:r>
              <a:rPr sz="1700" b="1" i="0">
                <a:solidFill>
                  <a:srgbClr val="222222"/>
                </a:solidFill>
                <a:latin typeface="Calibri"/>
              </a:rPr>
              <a:t>wie warm</a:t>
            </a:r>
            <a:r>
              <a:rPr sz="1700" b="0" i="0">
                <a:solidFill>
                  <a:srgbClr val="222222"/>
                </a:solidFill>
                <a:latin typeface="Calibri"/>
              </a:rPr>
              <a:t> die Scheibe ist – kaum, </a:t>
            </a:r>
            <a:r>
              <a:rPr sz="1700" b="1" i="0">
                <a:solidFill>
                  <a:srgbClr val="222222"/>
                </a:solidFill>
                <a:latin typeface="Calibri"/>
              </a:rPr>
              <a:t>wo</a:t>
            </a:r>
            <a:r>
              <a:rPr sz="1700" b="0" i="0">
                <a:solidFill>
                  <a:srgbClr val="222222"/>
                </a:solidFill>
                <a:latin typeface="Calibri"/>
              </a:rPr>
              <a:t> sie wärmer ist.</a:t>
            </a:r>
          </a:p>
          <a:p>
            <a:pPr algn="l">
              <a:spcAft>
                <a:spcPts val="600"/>
              </a:spcAft>
            </a:pPr>
            <a:r>
              <a:rPr sz="1700" b="0" i="0">
                <a:solidFill>
                  <a:srgbClr val="222222"/>
                </a:solidFill>
                <a:latin typeface="Calibri"/>
              </a:rPr>
              <a:t>Feld = wenige feste Formen × zeitabhängige Gewichte:</a:t>
            </a:r>
          </a:p>
        </p:txBody>
      </p:sp>
      <p:sp>
        <p:nvSpPr>
          <p:cNvPr id="9" name="Rounded Rectangle 8"/>
          <p:cNvSpPr/>
          <p:nvPr/>
        </p:nvSpPr>
        <p:spPr>
          <a:xfrm>
            <a:off x="548640" y="4663440"/>
            <a:ext cx="5394960" cy="77724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0" i="0">
                <a:solidFill>
                  <a:srgbClr val="222222"/>
                </a:solidFill>
                <a:latin typeface="Calibri"/>
              </a:rPr>
              <a:t>T(t) ≈ T∞ + Σₖ βₖ(t) · vₖ ,     r ≪ N</a:t>
            </a:r>
          </a:p>
        </p:txBody>
      </p:sp>
      <p:sp>
        <p:nvSpPr>
          <p:cNvPr id="10" name="Rounded Rectangle 9"/>
          <p:cNvSpPr/>
          <p:nvPr/>
        </p:nvSpPr>
        <p:spPr>
          <a:xfrm>
            <a:off x="6400800" y="1600200"/>
            <a:ext cx="5212080" cy="54864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i="0">
                <a:solidFill>
                  <a:srgbClr val="FFFFFF"/>
                </a:solidFill>
                <a:latin typeface="Calibri"/>
              </a:rPr>
              <a:t>Reduktion A: Strom-Skalierung</a:t>
            </a:r>
          </a:p>
        </p:txBody>
      </p:sp>
      <p:sp>
        <p:nvSpPr>
          <p:cNvPr id="11" name="TextBox 10"/>
          <p:cNvSpPr txBox="1"/>
          <p:nvPr/>
        </p:nvSpPr>
        <p:spPr>
          <a:xfrm>
            <a:off x="6400800" y="2286000"/>
            <a:ext cx="5212080" cy="2011680"/>
          </a:xfrm>
          <a:prstGeom prst="rect">
            <a:avLst/>
          </a:prstGeom>
          <a:noFill/>
        </p:spPr>
        <p:txBody>
          <a:bodyPr wrap="square" anchor="t" lIns="45720" rIns="45720" tIns="27432" bIns="27432">
            <a:spAutoFit/>
          </a:bodyPr>
          <a:lstStyle/>
          <a:p>
            <a:pPr algn="l">
              <a:spcAft>
                <a:spcPts val="600"/>
              </a:spcAft>
            </a:pPr>
            <a:r>
              <a:rPr sz="1600" b="0" i="0">
                <a:solidFill>
                  <a:srgbClr val="222222"/>
                </a:solidFill>
                <a:latin typeface="Calibri"/>
              </a:rPr>
              <a:t>• Feldgleichung ist </a:t>
            </a:r>
            <a:r>
              <a:rPr sz="1600" b="1" i="0">
                <a:solidFill>
                  <a:srgbClr val="222222"/>
                </a:solidFill>
                <a:latin typeface="Calibri"/>
              </a:rPr>
              <a:t>linear</a:t>
            </a:r>
            <a:r>
              <a:rPr sz="1600" b="0" i="0">
                <a:solidFill>
                  <a:srgbClr val="222222"/>
                </a:solidFill>
                <a:latin typeface="Calibri"/>
              </a:rPr>
              <a:t>: doppelter Strom → doppeltes Feld → vierfache Wärmequelle, an jedem Ort gleich</a:t>
            </a:r>
          </a:p>
          <a:p>
            <a:pPr algn="l">
              <a:spcAft>
                <a:spcPts val="600"/>
              </a:spcAft>
            </a:pPr>
            <a:r>
              <a:rPr sz="1600" b="0" i="0">
                <a:solidFill>
                  <a:srgbClr val="222222"/>
                </a:solidFill>
                <a:latin typeface="Calibri"/>
              </a:rPr>
              <a:t>• Feld-FEM </a:t>
            </a:r>
            <a:r>
              <a:rPr sz="1600" b="1" i="0">
                <a:solidFill>
                  <a:srgbClr val="222222"/>
                </a:solidFill>
                <a:latin typeface="Calibri"/>
              </a:rPr>
              <a:t>einmal</a:t>
            </a:r>
            <a:r>
              <a:rPr sz="1600" b="0" i="0">
                <a:solidFill>
                  <a:srgbClr val="222222"/>
                </a:solidFill>
                <a:latin typeface="Calibri"/>
              </a:rPr>
              <a:t> bei I_ref = 5 A lösen</a:t>
            </a:r>
          </a:p>
        </p:txBody>
      </p:sp>
      <p:sp>
        <p:nvSpPr>
          <p:cNvPr id="12" name="Rounded Rectangle 11"/>
          <p:cNvSpPr/>
          <p:nvPr/>
        </p:nvSpPr>
        <p:spPr>
          <a:xfrm>
            <a:off x="6400800" y="4069080"/>
            <a:ext cx="5212080" cy="91440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900" b="0" i="0">
                <a:solidFill>
                  <a:srgbClr val="222222"/>
                </a:solidFill>
                <a:latin typeface="Calibri"/>
              </a:rPr>
              <a:t>q(I, T) = q̂(r, z) · (I / I_ref)² · σ(T) / σ(T_ref)</a:t>
            </a:r>
          </a:p>
        </p:txBody>
      </p:sp>
      <p:sp>
        <p:nvSpPr>
          <p:cNvPr id="13" name="TextBox 12"/>
          <p:cNvSpPr txBox="1"/>
          <p:nvPr/>
        </p:nvSpPr>
        <p:spPr>
          <a:xfrm>
            <a:off x="6400800" y="5120640"/>
            <a:ext cx="5212080" cy="914400"/>
          </a:xfrm>
          <a:prstGeom prst="rect">
            <a:avLst/>
          </a:prstGeom>
          <a:noFill/>
        </p:spPr>
        <p:txBody>
          <a:bodyPr wrap="square" anchor="t" lIns="45720" rIns="45720" tIns="27432" bIns="27432">
            <a:spAutoFit/>
          </a:bodyPr>
          <a:lstStyle/>
          <a:p>
            <a:pPr algn="l">
              <a:spcAft>
                <a:spcPts val="600"/>
              </a:spcAft>
            </a:pPr>
            <a:r>
              <a:rPr sz="1700" b="0" i="0">
                <a:solidFill>
                  <a:srgbClr val="2E8B57"/>
                </a:solidFill>
                <a:latin typeface="Calibri"/>
              </a:rPr>
              <a:t>8 700 Unbekannte → </a:t>
            </a:r>
            <a:r>
              <a:rPr sz="1700" b="1" i="0">
                <a:solidFill>
                  <a:srgbClr val="2E8B57"/>
                </a:solidFill>
                <a:latin typeface="Calibri"/>
              </a:rPr>
              <a:t>1 Multiplikation</a:t>
            </a:r>
          </a:p>
          <a:p>
            <a:pPr algn="l">
              <a:spcAft>
                <a:spcPts val="600"/>
              </a:spcAft>
            </a:pPr>
            <a:r>
              <a:rPr sz="1400" b="0" i="0">
                <a:solidFill>
                  <a:srgbClr val="5F6670"/>
                </a:solidFill>
                <a:latin typeface="Calibri"/>
              </a:rPr>
              <a:t>Grenze: magnetische Sättigung des Eisens (am Betriebspunkt erfüllt)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METHODIK</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Reduktion B: eine Temperaturform für die Scheibe</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8</a:t>
            </a:r>
          </a:p>
        </p:txBody>
      </p:sp>
      <p:sp>
        <p:nvSpPr>
          <p:cNvPr id="7" name="Rounded Rectangle 6"/>
          <p:cNvSpPr/>
          <p:nvPr/>
        </p:nvSpPr>
        <p:spPr>
          <a:xfrm>
            <a:off x="548640" y="1508760"/>
            <a:ext cx="11064240" cy="68580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900" b="0" i="0">
                <a:solidFill>
                  <a:srgbClr val="222222"/>
                </a:solidFill>
                <a:latin typeface="Calibri"/>
              </a:rPr>
              <a:t>τ · dβ/dt = (I / I_ref)² · s − β ,        T(r, z, t) = T∞ + β(t) · ΔT_ref(r, z)</a:t>
            </a:r>
          </a:p>
        </p:txBody>
      </p:sp>
      <p:graphicFrame>
        <p:nvGraphicFramePr>
          <p:cNvPr id="8" name="Chart 7"/>
          <p:cNvGraphicFramePr>
            <a:graphicFrameLocks noGrp="1"/>
          </p:cNvGraphicFramePr>
          <p:nvPr/>
        </p:nvGraphicFramePr>
        <p:xfrm>
          <a:off x="548640" y="2377440"/>
          <a:ext cx="5120640" cy="3566160"/>
        </p:xfrm>
        <a:graphic>
          <a:graphicData uri="http://schemas.openxmlformats.org/drawingml/2006/chart">
            <c:chart xmlns:c="http://schemas.openxmlformats.org/drawingml/2006/chart" r:id="rId2"/>
          </a:graphicData>
        </a:graphic>
      </p:graphicFrame>
      <p:sp>
        <p:nvSpPr>
          <p:cNvPr id="9" name="TextBox 8"/>
          <p:cNvSpPr txBox="1"/>
          <p:nvPr/>
        </p:nvSpPr>
        <p:spPr>
          <a:xfrm>
            <a:off x="548640" y="5897880"/>
            <a:ext cx="5120640" cy="457200"/>
          </a:xfrm>
          <a:prstGeom prst="rect">
            <a:avLst/>
          </a:prstGeom>
          <a:noFill/>
        </p:spPr>
        <p:txBody>
          <a:bodyPr wrap="square" anchor="t" lIns="45720" rIns="45720" tIns="27432" bIns="27432">
            <a:spAutoFit/>
          </a:bodyPr>
          <a:lstStyle/>
          <a:p>
            <a:pPr algn="l">
              <a:spcAft>
                <a:spcPts val="600"/>
              </a:spcAft>
            </a:pPr>
            <a:r>
              <a:rPr sz="1400" b="0" i="0">
                <a:solidFill>
                  <a:srgbClr val="1F3A5F"/>
                </a:solidFill>
                <a:latin typeface="Calibri"/>
              </a:rPr>
              <a:t>τ₁ / τ₂ = 204 s / 4,4 s ≈ 47 → nach Sekunden bleibt nur Form 1</a:t>
            </a:r>
          </a:p>
        </p:txBody>
      </p:sp>
      <p:graphicFrame>
        <p:nvGraphicFramePr>
          <p:cNvPr id="10" name="Chart 9"/>
          <p:cNvGraphicFramePr>
            <a:graphicFrameLocks noGrp="1"/>
          </p:cNvGraphicFramePr>
          <p:nvPr/>
        </p:nvGraphicFramePr>
        <p:xfrm>
          <a:off x="5943600" y="2377440"/>
          <a:ext cx="5669280" cy="3566160"/>
        </p:xfrm>
        <a:graphic>
          <a:graphicData uri="http://schemas.openxmlformats.org/drawingml/2006/chart">
            <c:chart xmlns:c="http://schemas.openxmlformats.org/drawingml/2006/chart" r:id="rId3"/>
          </a:graphicData>
        </a:graphic>
      </p:graphicFrame>
      <p:sp>
        <p:nvSpPr>
          <p:cNvPr id="11" name="TextBox 10"/>
          <p:cNvSpPr txBox="1"/>
          <p:nvPr/>
        </p:nvSpPr>
        <p:spPr>
          <a:xfrm>
            <a:off x="5943600" y="5897880"/>
            <a:ext cx="5669280" cy="457200"/>
          </a:xfrm>
          <a:prstGeom prst="rect">
            <a:avLst/>
          </a:prstGeom>
          <a:noFill/>
        </p:spPr>
        <p:txBody>
          <a:bodyPr wrap="square" anchor="t" lIns="45720" rIns="45720" tIns="27432" bIns="27432">
            <a:spAutoFit/>
          </a:bodyPr>
          <a:lstStyle/>
          <a:p>
            <a:pPr algn="l">
              <a:spcAft>
                <a:spcPts val="600"/>
              </a:spcAft>
            </a:pPr>
            <a:r>
              <a:rPr sz="1400" b="0" i="0">
                <a:solidFill>
                  <a:srgbClr val="1F3A5F"/>
                </a:solidFill>
                <a:latin typeface="Calibri"/>
              </a:rPr>
              <a:t>max. Fehler: 0,36 K (τ₁) · 3,0 K beim Aufheizen, 0 im Endwert (τ = C/UA = 244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METHODIK</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Reduktion C: RC-Netzwerk und Kalibrierung</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9</a:t>
            </a:r>
          </a:p>
        </p:txBody>
      </p:sp>
      <p:sp>
        <p:nvSpPr>
          <p:cNvPr id="7" name="Oval 6"/>
          <p:cNvSpPr/>
          <p:nvPr/>
        </p:nvSpPr>
        <p:spPr>
          <a:xfrm>
            <a:off x="438912" y="2633472"/>
            <a:ext cx="768096" cy="768096"/>
          </a:xfrm>
          <a:prstGeom prst="ellipse">
            <a:avLst/>
          </a:prstGeom>
          <a:solidFill>
            <a:srgbClr val="F6D9C2"/>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222222"/>
                </a:solidFill>
                <a:latin typeface="Calibri"/>
              </a:rPr>
              <a:t>iW</a:t>
            </a:r>
          </a:p>
        </p:txBody>
      </p:sp>
      <p:sp>
        <p:nvSpPr>
          <p:cNvPr id="8" name="Oval 7"/>
          <p:cNvSpPr/>
          <p:nvPr/>
        </p:nvSpPr>
        <p:spPr>
          <a:xfrm>
            <a:off x="1810512" y="2633472"/>
            <a:ext cx="768096" cy="768096"/>
          </a:xfrm>
          <a:prstGeom prst="ellipse">
            <a:avLst/>
          </a:prstGeom>
          <a:solidFill>
            <a:srgbClr val="F6D9C2"/>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222222"/>
                </a:solidFill>
                <a:latin typeface="Calibri"/>
              </a:rPr>
              <a:t>iO</a:t>
            </a:r>
          </a:p>
        </p:txBody>
      </p:sp>
      <p:sp>
        <p:nvSpPr>
          <p:cNvPr id="9" name="Oval 8"/>
          <p:cNvSpPr/>
          <p:nvPr/>
        </p:nvSpPr>
        <p:spPr>
          <a:xfrm>
            <a:off x="3182112" y="2633472"/>
            <a:ext cx="768096" cy="768096"/>
          </a:xfrm>
          <a:prstGeom prst="ellipse">
            <a:avLst/>
          </a:prstGeom>
          <a:solidFill>
            <a:srgbClr val="D9DBD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222222"/>
                </a:solidFill>
                <a:latin typeface="Calibri"/>
              </a:rPr>
              <a:t>Fe</a:t>
            </a:r>
          </a:p>
        </p:txBody>
      </p:sp>
      <p:sp>
        <p:nvSpPr>
          <p:cNvPr id="10" name="Oval 9"/>
          <p:cNvSpPr/>
          <p:nvPr/>
        </p:nvSpPr>
        <p:spPr>
          <a:xfrm>
            <a:off x="4553712" y="2633472"/>
            <a:ext cx="768096" cy="768096"/>
          </a:xfrm>
          <a:prstGeom prst="ellipse">
            <a:avLst/>
          </a:prstGeom>
          <a:solidFill>
            <a:srgbClr val="F6D9C2"/>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222222"/>
                </a:solidFill>
                <a:latin typeface="Calibri"/>
              </a:rPr>
              <a:t>aO</a:t>
            </a:r>
          </a:p>
        </p:txBody>
      </p:sp>
      <p:sp>
        <p:nvSpPr>
          <p:cNvPr id="11" name="Oval 10"/>
          <p:cNvSpPr/>
          <p:nvPr/>
        </p:nvSpPr>
        <p:spPr>
          <a:xfrm>
            <a:off x="5925312" y="2633472"/>
            <a:ext cx="768096" cy="768096"/>
          </a:xfrm>
          <a:prstGeom prst="ellipse">
            <a:avLst/>
          </a:prstGeom>
          <a:solidFill>
            <a:srgbClr val="F6D9C2"/>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222222"/>
                </a:solidFill>
                <a:latin typeface="Calibri"/>
              </a:rPr>
              <a:t>aW</a:t>
            </a:r>
          </a:p>
        </p:txBody>
      </p:sp>
      <p:sp>
        <p:nvSpPr>
          <p:cNvPr id="12" name="Oval 11"/>
          <p:cNvSpPr/>
          <p:nvPr/>
        </p:nvSpPr>
        <p:spPr>
          <a:xfrm>
            <a:off x="3182112" y="4005072"/>
            <a:ext cx="768096" cy="768096"/>
          </a:xfrm>
          <a:prstGeom prst="ellipse">
            <a:avLst/>
          </a:prstGeom>
          <a:solidFill>
            <a:srgbClr val="D4EC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222222"/>
                </a:solidFill>
                <a:latin typeface="Calibri"/>
              </a:rPr>
              <a:t>L</a:t>
            </a:r>
          </a:p>
        </p:txBody>
      </p:sp>
      <p:cxnSp>
        <p:nvCxnSpPr>
          <p:cNvPr id="13" name="Connector 12"/>
          <p:cNvCxnSpPr/>
          <p:nvPr/>
        </p:nvCxnSpPr>
        <p:spPr>
          <a:xfrm>
            <a:off x="1207008" y="3017520"/>
            <a:ext cx="603504" cy="0"/>
          </a:xfrm>
          <a:prstGeom prst="line">
            <a:avLst/>
          </a:prstGeom>
          <a:ln w="19050">
            <a:solidFill>
              <a:srgbClr val="1F3A5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4553712" y="3017520"/>
            <a:ext cx="2139696" cy="0"/>
          </a:xfrm>
          <a:prstGeom prst="line">
            <a:avLst/>
          </a:prstGeom>
          <a:ln w="19050">
            <a:solidFill>
              <a:srgbClr val="1F3A5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578608" y="3017520"/>
            <a:ext cx="603504" cy="0"/>
          </a:xfrm>
          <a:prstGeom prst="line">
            <a:avLst/>
          </a:prstGeom>
          <a:ln w="19050">
            <a:solidFill>
              <a:srgbClr val="1F3A5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66122" y="3289082"/>
            <a:ext cx="828475" cy="828475"/>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66160" y="3401568"/>
            <a:ext cx="0" cy="603504"/>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3837722" y="3289082"/>
            <a:ext cx="828475" cy="828475"/>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645919" y="1600200"/>
            <a:ext cx="1097280" cy="457200"/>
          </a:xfrm>
          <a:prstGeom prst="roundRect">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i="0">
                <a:solidFill>
                  <a:srgbClr val="FFFFFF"/>
                </a:solidFill>
                <a:latin typeface="Calibri"/>
              </a:rPr>
              <a:t>P innen</a:t>
            </a:r>
          </a:p>
        </p:txBody>
      </p:sp>
      <p:cxnSp>
        <p:nvCxnSpPr>
          <p:cNvPr id="20" name="Connector 19"/>
          <p:cNvCxnSpPr/>
          <p:nvPr/>
        </p:nvCxnSpPr>
        <p:spPr>
          <a:xfrm>
            <a:off x="2194560" y="2057400"/>
            <a:ext cx="0" cy="576072"/>
          </a:xfrm>
          <a:prstGeom prst="line">
            <a:avLst/>
          </a:prstGeom>
          <a:ln w="19050">
            <a:solidFill>
              <a:srgbClr val="C8641E"/>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017520" y="1600200"/>
            <a:ext cx="1097280" cy="457200"/>
          </a:xfrm>
          <a:prstGeom prst="roundRect">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i="0">
                <a:solidFill>
                  <a:srgbClr val="FFFFFF"/>
                </a:solidFill>
                <a:latin typeface="Calibri"/>
              </a:rPr>
              <a:t>P Eisen</a:t>
            </a:r>
          </a:p>
        </p:txBody>
      </p:sp>
      <p:cxnSp>
        <p:nvCxnSpPr>
          <p:cNvPr id="22" name="Connector 21"/>
          <p:cNvCxnSpPr/>
          <p:nvPr/>
        </p:nvCxnSpPr>
        <p:spPr>
          <a:xfrm>
            <a:off x="3566160" y="2057400"/>
            <a:ext cx="0" cy="576072"/>
          </a:xfrm>
          <a:prstGeom prst="line">
            <a:avLst/>
          </a:prstGeom>
          <a:ln w="19050">
            <a:solidFill>
              <a:srgbClr val="C8641E"/>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89120" y="1600200"/>
            <a:ext cx="1097280" cy="457200"/>
          </a:xfrm>
          <a:prstGeom prst="roundRect">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i="0">
                <a:solidFill>
                  <a:srgbClr val="FFFFFF"/>
                </a:solidFill>
                <a:latin typeface="Calibri"/>
              </a:rPr>
              <a:t>P außen</a:t>
            </a:r>
          </a:p>
        </p:txBody>
      </p:sp>
      <p:cxnSp>
        <p:nvCxnSpPr>
          <p:cNvPr id="24" name="Connector 23"/>
          <p:cNvCxnSpPr/>
          <p:nvPr/>
        </p:nvCxnSpPr>
        <p:spPr>
          <a:xfrm>
            <a:off x="4937760" y="2057400"/>
            <a:ext cx="0" cy="576072"/>
          </a:xfrm>
          <a:prstGeom prst="line">
            <a:avLst/>
          </a:prstGeom>
          <a:ln w="19050">
            <a:solidFill>
              <a:srgbClr val="C8641E"/>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743200" y="5257800"/>
            <a:ext cx="1645920" cy="457200"/>
          </a:xfrm>
          <a:prstGeom prst="rect">
            <a:avLst/>
          </a:prstGeom>
          <a:solidFill>
            <a:srgbClr val="F2F4F7"/>
          </a:solidFill>
          <a:ln w="15875">
            <a:solidFill>
              <a:srgbClr val="5F667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222222"/>
                </a:solidFill>
                <a:latin typeface="Calibri"/>
              </a:rPr>
              <a:t>Umgebung</a:t>
            </a:r>
          </a:p>
        </p:txBody>
      </p:sp>
      <p:cxnSp>
        <p:nvCxnSpPr>
          <p:cNvPr id="26" name="Connector 25"/>
          <p:cNvCxnSpPr/>
          <p:nvPr/>
        </p:nvCxnSpPr>
        <p:spPr>
          <a:xfrm>
            <a:off x="3566160" y="4773168"/>
            <a:ext cx="0" cy="484632"/>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5760" y="5806440"/>
            <a:ext cx="6583680" cy="548640"/>
          </a:xfrm>
          <a:prstGeom prst="rect">
            <a:avLst/>
          </a:prstGeom>
          <a:noFill/>
        </p:spPr>
        <p:txBody>
          <a:bodyPr wrap="square" anchor="t" lIns="45720" rIns="45720" tIns="27432" bIns="27432">
            <a:spAutoFit/>
          </a:bodyPr>
          <a:lstStyle/>
          <a:p>
            <a:pPr algn="l">
              <a:spcAft>
                <a:spcPts val="600"/>
              </a:spcAft>
            </a:pPr>
            <a:r>
              <a:rPr sz="1200" b="0" i="0">
                <a:solidFill>
                  <a:srgbClr val="5F6670"/>
                </a:solidFill>
                <a:latin typeface="Calibri"/>
              </a:rPr>
              <a:t>iO/iW: Innenspule Oberfläche/Wicklung · aO/aW: Außenspule · Fe: Eisen · L: Luft im Gerät</a:t>
            </a:r>
          </a:p>
        </p:txBody>
      </p:sp>
      <p:sp>
        <p:nvSpPr>
          <p:cNvPr id="28" name="Rounded Rectangle 27"/>
          <p:cNvSpPr/>
          <p:nvPr/>
        </p:nvSpPr>
        <p:spPr>
          <a:xfrm>
            <a:off x="7223760" y="1600200"/>
            <a:ext cx="4389120" cy="868680"/>
          </a:xfrm>
          <a:prstGeom prst="roundRect">
            <a:avLst/>
          </a:prstGeom>
          <a:solidFill>
            <a:srgbClr val="FFFFFF"/>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i="0">
                <a:solidFill>
                  <a:srgbClr val="222222"/>
                </a:solidFill>
                <a:latin typeface="Calibri"/>
              </a:rPr>
              <a:t>Cᵢ dTᵢ/dt = Pᵢ(I) + Σⱼ Gᵢⱼ (Tⱼ − Tᵢ) − hAᵢ (Tᵢ − T_Luft)</a:t>
            </a:r>
          </a:p>
        </p:txBody>
      </p:sp>
      <p:sp>
        <p:nvSpPr>
          <p:cNvPr id="29" name="TextBox 28"/>
          <p:cNvSpPr txBox="1"/>
          <p:nvPr/>
        </p:nvSpPr>
        <p:spPr>
          <a:xfrm>
            <a:off x="7223760" y="2606040"/>
            <a:ext cx="4389120" cy="1097280"/>
          </a:xfrm>
          <a:prstGeom prst="rect">
            <a:avLst/>
          </a:prstGeom>
          <a:noFill/>
        </p:spPr>
        <p:txBody>
          <a:bodyPr wrap="square" anchor="t" lIns="45720" rIns="45720" tIns="27432" bIns="27432">
            <a:spAutoFit/>
          </a:bodyPr>
          <a:lstStyle/>
          <a:p>
            <a:pPr algn="l">
              <a:spcAft>
                <a:spcPts val="600"/>
              </a:spcAft>
            </a:pPr>
            <a:r>
              <a:rPr sz="1500" b="0" i="0">
                <a:solidFill>
                  <a:srgbClr val="222222"/>
                </a:solidFill>
                <a:latin typeface="Calibri"/>
              </a:rPr>
              <a:t>• Wärmekapazität ≙ Kondensator, Wärmeleitwert ≙ Widerstand</a:t>
            </a:r>
          </a:p>
          <a:p>
            <a:pPr algn="l">
              <a:spcAft>
                <a:spcPts val="600"/>
              </a:spcAft>
            </a:pPr>
            <a:r>
              <a:rPr sz="1500" b="0" i="0">
                <a:solidFill>
                  <a:srgbClr val="222222"/>
                </a:solidFill>
                <a:latin typeface="Calibri"/>
              </a:rPr>
              <a:t>• Jede Spule: sichtbare Oberfläche + träges Wicklungsinneres</a:t>
            </a:r>
          </a:p>
        </p:txBody>
      </p:sp>
      <p:sp>
        <p:nvSpPr>
          <p:cNvPr id="30" name="Rounded Rectangle 29"/>
          <p:cNvSpPr/>
          <p:nvPr/>
        </p:nvSpPr>
        <p:spPr>
          <a:xfrm>
            <a:off x="7223760" y="3749039"/>
            <a:ext cx="4389120" cy="50292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FFFFFF"/>
                </a:solidFill>
                <a:latin typeface="Calibri"/>
              </a:rPr>
              <a:t>Kalibrierung (refit_hA.py)</a:t>
            </a:r>
          </a:p>
        </p:txBody>
      </p:sp>
      <p:sp>
        <p:nvSpPr>
          <p:cNvPr id="31" name="TextBox 30"/>
          <p:cNvSpPr txBox="1"/>
          <p:nvPr/>
        </p:nvSpPr>
        <p:spPr>
          <a:xfrm>
            <a:off x="7223760" y="4343400"/>
            <a:ext cx="4389120" cy="1371600"/>
          </a:xfrm>
          <a:prstGeom prst="rect">
            <a:avLst/>
          </a:prstGeom>
          <a:noFill/>
        </p:spPr>
        <p:txBody>
          <a:bodyPr wrap="square" anchor="t" lIns="45720" rIns="45720" tIns="27432" bIns="27432">
            <a:spAutoFit/>
          </a:bodyPr>
          <a:lstStyle/>
          <a:p>
            <a:pPr algn="l">
              <a:spcAft>
                <a:spcPts val="600"/>
              </a:spcAft>
            </a:pPr>
            <a:r>
              <a:rPr sz="1500" b="0" i="0">
                <a:solidFill>
                  <a:srgbClr val="222222"/>
                </a:solidFill>
                <a:latin typeface="Calibri"/>
              </a:rPr>
              <a:t>• hA innen / außen = </a:t>
            </a:r>
            <a:r>
              <a:rPr sz="1500" b="1" i="0">
                <a:solidFill>
                  <a:srgbClr val="222222"/>
                </a:solidFill>
                <a:latin typeface="Calibri"/>
              </a:rPr>
              <a:t>2,47 / 2,89 W/K</a:t>
            </a:r>
          </a:p>
          <a:p>
            <a:pPr algn="l">
              <a:spcAft>
                <a:spcPts val="600"/>
              </a:spcAft>
            </a:pPr>
            <a:r>
              <a:rPr sz="1500" b="0" i="0">
                <a:solidFill>
                  <a:srgbClr val="222222"/>
                </a:solidFill>
                <a:latin typeface="Calibri"/>
              </a:rPr>
              <a:t>• trifft IR-Messung bei 7,8 A: </a:t>
            </a:r>
            <a:r>
              <a:rPr sz="1500" b="1" i="0">
                <a:solidFill>
                  <a:srgbClr val="222222"/>
                </a:solidFill>
                <a:latin typeface="Calibri"/>
              </a:rPr>
              <a:t>79 / 74 °C</a:t>
            </a:r>
          </a:p>
          <a:p>
            <a:pPr algn="l">
              <a:spcAft>
                <a:spcPts val="600"/>
              </a:spcAft>
            </a:pPr>
            <a:r>
              <a:rPr sz="1500" b="0" i="0">
                <a:solidFill>
                  <a:srgbClr val="222222"/>
                </a:solidFill>
                <a:latin typeface="Calibri"/>
              </a:rPr>
              <a:t>• Suche durch das </a:t>
            </a:r>
            <a:r>
              <a:rPr sz="1500" b="1" i="0">
                <a:solidFill>
                  <a:srgbClr val="222222"/>
                </a:solidFill>
                <a:latin typeface="Calibri"/>
              </a:rPr>
              <a:t>laufende, nichtlineare</a:t>
            </a:r>
            <a:r>
              <a:rPr sz="1500" b="0" i="0">
                <a:solidFill>
                  <a:srgbClr val="222222"/>
                </a:solidFill>
                <a:latin typeface="Calibri"/>
              </a:rPr>
              <a:t> Modell (fsolve)</a:t>
            </a:r>
          </a:p>
        </p:txBody>
      </p:sp>
      <p:sp>
        <p:nvSpPr>
          <p:cNvPr id="32" name="Rounded Rectangle 31"/>
          <p:cNvSpPr/>
          <p:nvPr/>
        </p:nvSpPr>
        <p:spPr>
          <a:xfrm>
            <a:off x="7223760" y="5669280"/>
            <a:ext cx="4389120" cy="548640"/>
          </a:xfrm>
          <a:prstGeom prst="roundRect">
            <a:avLst/>
          </a:prstGeom>
          <a:solidFill>
            <a:srgbClr val="DDF0E4"/>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222222"/>
                </a:solidFill>
                <a:latin typeface="Calibri"/>
              </a:rPr>
              <a:t>ROM gesamt: </a:t>
            </a:r>
            <a:r>
              <a:rPr sz="1400" b="1" i="0">
                <a:solidFill>
                  <a:srgbClr val="222222"/>
                </a:solidFill>
                <a:latin typeface="Calibri"/>
              </a:rPr>
              <a:t>8 Zustände</a:t>
            </a:r>
            <a:r>
              <a:rPr sz="1400" b="0" i="0">
                <a:solidFill>
                  <a:srgbClr val="222222"/>
                </a:solidFill>
                <a:latin typeface="Calibri"/>
              </a:rPr>
              <a:t> (2 β + 6 Knoten), ≈ 3 µs pro Schritt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UMSETZUNG</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Berechnungswerkzeug: Python-Code und HTML-Ansicht</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10</a:t>
            </a:r>
          </a:p>
        </p:txBody>
      </p:sp>
      <p:sp>
        <p:nvSpPr>
          <p:cNvPr id="7" name="Rounded Rectangle 6"/>
          <p:cNvSpPr/>
          <p:nvPr/>
        </p:nvSpPr>
        <p:spPr>
          <a:xfrm>
            <a:off x="548640" y="1600200"/>
            <a:ext cx="3840480" cy="685800"/>
          </a:xfrm>
          <a:prstGeom prst="roundRect">
            <a:avLst/>
          </a:prstGeom>
          <a:solidFill>
            <a:srgbClr val="FFF4CC"/>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222222"/>
                </a:solidFill>
                <a:latin typeface="Calibri"/>
              </a:rPr>
              <a:t>params.yaml</a:t>
            </a:r>
          </a:p>
          <a:p>
            <a:pPr algn="ctr"/>
            <a:r>
              <a:rPr sz="1300" b="0" i="0">
                <a:solidFill>
                  <a:srgbClr val="222222"/>
                </a:solidFill>
                <a:latin typeface="Calibri"/>
              </a:rPr>
              <a:t>alle Zahlenwerte</a:t>
            </a:r>
          </a:p>
        </p:txBody>
      </p:sp>
      <p:cxnSp>
        <p:nvCxnSpPr>
          <p:cNvPr id="8" name="Connector 7"/>
          <p:cNvCxnSpPr/>
          <p:nvPr/>
        </p:nvCxnSpPr>
        <p:spPr>
          <a:xfrm>
            <a:off x="2468880" y="2286000"/>
            <a:ext cx="0" cy="210312"/>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496312"/>
            <a:ext cx="3840480" cy="685800"/>
          </a:xfrm>
          <a:prstGeom prst="roundRect">
            <a:avLst/>
          </a:prstGeom>
          <a:solidFill>
            <a:srgbClr val="D4EC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222222"/>
                </a:solidFill>
                <a:latin typeface="Calibri"/>
              </a:rPr>
              <a:t>em_solver.py · thermal_solver.py</a:t>
            </a:r>
          </a:p>
          <a:p>
            <a:pPr algn="ctr"/>
            <a:r>
              <a:rPr sz="1300" b="0" i="0">
                <a:solidFill>
                  <a:srgbClr val="222222"/>
                </a:solidFill>
                <a:latin typeface="Calibri"/>
              </a:rPr>
              <a:t>FEM (offline)</a:t>
            </a:r>
          </a:p>
        </p:txBody>
      </p:sp>
      <p:cxnSp>
        <p:nvCxnSpPr>
          <p:cNvPr id="10" name="Connector 9"/>
          <p:cNvCxnSpPr/>
          <p:nvPr/>
        </p:nvCxnSpPr>
        <p:spPr>
          <a:xfrm>
            <a:off x="2468880" y="3182112"/>
            <a:ext cx="0" cy="210312"/>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392424"/>
            <a:ext cx="3840480" cy="685800"/>
          </a:xfrm>
          <a:prstGeom prst="roundRect">
            <a:avLst/>
          </a:prstGeom>
          <a:solidFill>
            <a:srgbClr val="FFF4CC"/>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222222"/>
                </a:solidFill>
                <a:latin typeface="Calibri"/>
              </a:rPr>
              <a:t>rom.py · build_twin_html_fem.py</a:t>
            </a:r>
          </a:p>
          <a:p>
            <a:pPr algn="ctr"/>
            <a:r>
              <a:rPr sz="1300" b="0" i="0">
                <a:solidFill>
                  <a:srgbClr val="222222"/>
                </a:solidFill>
                <a:latin typeface="Calibri"/>
              </a:rPr>
              <a:t>Reduktion A, B, C</a:t>
            </a:r>
          </a:p>
        </p:txBody>
      </p:sp>
      <p:cxnSp>
        <p:nvCxnSpPr>
          <p:cNvPr id="12" name="Connector 11"/>
          <p:cNvCxnSpPr/>
          <p:nvPr/>
        </p:nvCxnSpPr>
        <p:spPr>
          <a:xfrm>
            <a:off x="2468880" y="4078224"/>
            <a:ext cx="0" cy="210312"/>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4288536"/>
            <a:ext cx="3840480" cy="685800"/>
          </a:xfrm>
          <a:prstGeom prst="roundRect">
            <a:avLst/>
          </a:prstGeom>
          <a:solidFill>
            <a:srgbClr val="DDF0E4"/>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222222"/>
                </a:solidFill>
                <a:latin typeface="Calibri"/>
              </a:rPr>
              <a:t>twin_core.py</a:t>
            </a:r>
          </a:p>
          <a:p>
            <a:pPr algn="ctr"/>
            <a:r>
              <a:rPr sz="1300" b="0" i="0">
                <a:solidFill>
                  <a:srgbClr val="222222"/>
                </a:solidFill>
                <a:latin typeface="Calibri"/>
              </a:rPr>
              <a:t>ROM (online)</a:t>
            </a:r>
          </a:p>
        </p:txBody>
      </p:sp>
      <p:cxnSp>
        <p:nvCxnSpPr>
          <p:cNvPr id="14" name="Connector 13"/>
          <p:cNvCxnSpPr/>
          <p:nvPr/>
        </p:nvCxnSpPr>
        <p:spPr>
          <a:xfrm>
            <a:off x="2468880" y="4974336"/>
            <a:ext cx="0" cy="210312"/>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5184648"/>
            <a:ext cx="3840480" cy="685800"/>
          </a:xfrm>
          <a:prstGeom prst="roundRect">
            <a:avLst/>
          </a:prstGeom>
          <a:solidFill>
            <a:srgbClr val="F2F4F7"/>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222222"/>
                </a:solidFill>
                <a:latin typeface="Calibri"/>
              </a:rPr>
              <a:t>digital_twin_fem.html</a:t>
            </a:r>
          </a:p>
          <a:p>
            <a:pPr algn="ctr"/>
            <a:r>
              <a:rPr sz="1300" b="0" i="0">
                <a:solidFill>
                  <a:srgbClr val="222222"/>
                </a:solidFill>
                <a:latin typeface="Calibri"/>
              </a:rPr>
              <a:t>Ansicht im Browser</a:t>
            </a:r>
          </a:p>
        </p:txBody>
      </p:sp>
      <p:sp>
        <p:nvSpPr>
          <p:cNvPr id="16" name="TextBox 15"/>
          <p:cNvSpPr txBox="1"/>
          <p:nvPr/>
        </p:nvSpPr>
        <p:spPr>
          <a:xfrm>
            <a:off x="548640" y="6126480"/>
            <a:ext cx="4023360" cy="274320"/>
          </a:xfrm>
          <a:prstGeom prst="rect">
            <a:avLst/>
          </a:prstGeom>
          <a:noFill/>
        </p:spPr>
        <p:txBody>
          <a:bodyPr wrap="square" anchor="t" lIns="45720" rIns="45720" tIns="27432" bIns="27432">
            <a:spAutoFit/>
          </a:bodyPr>
          <a:lstStyle/>
          <a:p>
            <a:pPr algn="l">
              <a:spcAft>
                <a:spcPts val="600"/>
              </a:spcAft>
            </a:pPr>
            <a:r>
              <a:rPr sz="1300" b="1" i="0">
                <a:solidFill>
                  <a:srgbClr val="1F3A5F"/>
                </a:solidFill>
                <a:latin typeface="Calibri"/>
              </a:rPr>
              <a:t>Start: Doppelklick auf RUN (RUN.py)</a:t>
            </a:r>
          </a:p>
        </p:txBody>
      </p:sp>
      <p:pic>
        <p:nvPicPr>
          <p:cNvPr id="17" name="Picture 16" descr="twin_screenshot.png"/>
          <p:cNvPicPr>
            <a:picLocks noChangeAspect="1"/>
          </p:cNvPicPr>
          <p:nvPr/>
        </p:nvPicPr>
        <p:blipFill>
          <a:blip r:embed="rId2"/>
          <a:stretch>
            <a:fillRect/>
          </a:stretch>
        </p:blipFill>
        <p:spPr>
          <a:xfrm>
            <a:off x="4754880" y="1600200"/>
            <a:ext cx="6858000" cy="3857625"/>
          </a:xfrm>
          <a:prstGeom prst="rect">
            <a:avLst/>
          </a:prstGeom>
        </p:spPr>
      </p:pic>
      <p:sp>
        <p:nvSpPr>
          <p:cNvPr id="18" name="TextBox 17"/>
          <p:cNvSpPr txBox="1"/>
          <p:nvPr/>
        </p:nvSpPr>
        <p:spPr>
          <a:xfrm>
            <a:off x="4754880" y="5532120"/>
            <a:ext cx="6858000" cy="822960"/>
          </a:xfrm>
          <a:prstGeom prst="rect">
            <a:avLst/>
          </a:prstGeom>
          <a:noFill/>
        </p:spPr>
        <p:txBody>
          <a:bodyPr wrap="square" anchor="t" lIns="45720" rIns="45720" tIns="27432" bIns="27432">
            <a:spAutoFit/>
          </a:bodyPr>
          <a:lstStyle/>
          <a:p>
            <a:pPr algn="l">
              <a:spcAft>
                <a:spcPts val="600"/>
              </a:spcAft>
            </a:pPr>
            <a:r>
              <a:rPr sz="1300" b="0" i="0">
                <a:solidFill>
                  <a:srgbClr val="5F6670"/>
                </a:solidFill>
                <a:latin typeface="Calibri"/>
              </a:rPr>
              <a:t>Strom per Schieberegler oder Szenario · Temperaturen und Schwebehöhe live · läuft ohne Python im Browser</a:t>
            </a:r>
          </a:p>
          <a:p>
            <a:pPr algn="l">
              <a:spcAft>
                <a:spcPts val="600"/>
              </a:spcAft>
            </a:pPr>
            <a:r>
              <a:rPr sz="1300" b="0" i="0">
                <a:solidFill>
                  <a:srgbClr val="5F6670"/>
                </a:solidFill>
                <a:latin typeface="Calibri"/>
              </a:rPr>
              <a:t>Stromsensor (ACS712 am Arduino) softwareseitig vorbereitet – Einbau in Arbeit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ERGEBNISSE</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Ergebnis 1: Verlustleistungen (5 A, 20 °C)</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11</a:t>
            </a:r>
          </a:p>
        </p:txBody>
      </p:sp>
      <p:graphicFrame>
        <p:nvGraphicFramePr>
          <p:cNvPr id="7" name="Chart 6"/>
          <p:cNvGraphicFramePr>
            <a:graphicFrameLocks noGrp="1"/>
          </p:cNvGraphicFramePr>
          <p:nvPr/>
        </p:nvGraphicFramePr>
        <p:xfrm>
          <a:off x="548640" y="1554480"/>
          <a:ext cx="6766560" cy="420624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1645920"/>
            <a:ext cx="3840480" cy="109728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0" i="0">
                <a:solidFill>
                  <a:srgbClr val="FFFFFF"/>
                </a:solidFill>
                <a:latin typeface="Calibri"/>
              </a:rPr>
              <a:t>Gesamt  </a:t>
            </a:r>
            <a:r>
              <a:rPr sz="2400" b="1" i="0">
                <a:solidFill>
                  <a:srgbClr val="FFFFFF"/>
                </a:solidFill>
                <a:latin typeface="Calibri"/>
              </a:rPr>
              <a:t>138,11 W</a:t>
            </a:r>
          </a:p>
        </p:txBody>
      </p:sp>
      <p:sp>
        <p:nvSpPr>
          <p:cNvPr id="9" name="TextBox 8"/>
          <p:cNvSpPr txBox="1"/>
          <p:nvPr/>
        </p:nvSpPr>
        <p:spPr>
          <a:xfrm>
            <a:off x="7772400" y="2926080"/>
            <a:ext cx="3840480" cy="2926080"/>
          </a:xfrm>
          <a:prstGeom prst="rect">
            <a:avLst/>
          </a:prstGeom>
          <a:noFill/>
        </p:spPr>
        <p:txBody>
          <a:bodyPr wrap="square" anchor="t" lIns="45720" rIns="45720" tIns="27432" bIns="27432">
            <a:spAutoFit/>
          </a:bodyPr>
          <a:lstStyle/>
          <a:p>
            <a:pPr algn="l">
              <a:spcAft>
                <a:spcPts val="600"/>
              </a:spcAft>
            </a:pPr>
            <a:r>
              <a:rPr sz="1700" b="0" i="0">
                <a:solidFill>
                  <a:srgbClr val="222222"/>
                </a:solidFill>
                <a:latin typeface="Calibri"/>
              </a:rPr>
              <a:t>• Spulen ≈ </a:t>
            </a:r>
            <a:r>
              <a:rPr sz="1700" b="1" i="0">
                <a:solidFill>
                  <a:srgbClr val="222222"/>
                </a:solidFill>
                <a:latin typeface="Calibri"/>
              </a:rPr>
              <a:t>77 %</a:t>
            </a:r>
            <a:r>
              <a:rPr sz="1700" b="0" i="0">
                <a:solidFill>
                  <a:srgbClr val="222222"/>
                </a:solidFill>
                <a:latin typeface="Calibri"/>
              </a:rPr>
              <a:t> der Wärme</a:t>
            </a:r>
          </a:p>
          <a:p>
            <a:pPr algn="l">
              <a:spcAft>
                <a:spcPts val="600"/>
              </a:spcAft>
            </a:pPr>
            <a:r>
              <a:rPr sz="1700" b="0" i="0">
                <a:solidFill>
                  <a:srgbClr val="222222"/>
                </a:solidFill>
                <a:latin typeface="Calibri"/>
              </a:rPr>
              <a:t>• passt zum Wärmebild: Spulen sind die heißesten Bauteile</a:t>
            </a:r>
          </a:p>
          <a:p>
            <a:pPr algn="l">
              <a:spcAft>
                <a:spcPts val="1400"/>
              </a:spcAft>
            </a:pPr>
            <a:r>
              <a:rPr sz="1700" b="0" i="0">
                <a:solidFill>
                  <a:srgbClr val="222222"/>
                </a:solidFill>
                <a:latin typeface="Calibri"/>
              </a:rPr>
              <a:t>• Scheibe ≈ 19 %, Eisen ≈ 4 %</a:t>
            </a:r>
          </a:p>
          <a:p>
            <a:pPr algn="l">
              <a:spcAft>
                <a:spcPts val="600"/>
              </a:spcAft>
            </a:pPr>
            <a:r>
              <a:rPr sz="1300" b="0" i="0">
                <a:solidFill>
                  <a:srgbClr val="5F6670"/>
                </a:solidFill>
                <a:latin typeface="Calibri"/>
              </a:rPr>
              <a:t>Hinweis: Effektivwert als Amplitude eingesetzt → Wattzahlen Faktor 2 zu klein; durch Kalibrierung von hA aufgefangen (Backup)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ERGEBNISSE</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Ergebnis 2: Vergleich mit der Messung</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12</a:t>
            </a:r>
          </a:p>
        </p:txBody>
      </p:sp>
      <p:graphicFrame>
        <p:nvGraphicFramePr>
          <p:cNvPr id="7" name="Chart 6"/>
          <p:cNvGraphicFramePr>
            <a:graphicFrameLocks noGrp="1"/>
          </p:cNvGraphicFramePr>
          <p:nvPr/>
        </p:nvGraphicFramePr>
        <p:xfrm>
          <a:off x="548640" y="1554480"/>
          <a:ext cx="5669280" cy="42976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6492240" y="1645920"/>
          <a:ext cx="5120640" cy="3291840"/>
        </p:xfrm>
        <a:graphic>
          <a:graphicData uri="http://schemas.openxmlformats.org/drawingml/2006/table">
            <a:tbl>
              <a:tblPr firstRow="1" bandRow="1">
                <a:tableStyleId>{5C22544A-7EE6-4342-B048-85BDC9FD1C3A}</a:tableStyleId>
              </a:tblPr>
              <a:tblGrid>
                <a:gridCol w="1600200"/>
                <a:gridCol w="960120"/>
                <a:gridCol w="1051560"/>
                <a:gridCol w="1508760"/>
              </a:tblGrid>
              <a:tr h="658368">
                <a:tc>
                  <a:txBody>
                    <a:bodyPr/>
                    <a:lstStyle/>
                    <a:p>
                      <a:r>
                        <a:rPr sz="1300" b="1" i="0">
                          <a:solidFill>
                            <a:srgbClr val="FFFFFF"/>
                          </a:solidFill>
                          <a:latin typeface="Calibri"/>
                        </a:rPr>
                        <a:t>Größe</a:t>
                      </a:r>
                    </a:p>
                  </a:txBody>
                  <a:tcPr marL="45720" marR="45720">
                    <a:solidFill>
                      <a:srgbClr val="1F3A5F"/>
                    </a:solidFill>
                  </a:tcPr>
                </a:tc>
                <a:tc>
                  <a:txBody>
                    <a:bodyPr/>
                    <a:lstStyle/>
                    <a:p>
                      <a:r>
                        <a:rPr sz="1300" b="1" i="0">
                          <a:solidFill>
                            <a:srgbClr val="FFFFFF"/>
                          </a:solidFill>
                          <a:latin typeface="Calibri"/>
                        </a:rPr>
                        <a:t>Messung</a:t>
                      </a:r>
                    </a:p>
                  </a:txBody>
                  <a:tcPr marL="45720" marR="45720">
                    <a:solidFill>
                      <a:srgbClr val="1F3A5F"/>
                    </a:solidFill>
                  </a:tcPr>
                </a:tc>
                <a:tc>
                  <a:txBody>
                    <a:bodyPr/>
                    <a:lstStyle/>
                    <a:p>
                      <a:r>
                        <a:rPr sz="1300" b="1" i="0">
                          <a:solidFill>
                            <a:srgbClr val="FFFFFF"/>
                          </a:solidFill>
                          <a:latin typeface="Calibri"/>
                        </a:rPr>
                        <a:t>Modell</a:t>
                      </a:r>
                    </a:p>
                  </a:txBody>
                  <a:tcPr marL="45720" marR="45720">
                    <a:solidFill>
                      <a:srgbClr val="1F3A5F"/>
                    </a:solidFill>
                  </a:tcPr>
                </a:tc>
                <a:tc>
                  <a:txBody>
                    <a:bodyPr/>
                    <a:lstStyle/>
                    <a:p>
                      <a:r>
                        <a:rPr sz="1300" b="1" i="0">
                          <a:solidFill>
                            <a:srgbClr val="FFFFFF"/>
                          </a:solidFill>
                          <a:latin typeface="Calibri"/>
                        </a:rPr>
                        <a:t>Bewertung</a:t>
                      </a:r>
                    </a:p>
                  </a:txBody>
                  <a:tcPr marL="45720" marR="45720">
                    <a:solidFill>
                      <a:srgbClr val="1F3A5F"/>
                    </a:solidFill>
                  </a:tcPr>
                </a:tc>
              </a:tr>
              <a:tr h="658368">
                <a:tc>
                  <a:txBody>
                    <a:bodyPr/>
                    <a:lstStyle/>
                    <a:p>
                      <a:r>
                        <a:rPr sz="1200" b="0" i="0">
                          <a:solidFill>
                            <a:srgbClr val="222222"/>
                          </a:solidFill>
                          <a:latin typeface="Calibri"/>
                        </a:rPr>
                        <a:t>Spulen stationär, 7,8 A</a:t>
                      </a:r>
                    </a:p>
                  </a:txBody>
                  <a:tcPr marL="45720" marR="45720">
                    <a:solidFill>
                      <a:srgbClr val="F2F4F7"/>
                    </a:solidFill>
                  </a:tcPr>
                </a:tc>
                <a:tc>
                  <a:txBody>
                    <a:bodyPr/>
                    <a:lstStyle/>
                    <a:p>
                      <a:r>
                        <a:rPr sz="1200" b="0" i="0">
                          <a:solidFill>
                            <a:srgbClr val="222222"/>
                          </a:solidFill>
                          <a:latin typeface="Calibri"/>
                        </a:rPr>
                        <a:t>79 / 74 °C</a:t>
                      </a:r>
                    </a:p>
                  </a:txBody>
                  <a:tcPr marL="45720" marR="45720">
                    <a:solidFill>
                      <a:srgbClr val="F2F4F7"/>
                    </a:solidFill>
                  </a:tcPr>
                </a:tc>
                <a:tc>
                  <a:txBody>
                    <a:bodyPr/>
                    <a:lstStyle/>
                    <a:p>
                      <a:r>
                        <a:rPr sz="1200" b="0" i="0">
                          <a:solidFill>
                            <a:srgbClr val="222222"/>
                          </a:solidFill>
                          <a:latin typeface="Calibri"/>
                        </a:rPr>
                        <a:t>79,0 / 74,0 °C</a:t>
                      </a:r>
                    </a:p>
                  </a:txBody>
                  <a:tcPr marL="45720" marR="45720">
                    <a:solidFill>
                      <a:srgbClr val="F2F4F7"/>
                    </a:solidFill>
                  </a:tcPr>
                </a:tc>
                <a:tc>
                  <a:txBody>
                    <a:bodyPr/>
                    <a:lstStyle/>
                    <a:p>
                      <a:r>
                        <a:rPr sz="1200" b="0" i="0">
                          <a:solidFill>
                            <a:srgbClr val="2E8B57"/>
                          </a:solidFill>
                          <a:latin typeface="Calibri"/>
                        </a:rPr>
                        <a:t>kalibriert – kein Nachweis</a:t>
                      </a:r>
                    </a:p>
                  </a:txBody>
                  <a:tcPr marL="45720" marR="45720">
                    <a:solidFill>
                      <a:srgbClr val="F2F4F7"/>
                    </a:solidFill>
                  </a:tcPr>
                </a:tc>
              </a:tr>
              <a:tr h="658368">
                <a:tc>
                  <a:txBody>
                    <a:bodyPr/>
                    <a:lstStyle/>
                    <a:p>
                      <a:r>
                        <a:rPr sz="1200" b="0" i="0">
                          <a:solidFill>
                            <a:srgbClr val="222222"/>
                          </a:solidFill>
                          <a:latin typeface="Calibri"/>
                        </a:rPr>
                        <a:t>Außenspule, Rampe</a:t>
                      </a:r>
                    </a:p>
                  </a:txBody>
                  <a:tcPr marL="45720" marR="45720">
                    <a:solidFill>
                      <a:srgbClr val="FFFFFF"/>
                    </a:solidFill>
                  </a:tcPr>
                </a:tc>
                <a:tc>
                  <a:txBody>
                    <a:bodyPr/>
                    <a:lstStyle/>
                    <a:p>
                      <a:r>
                        <a:rPr sz="1200" b="0" i="0">
                          <a:solidFill>
                            <a:srgbClr val="222222"/>
                          </a:solidFill>
                          <a:latin typeface="Calibri"/>
                        </a:rPr>
                        <a:t>40 – 56 °C</a:t>
                      </a:r>
                    </a:p>
                  </a:txBody>
                  <a:tcPr marL="45720" marR="45720">
                    <a:solidFill>
                      <a:srgbClr val="FFFFFF"/>
                    </a:solidFill>
                  </a:tcPr>
                </a:tc>
                <a:tc>
                  <a:txBody>
                    <a:bodyPr/>
                    <a:lstStyle/>
                    <a:p>
                      <a:r>
                        <a:rPr sz="1200" b="0" i="0">
                          <a:solidFill>
                            <a:srgbClr val="222222"/>
                          </a:solidFill>
                          <a:latin typeface="Calibri"/>
                        </a:rPr>
                        <a:t>34 – 44 °C</a:t>
                      </a:r>
                    </a:p>
                  </a:txBody>
                  <a:tcPr marL="45720" marR="45720">
                    <a:solidFill>
                      <a:srgbClr val="FFFFFF"/>
                    </a:solidFill>
                  </a:tcPr>
                </a:tc>
                <a:tc>
                  <a:txBody>
                    <a:bodyPr/>
                    <a:lstStyle/>
                    <a:p>
                      <a:r>
                        <a:rPr sz="1200" b="0" i="0">
                          <a:solidFill>
                            <a:srgbClr val="C0392B"/>
                          </a:solidFill>
                          <a:latin typeface="Calibri"/>
                        </a:rPr>
                        <a:t>zu langsam, RMS 11,5 K</a:t>
                      </a:r>
                    </a:p>
                  </a:txBody>
                  <a:tcPr marL="45720" marR="45720">
                    <a:solidFill>
                      <a:srgbClr val="FFFFFF"/>
                    </a:solidFill>
                  </a:tcPr>
                </a:tc>
              </a:tr>
              <a:tr h="658368">
                <a:tc>
                  <a:txBody>
                    <a:bodyPr/>
                    <a:lstStyle/>
                    <a:p>
                      <a:r>
                        <a:rPr sz="1200" b="0" i="0">
                          <a:solidFill>
                            <a:srgbClr val="222222"/>
                          </a:solidFill>
                          <a:latin typeface="Calibri"/>
                        </a:rPr>
                        <a:t>Scheibe stationär, 7,8 A</a:t>
                      </a:r>
                    </a:p>
                  </a:txBody>
                  <a:tcPr marL="45720" marR="45720">
                    <a:solidFill>
                      <a:srgbClr val="F2F4F7"/>
                    </a:solidFill>
                  </a:tcPr>
                </a:tc>
                <a:tc>
                  <a:txBody>
                    <a:bodyPr/>
                    <a:lstStyle/>
                    <a:p>
                      <a:r>
                        <a:rPr sz="1200" b="0" i="0">
                          <a:solidFill>
                            <a:srgbClr val="222222"/>
                          </a:solidFill>
                          <a:latin typeface="Calibri"/>
                        </a:rPr>
                        <a:t>37 – 40 °C</a:t>
                      </a:r>
                    </a:p>
                  </a:txBody>
                  <a:tcPr marL="45720" marR="45720">
                    <a:solidFill>
                      <a:srgbClr val="F2F4F7"/>
                    </a:solidFill>
                  </a:tcPr>
                </a:tc>
                <a:tc>
                  <a:txBody>
                    <a:bodyPr/>
                    <a:lstStyle/>
                    <a:p>
                      <a:r>
                        <a:rPr sz="1200" b="0" i="0">
                          <a:solidFill>
                            <a:srgbClr val="222222"/>
                          </a:solidFill>
                          <a:latin typeface="Calibri"/>
                        </a:rPr>
                        <a:t>107 °C</a:t>
                      </a:r>
                    </a:p>
                  </a:txBody>
                  <a:tcPr marL="45720" marR="45720">
                    <a:solidFill>
                      <a:srgbClr val="F2F4F7"/>
                    </a:solidFill>
                  </a:tcPr>
                </a:tc>
                <a:tc>
                  <a:txBody>
                    <a:bodyPr/>
                    <a:lstStyle/>
                    <a:p>
                      <a:r>
                        <a:rPr sz="1200" b="0" i="0">
                          <a:solidFill>
                            <a:srgbClr val="5F6670"/>
                          </a:solidFill>
                          <a:latin typeface="Calibri"/>
                        </a:rPr>
                        <a:t>IR unzuverlässig</a:t>
                      </a:r>
                    </a:p>
                  </a:txBody>
                  <a:tcPr marL="45720" marR="45720">
                    <a:solidFill>
                      <a:srgbClr val="F2F4F7"/>
                    </a:solidFill>
                  </a:tcPr>
                </a:tc>
              </a:tr>
              <a:tr h="658368">
                <a:tc>
                  <a:txBody>
                    <a:bodyPr/>
                    <a:lstStyle/>
                    <a:p>
                      <a:r>
                        <a:rPr sz="1200" b="0" i="0">
                          <a:solidFill>
                            <a:srgbClr val="222222"/>
                          </a:solidFill>
                          <a:latin typeface="Calibri"/>
                        </a:rPr>
                        <a:t>Schwebehöhe sichtbar, 5 A</a:t>
                      </a:r>
                    </a:p>
                  </a:txBody>
                  <a:tcPr marL="45720" marR="45720">
                    <a:solidFill>
                      <a:srgbClr val="FFFFFF"/>
                    </a:solidFill>
                  </a:tcPr>
                </a:tc>
                <a:tc>
                  <a:txBody>
                    <a:bodyPr/>
                    <a:lstStyle/>
                    <a:p>
                      <a:r>
                        <a:rPr sz="1200" b="0" i="0">
                          <a:solidFill>
                            <a:srgbClr val="222222"/>
                          </a:solidFill>
                          <a:latin typeface="Calibri"/>
                        </a:rPr>
                        <a:t>7 – 8 mm</a:t>
                      </a:r>
                    </a:p>
                  </a:txBody>
                  <a:tcPr marL="45720" marR="45720">
                    <a:solidFill>
                      <a:srgbClr val="FFFFFF"/>
                    </a:solidFill>
                  </a:tcPr>
                </a:tc>
                <a:tc>
                  <a:txBody>
                    <a:bodyPr/>
                    <a:lstStyle/>
                    <a:p>
                      <a:r>
                        <a:rPr sz="1200" b="0" i="0">
                          <a:solidFill>
                            <a:srgbClr val="222222"/>
                          </a:solidFill>
                          <a:latin typeface="Calibri"/>
                        </a:rPr>
                        <a:t>14,7 mm</a:t>
                      </a:r>
                    </a:p>
                  </a:txBody>
                  <a:tcPr marL="45720" marR="45720">
                    <a:solidFill>
                      <a:srgbClr val="FFFFFF"/>
                    </a:solidFill>
                  </a:tcPr>
                </a:tc>
                <a:tc>
                  <a:txBody>
                    <a:bodyPr/>
                    <a:lstStyle/>
                    <a:p>
                      <a:r>
                        <a:rPr sz="1200" b="0" i="0">
                          <a:solidFill>
                            <a:srgbClr val="C0392B"/>
                          </a:solidFill>
                          <a:latin typeface="Calibri"/>
                        </a:rPr>
                        <a:t>≈ +7 mm</a:t>
                      </a:r>
                    </a:p>
                  </a:txBody>
                  <a:tcPr marL="45720" marR="45720">
                    <a:solidFill>
                      <a:srgbClr val="FFFFFF"/>
                    </a:solidFill>
                  </a:tcPr>
                </a:tc>
              </a:tr>
            </a:tbl>
          </a:graphicData>
        </a:graphic>
      </p:graphicFrame>
      <p:sp>
        <p:nvSpPr>
          <p:cNvPr id="9" name="Rounded Rectangle 8"/>
          <p:cNvSpPr/>
          <p:nvPr/>
        </p:nvSpPr>
        <p:spPr>
          <a:xfrm>
            <a:off x="6492240" y="5166360"/>
            <a:ext cx="5120640" cy="685800"/>
          </a:xfrm>
          <a:prstGeom prst="roundRect">
            <a:avLst/>
          </a:prstGeom>
          <a:solidFill>
            <a:srgbClr val="FFF4CC"/>
          </a:solidFill>
          <a:ln w="15875">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i="0">
                <a:solidFill>
                  <a:srgbClr val="222222"/>
                </a:solidFill>
                <a:latin typeface="Calibri"/>
              </a:rPr>
              <a:t>Stationär ≙ Kalibrierung · Zeitverlauf ≙ echte Vorhersage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ERGEBNISSE</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Ursachen der Abweichungen</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13</a:t>
            </a:r>
          </a:p>
        </p:txBody>
      </p:sp>
      <p:sp>
        <p:nvSpPr>
          <p:cNvPr id="7" name="Rounded Rectangle 6"/>
          <p:cNvSpPr/>
          <p:nvPr/>
        </p:nvSpPr>
        <p:spPr>
          <a:xfrm>
            <a:off x="548640" y="1600200"/>
            <a:ext cx="3474720" cy="640080"/>
          </a:xfrm>
          <a:prstGeom prst="roundRect">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Zeitverlauf zu langsam</a:t>
            </a:r>
          </a:p>
        </p:txBody>
      </p:sp>
      <p:sp>
        <p:nvSpPr>
          <p:cNvPr id="8" name="TextBox 7"/>
          <p:cNvSpPr txBox="1"/>
          <p:nvPr/>
        </p:nvSpPr>
        <p:spPr>
          <a:xfrm>
            <a:off x="594360" y="2377440"/>
            <a:ext cx="3383280" cy="2743200"/>
          </a:xfrm>
          <a:prstGeom prst="rect">
            <a:avLst/>
          </a:prstGeom>
          <a:noFill/>
        </p:spPr>
        <p:txBody>
          <a:bodyPr wrap="square" anchor="t" lIns="45720" rIns="45720" tIns="27432" bIns="27432">
            <a:spAutoFit/>
          </a:bodyPr>
          <a:lstStyle/>
          <a:p>
            <a:pPr algn="l">
              <a:spcAft>
                <a:spcPts val="600"/>
              </a:spcAft>
            </a:pPr>
            <a:r>
              <a:rPr sz="1500" b="0" i="0">
                <a:solidFill>
                  <a:srgbClr val="222222"/>
                </a:solidFill>
                <a:latin typeface="Calibri"/>
              </a:rPr>
              <a:t>• Endwert hängt nur von hA ab (kalibriert).</a:t>
            </a:r>
          </a:p>
          <a:p>
            <a:pPr algn="l">
              <a:spcAft>
                <a:spcPts val="600"/>
              </a:spcAft>
            </a:pPr>
            <a:r>
              <a:rPr sz="1500" b="0" i="0">
                <a:solidFill>
                  <a:srgbClr val="222222"/>
                </a:solidFill>
                <a:latin typeface="Calibri"/>
              </a:rPr>
              <a:t>• Tempo hängt von Wärmekapazitäten und Aufteilung Oberfläche / Wicklung ab.</a:t>
            </a:r>
          </a:p>
          <a:p>
            <a:pPr algn="l">
              <a:spcAft>
                <a:spcPts val="600"/>
              </a:spcAft>
            </a:pPr>
            <a:r>
              <a:rPr sz="1500" b="0" i="0">
                <a:solidFill>
                  <a:srgbClr val="222222"/>
                </a:solidFill>
                <a:latin typeface="Calibri"/>
              </a:rPr>
              <a:t>• Aus einer Aufheizkurve allein nicht bestimmbar.</a:t>
            </a:r>
          </a:p>
        </p:txBody>
      </p:sp>
      <p:sp>
        <p:nvSpPr>
          <p:cNvPr id="9" name="Rounded Rectangle 8"/>
          <p:cNvSpPr/>
          <p:nvPr/>
        </p:nvSpPr>
        <p:spPr>
          <a:xfrm>
            <a:off x="548640" y="5120640"/>
            <a:ext cx="3474720" cy="640080"/>
          </a:xfrm>
          <a:prstGeom prst="roundRect">
            <a:avLst/>
          </a:prstGeom>
          <a:solidFill>
            <a:srgbClr val="F2F4F7"/>
          </a:solidFill>
          <a:ln w="254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i="0">
                <a:solidFill>
                  <a:srgbClr val="222222"/>
                </a:solidFill>
                <a:latin typeface="Calibri"/>
              </a:rPr>
              <a:t>fehlt: </a:t>
            </a:r>
            <a:r>
              <a:rPr sz="1500" b="1" i="0">
                <a:solidFill>
                  <a:srgbClr val="222222"/>
                </a:solidFill>
                <a:latin typeface="Calibri"/>
              </a:rPr>
              <a:t>Abkühlkurve</a:t>
            </a:r>
          </a:p>
        </p:txBody>
      </p:sp>
      <p:sp>
        <p:nvSpPr>
          <p:cNvPr id="10" name="Rounded Rectangle 9"/>
          <p:cNvSpPr/>
          <p:nvPr/>
        </p:nvSpPr>
        <p:spPr>
          <a:xfrm>
            <a:off x="4297679" y="1600200"/>
            <a:ext cx="3474720" cy="640080"/>
          </a:xfrm>
          <a:prstGeom prst="roundRect">
            <a:avLst/>
          </a:prstGeom>
          <a:solidFill>
            <a:srgbClr val="2A9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Scheibe: IR unzuverlässig</a:t>
            </a:r>
          </a:p>
        </p:txBody>
      </p:sp>
      <p:sp>
        <p:nvSpPr>
          <p:cNvPr id="11" name="TextBox 10"/>
          <p:cNvSpPr txBox="1"/>
          <p:nvPr/>
        </p:nvSpPr>
        <p:spPr>
          <a:xfrm>
            <a:off x="4343399" y="2377440"/>
            <a:ext cx="3383280" cy="2743200"/>
          </a:xfrm>
          <a:prstGeom prst="rect">
            <a:avLst/>
          </a:prstGeom>
          <a:noFill/>
        </p:spPr>
        <p:txBody>
          <a:bodyPr wrap="square" anchor="t" lIns="45720" rIns="45720" tIns="27432" bIns="27432">
            <a:spAutoFit/>
          </a:bodyPr>
          <a:lstStyle/>
          <a:p>
            <a:pPr algn="l">
              <a:spcAft>
                <a:spcPts val="600"/>
              </a:spcAft>
            </a:pPr>
            <a:r>
              <a:rPr sz="1500" b="0" i="0">
                <a:solidFill>
                  <a:srgbClr val="222222"/>
                </a:solidFill>
                <a:latin typeface="Calibri"/>
              </a:rPr>
              <a:t>• Blankes Aluminium strahlt wenig ab und spiegelt die Umgebung.</a:t>
            </a:r>
          </a:p>
          <a:p>
            <a:pPr algn="l">
              <a:spcAft>
                <a:spcPts val="600"/>
              </a:spcAft>
            </a:pPr>
            <a:r>
              <a:rPr sz="1500" b="0" i="0">
                <a:solidFill>
                  <a:srgbClr val="222222"/>
                </a:solidFill>
                <a:latin typeface="Calibri"/>
              </a:rPr>
              <a:t>• Die Kamera zeigt daher zu tiefe Werte.</a:t>
            </a:r>
          </a:p>
        </p:txBody>
      </p:sp>
      <p:sp>
        <p:nvSpPr>
          <p:cNvPr id="12" name="Rounded Rectangle 11"/>
          <p:cNvSpPr/>
          <p:nvPr/>
        </p:nvSpPr>
        <p:spPr>
          <a:xfrm>
            <a:off x="4297679" y="5120640"/>
            <a:ext cx="3474720" cy="640080"/>
          </a:xfrm>
          <a:prstGeom prst="roundRect">
            <a:avLst/>
          </a:prstGeom>
          <a:solidFill>
            <a:srgbClr val="F2F4F7"/>
          </a:solidFill>
          <a:ln w="25400">
            <a:solidFill>
              <a:srgbClr val="2A9B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i="0">
                <a:solidFill>
                  <a:srgbClr val="222222"/>
                </a:solidFill>
                <a:latin typeface="Calibri"/>
              </a:rPr>
              <a:t>Abhilfe: </a:t>
            </a:r>
            <a:r>
              <a:rPr sz="1500" b="1" i="0">
                <a:solidFill>
                  <a:srgbClr val="222222"/>
                </a:solidFill>
                <a:latin typeface="Calibri"/>
              </a:rPr>
              <a:t>mattschwarzer Messfleck</a:t>
            </a:r>
          </a:p>
        </p:txBody>
      </p:sp>
      <p:sp>
        <p:nvSpPr>
          <p:cNvPr id="13" name="Rounded Rectangle 12"/>
          <p:cNvSpPr/>
          <p:nvPr/>
        </p:nvSpPr>
        <p:spPr>
          <a:xfrm>
            <a:off x="8046719" y="1600200"/>
            <a:ext cx="3474720" cy="640080"/>
          </a:xfrm>
          <a:prstGeom prst="roundRect">
            <a:avLst/>
          </a:prstGeom>
          <a:solidFill>
            <a:srgbClr val="8A8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Schwebehöhe</a:t>
            </a:r>
          </a:p>
        </p:txBody>
      </p:sp>
      <p:sp>
        <p:nvSpPr>
          <p:cNvPr id="14" name="TextBox 13"/>
          <p:cNvSpPr txBox="1"/>
          <p:nvPr/>
        </p:nvSpPr>
        <p:spPr>
          <a:xfrm>
            <a:off x="8092440" y="2377440"/>
            <a:ext cx="3383280" cy="2743200"/>
          </a:xfrm>
          <a:prstGeom prst="rect">
            <a:avLst/>
          </a:prstGeom>
          <a:noFill/>
        </p:spPr>
        <p:txBody>
          <a:bodyPr wrap="square" anchor="t" lIns="45720" rIns="45720" tIns="27432" bIns="27432">
            <a:spAutoFit/>
          </a:bodyPr>
          <a:lstStyle/>
          <a:p>
            <a:pPr algn="l">
              <a:spcAft>
                <a:spcPts val="600"/>
              </a:spcAft>
            </a:pPr>
            <a:r>
              <a:rPr sz="1500" b="0" i="0">
                <a:solidFill>
                  <a:srgbClr val="222222"/>
                </a:solidFill>
                <a:latin typeface="Calibri"/>
              </a:rPr>
              <a:t>• Wahrscheinlich: angenommene Eisenpermeabilität μr = 1000 (nie gemessen).</a:t>
            </a:r>
          </a:p>
          <a:p>
            <a:pPr algn="l">
              <a:spcAft>
                <a:spcPts val="600"/>
              </a:spcAft>
            </a:pPr>
            <a:r>
              <a:rPr sz="1500" b="0" i="0">
                <a:solidFill>
                  <a:srgbClr val="222222"/>
                </a:solidFill>
                <a:latin typeface="Calibri"/>
              </a:rPr>
              <a:t>• Feldmodell mit fester Scheibenhöhe.</a:t>
            </a:r>
          </a:p>
          <a:p>
            <a:pPr algn="l">
              <a:spcAft>
                <a:spcPts val="600"/>
              </a:spcAft>
            </a:pPr>
            <a:r>
              <a:rPr sz="1500" b="0" i="0">
                <a:solidFill>
                  <a:srgbClr val="222222"/>
                </a:solidFill>
                <a:latin typeface="Calibri"/>
              </a:rPr>
              <a:t>• μr bewusst </a:t>
            </a:r>
            <a:r>
              <a:rPr sz="1500" b="1" i="0">
                <a:solidFill>
                  <a:srgbClr val="222222"/>
                </a:solidFill>
                <a:latin typeface="Calibri"/>
              </a:rPr>
              <a:t>nicht</a:t>
            </a:r>
            <a:r>
              <a:rPr sz="1500" b="0" i="0">
                <a:solidFill>
                  <a:srgbClr val="222222"/>
                </a:solidFill>
                <a:latin typeface="Calibri"/>
              </a:rPr>
              <a:t> nachträglich angepasst.</a:t>
            </a:r>
          </a:p>
        </p:txBody>
      </p:sp>
      <p:sp>
        <p:nvSpPr>
          <p:cNvPr id="15" name="Rounded Rectangle 14"/>
          <p:cNvSpPr/>
          <p:nvPr/>
        </p:nvSpPr>
        <p:spPr>
          <a:xfrm>
            <a:off x="8046719" y="5120640"/>
            <a:ext cx="3474720" cy="640080"/>
          </a:xfrm>
          <a:prstGeom prst="roundRect">
            <a:avLst/>
          </a:prstGeom>
          <a:solidFill>
            <a:srgbClr val="F2F4F7"/>
          </a:solidFill>
          <a:ln w="2540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i="0">
                <a:solidFill>
                  <a:srgbClr val="222222"/>
                </a:solidFill>
                <a:latin typeface="Calibri"/>
              </a:rPr>
              <a:t>fehlt: </a:t>
            </a:r>
            <a:r>
              <a:rPr sz="1500" b="1" i="0">
                <a:solidFill>
                  <a:srgbClr val="222222"/>
                </a:solidFill>
                <a:latin typeface="Calibri"/>
              </a:rPr>
              <a:t>Messung von μr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ABSCHLUSS</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Ausblick und Fazit</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14</a:t>
            </a:r>
          </a:p>
        </p:txBody>
      </p:sp>
      <p:sp>
        <p:nvSpPr>
          <p:cNvPr id="7" name="TextBox 6"/>
          <p:cNvSpPr txBox="1"/>
          <p:nvPr/>
        </p:nvSpPr>
        <p:spPr>
          <a:xfrm>
            <a:off x="548640" y="1554480"/>
            <a:ext cx="5943600" cy="457200"/>
          </a:xfrm>
          <a:prstGeom prst="rect">
            <a:avLst/>
          </a:prstGeom>
          <a:noFill/>
        </p:spPr>
        <p:txBody>
          <a:bodyPr wrap="square" anchor="t" lIns="45720" rIns="45720" tIns="27432" bIns="27432">
            <a:spAutoFit/>
          </a:bodyPr>
          <a:lstStyle/>
          <a:p>
            <a:pPr algn="l">
              <a:spcAft>
                <a:spcPts val="600"/>
              </a:spcAft>
            </a:pPr>
            <a:r>
              <a:rPr sz="1900" b="1" i="0">
                <a:solidFill>
                  <a:srgbClr val="1F3A5F"/>
                </a:solidFill>
                <a:latin typeface="Calibri"/>
              </a:rPr>
              <a:t>Nächste Schritte: mehr Messdaten</a:t>
            </a:r>
          </a:p>
        </p:txBody>
      </p:sp>
      <p:sp>
        <p:nvSpPr>
          <p:cNvPr id="8" name="Oval 7"/>
          <p:cNvSpPr/>
          <p:nvPr/>
        </p:nvSpPr>
        <p:spPr>
          <a:xfrm>
            <a:off x="548640" y="2148840"/>
            <a:ext cx="502920" cy="50292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FFFFFF"/>
                </a:solidFill>
                <a:latin typeface="Calibri"/>
              </a:rPr>
              <a:t>1</a:t>
            </a:r>
          </a:p>
        </p:txBody>
      </p:sp>
      <p:sp>
        <p:nvSpPr>
          <p:cNvPr id="9" name="TextBox 8"/>
          <p:cNvSpPr txBox="1"/>
          <p:nvPr/>
        </p:nvSpPr>
        <p:spPr>
          <a:xfrm>
            <a:off x="1188720" y="2194560"/>
            <a:ext cx="5120640" cy="548640"/>
          </a:xfrm>
          <a:prstGeom prst="rect">
            <a:avLst/>
          </a:prstGeom>
          <a:noFill/>
        </p:spPr>
        <p:txBody>
          <a:bodyPr wrap="square" anchor="t" lIns="45720" rIns="45720" tIns="27432" bIns="27432">
            <a:spAutoFit/>
          </a:bodyPr>
          <a:lstStyle/>
          <a:p>
            <a:pPr algn="l">
              <a:spcAft>
                <a:spcPts val="600"/>
              </a:spcAft>
            </a:pPr>
            <a:r>
              <a:rPr sz="1600" b="1" i="0">
                <a:solidFill>
                  <a:srgbClr val="222222"/>
                </a:solidFill>
                <a:latin typeface="Calibri"/>
              </a:rPr>
              <a:t>Abkühlkurve</a:t>
            </a:r>
            <a:r>
              <a:rPr sz="1600" b="0" i="0">
                <a:solidFill>
                  <a:srgbClr val="222222"/>
                </a:solidFill>
                <a:latin typeface="Calibri"/>
              </a:rPr>
              <a:t> aufnehmen → Zeitverlauf kalibrieren</a:t>
            </a:r>
          </a:p>
        </p:txBody>
      </p:sp>
      <p:sp>
        <p:nvSpPr>
          <p:cNvPr id="10" name="Oval 9"/>
          <p:cNvSpPr/>
          <p:nvPr/>
        </p:nvSpPr>
        <p:spPr>
          <a:xfrm>
            <a:off x="548640" y="2926080"/>
            <a:ext cx="502920" cy="50292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FFFFFF"/>
                </a:solidFill>
                <a:latin typeface="Calibri"/>
              </a:rPr>
              <a:t>2</a:t>
            </a:r>
          </a:p>
        </p:txBody>
      </p:sp>
      <p:sp>
        <p:nvSpPr>
          <p:cNvPr id="11" name="TextBox 10"/>
          <p:cNvSpPr txBox="1"/>
          <p:nvPr/>
        </p:nvSpPr>
        <p:spPr>
          <a:xfrm>
            <a:off x="1188720" y="2971800"/>
            <a:ext cx="5120640" cy="548640"/>
          </a:xfrm>
          <a:prstGeom prst="rect">
            <a:avLst/>
          </a:prstGeom>
          <a:noFill/>
        </p:spPr>
        <p:txBody>
          <a:bodyPr wrap="square" anchor="t" lIns="45720" rIns="45720" tIns="27432" bIns="27432">
            <a:spAutoFit/>
          </a:bodyPr>
          <a:lstStyle/>
          <a:p>
            <a:pPr algn="l">
              <a:spcAft>
                <a:spcPts val="600"/>
              </a:spcAft>
            </a:pPr>
            <a:r>
              <a:rPr sz="1600" b="1" i="0">
                <a:solidFill>
                  <a:srgbClr val="222222"/>
                </a:solidFill>
                <a:latin typeface="Calibri"/>
              </a:rPr>
              <a:t>Mattschwarzer Messfleck</a:t>
            </a:r>
            <a:r>
              <a:rPr sz="1600" b="0" i="0">
                <a:solidFill>
                  <a:srgbClr val="222222"/>
                </a:solidFill>
                <a:latin typeface="Calibri"/>
              </a:rPr>
              <a:t> → verlässliche IR-Werte</a:t>
            </a:r>
          </a:p>
        </p:txBody>
      </p:sp>
      <p:sp>
        <p:nvSpPr>
          <p:cNvPr id="12" name="Oval 11"/>
          <p:cNvSpPr/>
          <p:nvPr/>
        </p:nvSpPr>
        <p:spPr>
          <a:xfrm>
            <a:off x="548640" y="3703320"/>
            <a:ext cx="502920" cy="50292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FFFFFF"/>
                </a:solidFill>
                <a:latin typeface="Calibri"/>
              </a:rPr>
              <a:t>3</a:t>
            </a:r>
          </a:p>
        </p:txBody>
      </p:sp>
      <p:sp>
        <p:nvSpPr>
          <p:cNvPr id="13" name="TextBox 12"/>
          <p:cNvSpPr txBox="1"/>
          <p:nvPr/>
        </p:nvSpPr>
        <p:spPr>
          <a:xfrm>
            <a:off x="1188720" y="3749039"/>
            <a:ext cx="5120640" cy="548640"/>
          </a:xfrm>
          <a:prstGeom prst="rect">
            <a:avLst/>
          </a:prstGeom>
          <a:noFill/>
        </p:spPr>
        <p:txBody>
          <a:bodyPr wrap="square" anchor="t" lIns="45720" rIns="45720" tIns="27432" bIns="27432">
            <a:spAutoFit/>
          </a:bodyPr>
          <a:lstStyle/>
          <a:p>
            <a:pPr algn="l">
              <a:spcAft>
                <a:spcPts val="600"/>
              </a:spcAft>
            </a:pPr>
            <a:r>
              <a:rPr sz="1600" b="1" i="0">
                <a:solidFill>
                  <a:srgbClr val="222222"/>
                </a:solidFill>
                <a:latin typeface="Calibri"/>
              </a:rPr>
              <a:t>Eisenpermeabilität</a:t>
            </a:r>
            <a:r>
              <a:rPr sz="1600" b="0" i="0">
                <a:solidFill>
                  <a:srgbClr val="222222"/>
                </a:solidFill>
                <a:latin typeface="Calibri"/>
              </a:rPr>
              <a:t> messen → Schwebehöhe klären</a:t>
            </a:r>
          </a:p>
        </p:txBody>
      </p:sp>
      <p:sp>
        <p:nvSpPr>
          <p:cNvPr id="14" name="Oval 13"/>
          <p:cNvSpPr/>
          <p:nvPr/>
        </p:nvSpPr>
        <p:spPr>
          <a:xfrm>
            <a:off x="548640" y="4480560"/>
            <a:ext cx="502920" cy="50292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FFFFFF"/>
                </a:solidFill>
                <a:latin typeface="Calibri"/>
              </a:rPr>
              <a:t>4</a:t>
            </a:r>
          </a:p>
        </p:txBody>
      </p:sp>
      <p:sp>
        <p:nvSpPr>
          <p:cNvPr id="15" name="TextBox 14"/>
          <p:cNvSpPr txBox="1"/>
          <p:nvPr/>
        </p:nvSpPr>
        <p:spPr>
          <a:xfrm>
            <a:off x="1188720" y="4526280"/>
            <a:ext cx="5120640" cy="548640"/>
          </a:xfrm>
          <a:prstGeom prst="rect">
            <a:avLst/>
          </a:prstGeom>
          <a:noFill/>
        </p:spPr>
        <p:txBody>
          <a:bodyPr wrap="square" anchor="t" lIns="45720" rIns="45720" tIns="27432" bIns="27432">
            <a:spAutoFit/>
          </a:bodyPr>
          <a:lstStyle/>
          <a:p>
            <a:pPr algn="l">
              <a:spcAft>
                <a:spcPts val="600"/>
              </a:spcAft>
            </a:pPr>
            <a:r>
              <a:rPr sz="1600" b="1" i="0">
                <a:solidFill>
                  <a:srgbClr val="222222"/>
                </a:solidFill>
                <a:latin typeface="Calibri"/>
              </a:rPr>
              <a:t>Stromsensor</a:t>
            </a:r>
            <a:r>
              <a:rPr sz="1600" b="0" i="0">
                <a:solidFill>
                  <a:srgbClr val="222222"/>
                </a:solidFill>
                <a:latin typeface="Calibri"/>
              </a:rPr>
              <a:t> einbauen → Modell mit gemessenem Strom</a:t>
            </a:r>
          </a:p>
        </p:txBody>
      </p:sp>
      <p:sp>
        <p:nvSpPr>
          <p:cNvPr id="16" name="Oval 15"/>
          <p:cNvSpPr/>
          <p:nvPr/>
        </p:nvSpPr>
        <p:spPr>
          <a:xfrm>
            <a:off x="548640" y="5257800"/>
            <a:ext cx="502920" cy="502920"/>
          </a:xfrm>
          <a:prstGeom prst="ellipse">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i="0">
                <a:solidFill>
                  <a:srgbClr val="FFFFFF"/>
                </a:solidFill>
                <a:latin typeface="Calibri"/>
              </a:rPr>
              <a:t>5</a:t>
            </a:r>
          </a:p>
        </p:txBody>
      </p:sp>
      <p:sp>
        <p:nvSpPr>
          <p:cNvPr id="17" name="TextBox 16"/>
          <p:cNvSpPr txBox="1"/>
          <p:nvPr/>
        </p:nvSpPr>
        <p:spPr>
          <a:xfrm>
            <a:off x="1188720" y="5303520"/>
            <a:ext cx="5120640" cy="548640"/>
          </a:xfrm>
          <a:prstGeom prst="rect">
            <a:avLst/>
          </a:prstGeom>
          <a:noFill/>
        </p:spPr>
        <p:txBody>
          <a:bodyPr wrap="square" anchor="t" lIns="45720" rIns="45720" tIns="27432" bIns="27432">
            <a:spAutoFit/>
          </a:bodyPr>
          <a:lstStyle/>
          <a:p>
            <a:pPr algn="l">
              <a:spcAft>
                <a:spcPts val="600"/>
              </a:spcAft>
            </a:pPr>
            <a:r>
              <a:rPr sz="1600" b="1" i="0">
                <a:solidFill>
                  <a:srgbClr val="222222"/>
                </a:solidFill>
                <a:latin typeface="Calibri"/>
              </a:rPr>
              <a:t>Unabhängiger Messpunkt bei 5 A</a:t>
            </a:r>
            <a:r>
              <a:rPr sz="1600" b="0" i="0">
                <a:solidFill>
                  <a:srgbClr val="222222"/>
                </a:solidFill>
                <a:latin typeface="Calibri"/>
              </a:rPr>
              <a:t> → Kalibrierung prüfen, nicht nur anpassen</a:t>
            </a:r>
          </a:p>
        </p:txBody>
      </p:sp>
      <p:sp>
        <p:nvSpPr>
          <p:cNvPr id="18" name="Rounded Rectangle 17"/>
          <p:cNvSpPr/>
          <p:nvPr/>
        </p:nvSpPr>
        <p:spPr>
          <a:xfrm>
            <a:off x="6675120" y="1600200"/>
            <a:ext cx="4937760" cy="5943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900" b="1" i="0">
                <a:solidFill>
                  <a:srgbClr val="FFFFFF"/>
                </a:solidFill>
                <a:latin typeface="Calibri"/>
              </a:rPr>
              <a:t>Fazit</a:t>
            </a:r>
          </a:p>
        </p:txBody>
      </p:sp>
      <p:sp>
        <p:nvSpPr>
          <p:cNvPr id="19" name="TextBox 18"/>
          <p:cNvSpPr txBox="1"/>
          <p:nvPr/>
        </p:nvSpPr>
        <p:spPr>
          <a:xfrm>
            <a:off x="6675120" y="2331720"/>
            <a:ext cx="4937760" cy="3291840"/>
          </a:xfrm>
          <a:prstGeom prst="rect">
            <a:avLst/>
          </a:prstGeom>
          <a:noFill/>
        </p:spPr>
        <p:txBody>
          <a:bodyPr wrap="square" anchor="t" lIns="45720" rIns="45720" tIns="27432" bIns="27432">
            <a:spAutoFit/>
          </a:bodyPr>
          <a:lstStyle/>
          <a:p>
            <a:pPr algn="l">
              <a:spcAft>
                <a:spcPts val="600"/>
              </a:spcAft>
            </a:pPr>
            <a:r>
              <a:rPr sz="1700" b="0" i="0">
                <a:solidFill>
                  <a:srgbClr val="222222"/>
                </a:solidFill>
                <a:latin typeface="Calibri"/>
              </a:rPr>
              <a:t>• FEM mit tausenden Unbekannten → </a:t>
            </a:r>
            <a:r>
              <a:rPr sz="1700" b="1" i="0">
                <a:solidFill>
                  <a:srgbClr val="222222"/>
                </a:solidFill>
                <a:latin typeface="Calibri"/>
              </a:rPr>
              <a:t>ROM mit 8 Zuständen</a:t>
            </a:r>
            <a:r>
              <a:rPr sz="1700" b="0" i="0">
                <a:solidFill>
                  <a:srgbClr val="222222"/>
                </a:solidFill>
                <a:latin typeface="Calibri"/>
              </a:rPr>
              <a:t>, ≈ 3 µs pro Schritt</a:t>
            </a:r>
          </a:p>
          <a:p>
            <a:pPr algn="l">
              <a:spcAft>
                <a:spcPts val="600"/>
              </a:spcAft>
            </a:pPr>
            <a:r>
              <a:rPr sz="1700" b="0" i="0">
                <a:solidFill>
                  <a:srgbClr val="222222"/>
                </a:solidFill>
                <a:latin typeface="Calibri"/>
              </a:rPr>
              <a:t>• Reduzierbarkeit </a:t>
            </a:r>
            <a:r>
              <a:rPr sz="1700" b="1" i="0">
                <a:solidFill>
                  <a:srgbClr val="222222"/>
                </a:solidFill>
                <a:latin typeface="Calibri"/>
              </a:rPr>
              <a:t>geprüft</a:t>
            </a:r>
            <a:r>
              <a:rPr sz="1700" b="0" i="0">
                <a:solidFill>
                  <a:srgbClr val="222222"/>
                </a:solidFill>
                <a:latin typeface="Calibri"/>
              </a:rPr>
              <a:t>, nicht angenommen (Linearität, Eigenwertlücke 47, Fehler 0,36 K)</a:t>
            </a:r>
          </a:p>
          <a:p>
            <a:pPr algn="l">
              <a:spcAft>
                <a:spcPts val="600"/>
              </a:spcAft>
            </a:pPr>
            <a:r>
              <a:rPr sz="1700" b="0" i="0">
                <a:solidFill>
                  <a:srgbClr val="222222"/>
                </a:solidFill>
                <a:latin typeface="Calibri"/>
              </a:rPr>
              <a:t>• Stationär kalibriert; Zeitverlauf noch zu langsam – </a:t>
            </a:r>
            <a:r>
              <a:rPr sz="1700" b="1" i="0">
                <a:solidFill>
                  <a:srgbClr val="222222"/>
                </a:solidFill>
                <a:latin typeface="Calibri"/>
              </a:rPr>
              <a:t>Ursachen bekannt</a:t>
            </a:r>
          </a:p>
          <a:p>
            <a:pPr algn="l">
              <a:spcAft>
                <a:spcPts val="600"/>
              </a:spcAft>
            </a:pPr>
            <a:r>
              <a:rPr sz="1700" b="0" i="0">
                <a:solidFill>
                  <a:srgbClr val="222222"/>
                </a:solidFill>
                <a:latin typeface="Calibri"/>
              </a:rPr>
              <a:t>• Vorgehen auf 3D-Modelle übertragbar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1097280"/>
          </a:xfrm>
          <a:prstGeom prst="rect">
            <a:avLst/>
          </a:prstGeom>
          <a:noFill/>
        </p:spPr>
        <p:txBody>
          <a:bodyPr wrap="square" anchor="t" lIns="45720" rIns="45720" tIns="27432" bIns="27432">
            <a:spAutoFit/>
          </a:bodyPr>
          <a:lstStyle/>
          <a:p>
            <a:pPr algn="ctr">
              <a:spcAft>
                <a:spcPts val="600"/>
              </a:spcAft>
            </a:pPr>
            <a:r>
              <a:rPr sz="4800" b="0" i="0">
                <a:solidFill>
                  <a:srgbClr val="FFFFFF"/>
                </a:solidFill>
                <a:latin typeface="Calibri"/>
              </a:rPr>
              <a:t>Vielen Dank!</a:t>
            </a:r>
          </a:p>
        </p:txBody>
      </p:sp>
      <p:sp>
        <p:nvSpPr>
          <p:cNvPr id="4" name="TextBox 3"/>
          <p:cNvSpPr txBox="1"/>
          <p:nvPr/>
        </p:nvSpPr>
        <p:spPr>
          <a:xfrm>
            <a:off x="731520" y="3383280"/>
            <a:ext cx="10698480" cy="731520"/>
          </a:xfrm>
          <a:prstGeom prst="rect">
            <a:avLst/>
          </a:prstGeom>
          <a:noFill/>
        </p:spPr>
        <p:txBody>
          <a:bodyPr wrap="square" anchor="t" lIns="45720" rIns="45720" tIns="27432" bIns="27432">
            <a:spAutoFit/>
          </a:bodyPr>
          <a:lstStyle/>
          <a:p>
            <a:pPr algn="ctr">
              <a:spcAft>
                <a:spcPts val="600"/>
              </a:spcAft>
            </a:pPr>
            <a:r>
              <a:rPr sz="2600" b="0" i="0">
                <a:solidFill>
                  <a:srgbClr val="F0B284"/>
                </a:solidFill>
                <a:latin typeface="Calibri"/>
              </a:rPr>
              <a:t>Fragen und Diskussion</a:t>
            </a:r>
          </a:p>
        </p:txBody>
      </p:sp>
      <p:sp>
        <p:nvSpPr>
          <p:cNvPr id="5" name="TextBox 4"/>
          <p:cNvSpPr txBox="1"/>
          <p:nvPr/>
        </p:nvSpPr>
        <p:spPr>
          <a:xfrm>
            <a:off x="731520" y="4754880"/>
            <a:ext cx="10698480" cy="548640"/>
          </a:xfrm>
          <a:prstGeom prst="rect">
            <a:avLst/>
          </a:prstGeom>
          <a:noFill/>
        </p:spPr>
        <p:txBody>
          <a:bodyPr wrap="square" anchor="t" lIns="45720" rIns="45720" tIns="27432" bIns="27432">
            <a:spAutoFit/>
          </a:bodyPr>
          <a:lstStyle/>
          <a:p>
            <a:pPr algn="ctr">
              <a:spcAft>
                <a:spcPts val="600"/>
              </a:spcAft>
            </a:pPr>
            <a:r>
              <a:rPr sz="1800" b="0" i="0">
                <a:solidFill>
                  <a:srgbClr val="C9D6E8"/>
                </a:solidFill>
                <a:latin typeface="Calibri"/>
              </a:rPr>
              <a:t>Dang Minh Hoang · Marina Borchert · Mohamed Aziz El Majid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B1 · Stromkonvention: Effektivwert oder Amplitude?</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16</a:t>
            </a:r>
          </a:p>
        </p:txBody>
      </p:sp>
      <p:sp>
        <p:nvSpPr>
          <p:cNvPr id="7" name="TextBox 6"/>
          <p:cNvSpPr txBox="1"/>
          <p:nvPr/>
        </p:nvSpPr>
        <p:spPr>
          <a:xfrm>
            <a:off x="548640" y="1554480"/>
            <a:ext cx="10972800" cy="4114800"/>
          </a:xfrm>
          <a:prstGeom prst="rect">
            <a:avLst/>
          </a:prstGeom>
          <a:noFill/>
        </p:spPr>
        <p:txBody>
          <a:bodyPr wrap="square" anchor="t" lIns="45720" rIns="45720" tIns="27432" bIns="27432">
            <a:spAutoFit/>
          </a:bodyPr>
          <a:lstStyle/>
          <a:p>
            <a:pPr algn="l">
              <a:spcAft>
                <a:spcPts val="600"/>
              </a:spcAft>
            </a:pPr>
            <a:r>
              <a:rPr sz="2000" b="0" i="0">
                <a:solidFill>
                  <a:srgbClr val="222222"/>
                </a:solidFill>
                <a:latin typeface="Calibri"/>
              </a:rPr>
              <a:t>• Gemessen: </a:t>
            </a:r>
            <a:r>
              <a:rPr sz="2000" b="1" i="0">
                <a:solidFill>
                  <a:srgbClr val="222222"/>
                </a:solidFill>
                <a:latin typeface="Calibri"/>
              </a:rPr>
              <a:t>Effektivwert</a:t>
            </a:r>
            <a:r>
              <a:rPr sz="2000" b="0" i="0">
                <a:solidFill>
                  <a:srgbClr val="222222"/>
                </a:solidFill>
                <a:latin typeface="Calibri"/>
              </a:rPr>
              <a:t> I_eff = 5 A (Multimeter)</a:t>
            </a:r>
          </a:p>
          <a:p>
            <a:pPr algn="l">
              <a:spcAft>
                <a:spcPts val="600"/>
              </a:spcAft>
            </a:pPr>
            <a:r>
              <a:rPr sz="2000" b="0" i="0">
                <a:solidFill>
                  <a:srgbClr val="222222"/>
                </a:solidFill>
                <a:latin typeface="Calibri"/>
              </a:rPr>
              <a:t>• Verlustrechnung setzt 5 A als </a:t>
            </a:r>
            <a:r>
              <a:rPr sz="2000" b="1" i="0">
                <a:solidFill>
                  <a:srgbClr val="222222"/>
                </a:solidFill>
                <a:latin typeface="Calibri"/>
              </a:rPr>
              <a:t>Amplitude</a:t>
            </a:r>
            <a:r>
              <a:rPr sz="2000" b="0" i="0">
                <a:solidFill>
                  <a:srgbClr val="222222"/>
                </a:solidFill>
                <a:latin typeface="Calibri"/>
              </a:rPr>
              <a:t> ein → Wattzahlen um Faktor </a:t>
            </a:r>
            <a:r>
              <a:rPr sz="2000" b="1" i="0">
                <a:solidFill>
                  <a:srgbClr val="222222"/>
                </a:solidFill>
                <a:latin typeface="Calibri"/>
              </a:rPr>
              <a:t>2</a:t>
            </a:r>
            <a:r>
              <a:rPr sz="2000" b="0" i="0">
                <a:solidFill>
                  <a:srgbClr val="222222"/>
                </a:solidFill>
                <a:latin typeface="Calibri"/>
              </a:rPr>
              <a:t> zu klein (P ∝ I²)</a:t>
            </a:r>
          </a:p>
          <a:p>
            <a:pPr algn="l">
              <a:spcAft>
                <a:spcPts val="600"/>
              </a:spcAft>
            </a:pPr>
            <a:r>
              <a:rPr sz="2000" b="0" i="0">
                <a:solidFill>
                  <a:srgbClr val="222222"/>
                </a:solidFill>
                <a:latin typeface="Calibri"/>
              </a:rPr>
              <a:t>• Temperatur: </a:t>
            </a:r>
            <a:r>
              <a:rPr sz="2000" b="1" i="0">
                <a:solidFill>
                  <a:srgbClr val="222222"/>
                </a:solidFill>
                <a:latin typeface="Calibri"/>
              </a:rPr>
              <a:t>unschädlich</a:t>
            </a:r>
            <a:r>
              <a:rPr sz="2000" b="0" i="0">
                <a:solidFill>
                  <a:srgbClr val="222222"/>
                </a:solidFill>
                <a:latin typeface="Calibri"/>
              </a:rPr>
              <a:t> – hA wird an gemessenen Temperaturen kalibriert und fängt den Faktor auf</a:t>
            </a:r>
          </a:p>
          <a:p>
            <a:pPr algn="l">
              <a:spcAft>
                <a:spcPts val="600"/>
              </a:spcAft>
            </a:pPr>
            <a:r>
              <a:rPr sz="2000" b="0" i="0">
                <a:solidFill>
                  <a:srgbClr val="222222"/>
                </a:solidFill>
                <a:latin typeface="Calibri"/>
              </a:rPr>
              <a:t>• Kraftrechnung (Schwebehöhe) nutzt die echte Amplitude  √2 · 5 A = </a:t>
            </a:r>
            <a:r>
              <a:rPr sz="2000" b="1" i="0">
                <a:solidFill>
                  <a:srgbClr val="222222"/>
                </a:solidFill>
                <a:latin typeface="Calibri"/>
              </a:rPr>
              <a:t>7,07 A</a:t>
            </a:r>
          </a:p>
          <a:p>
            <a:pPr algn="l">
              <a:spcAft>
                <a:spcPts val="600"/>
              </a:spcAft>
            </a:pPr>
            <a:r>
              <a:rPr sz="2000" b="0" i="0">
                <a:solidFill>
                  <a:srgbClr val="5F6670"/>
                </a:solidFill>
                <a:latin typeface="Calibri"/>
              </a:rPr>
              <a:t>• Grenze: Absolutwerte der Verluste (Tabelle) sind nicht direkt vergleichbar mit einer Leistungsmessung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B2 · Magnetische Sättigung</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17</a:t>
            </a:r>
          </a:p>
        </p:txBody>
      </p:sp>
      <p:sp>
        <p:nvSpPr>
          <p:cNvPr id="7" name="TextBox 6"/>
          <p:cNvSpPr txBox="1"/>
          <p:nvPr/>
        </p:nvSpPr>
        <p:spPr>
          <a:xfrm>
            <a:off x="548640" y="1554480"/>
            <a:ext cx="10972800" cy="4114800"/>
          </a:xfrm>
          <a:prstGeom prst="rect">
            <a:avLst/>
          </a:prstGeom>
          <a:noFill/>
        </p:spPr>
        <p:txBody>
          <a:bodyPr wrap="square" anchor="t" lIns="45720" rIns="45720" tIns="27432" bIns="27432">
            <a:spAutoFit/>
          </a:bodyPr>
          <a:lstStyle/>
          <a:p>
            <a:pPr algn="l">
              <a:spcAft>
                <a:spcPts val="600"/>
              </a:spcAft>
            </a:pPr>
            <a:r>
              <a:rPr sz="2000" b="0" i="0">
                <a:solidFill>
                  <a:srgbClr val="222222"/>
                </a:solidFill>
                <a:latin typeface="Calibri"/>
              </a:rPr>
              <a:t>• Konstantes μr → Flussdichte proportional zum Strom</a:t>
            </a:r>
          </a:p>
          <a:p>
            <a:pPr algn="l">
              <a:spcAft>
                <a:spcPts val="600"/>
              </a:spcAft>
            </a:pPr>
            <a:r>
              <a:rPr sz="2000" b="0" i="0">
                <a:solidFill>
                  <a:srgbClr val="222222"/>
                </a:solidFill>
                <a:latin typeface="Calibri"/>
              </a:rPr>
              <a:t>• Linear hochgerechnet: Spitzenwert im Eisen ≈ </a:t>
            </a:r>
            <a:r>
              <a:rPr sz="2000" b="1" i="0">
                <a:solidFill>
                  <a:srgbClr val="222222"/>
                </a:solidFill>
                <a:latin typeface="Calibri"/>
              </a:rPr>
              <a:t>0,96 T bei 5 A eff.</a:t>
            </a:r>
            <a:r>
              <a:rPr sz="2000" b="0" i="0">
                <a:solidFill>
                  <a:srgbClr val="222222"/>
                </a:solidFill>
                <a:latin typeface="Calibri"/>
              </a:rPr>
              <a:t> (64 % von 1,5 T)</a:t>
            </a:r>
          </a:p>
          <a:p>
            <a:pPr algn="l">
              <a:spcAft>
                <a:spcPts val="600"/>
              </a:spcAft>
            </a:pPr>
            <a:r>
              <a:rPr sz="2000" b="0" i="0">
                <a:solidFill>
                  <a:srgbClr val="222222"/>
                </a:solidFill>
                <a:latin typeface="Calibri"/>
              </a:rPr>
              <a:t>• ≈ </a:t>
            </a:r>
            <a:r>
              <a:rPr sz="2000" b="1" i="0">
                <a:solidFill>
                  <a:srgbClr val="222222"/>
                </a:solidFill>
                <a:latin typeface="Calibri"/>
              </a:rPr>
              <a:t>1,5 T bei 7,8 A eff.</a:t>
            </a:r>
            <a:r>
              <a:rPr sz="2000" b="0" i="0">
                <a:solidFill>
                  <a:srgbClr val="222222"/>
                </a:solidFill>
                <a:latin typeface="Calibri"/>
              </a:rPr>
              <a:t> → dort gilt Reduktion A nur näherungsweise</a:t>
            </a:r>
          </a:p>
          <a:p>
            <a:pPr algn="l">
              <a:spcAft>
                <a:spcPts val="600"/>
              </a:spcAft>
            </a:pPr>
            <a:r>
              <a:rPr sz="2000" b="0" i="0">
                <a:solidFill>
                  <a:srgbClr val="222222"/>
                </a:solidFill>
                <a:latin typeface="Calibri"/>
              </a:rPr>
              <a:t>• Mit Eisenkorrektur (iterativ, 2 Iterationen): Verlustverhältnis 4,009 statt 4,000</a:t>
            </a:r>
          </a:p>
          <a:p>
            <a:pPr algn="l">
              <a:spcAft>
                <a:spcPts val="600"/>
              </a:spcAft>
            </a:pPr>
            <a:r>
              <a:rPr sz="2000" b="0" i="0">
                <a:solidFill>
                  <a:srgbClr val="5F6670"/>
                </a:solidFill>
                <a:latin typeface="Calibri"/>
              </a:rPr>
              <a:t>• Lineare Hochrechnung überschätzt leicht [E5]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B3 · Skintiefe, Biot-Zahl, Zeitkonstante</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18</a:t>
            </a:r>
          </a:p>
        </p:txBody>
      </p:sp>
      <p:sp>
        <p:nvSpPr>
          <p:cNvPr id="7" name="TextBox 6"/>
          <p:cNvSpPr txBox="1"/>
          <p:nvPr/>
        </p:nvSpPr>
        <p:spPr>
          <a:xfrm>
            <a:off x="548640" y="1554480"/>
            <a:ext cx="10972800" cy="4389120"/>
          </a:xfrm>
          <a:prstGeom prst="rect">
            <a:avLst/>
          </a:prstGeom>
          <a:noFill/>
        </p:spPr>
        <p:txBody>
          <a:bodyPr wrap="square" anchor="t" lIns="45720" rIns="45720" tIns="27432" bIns="27432">
            <a:spAutoFit/>
          </a:bodyPr>
          <a:lstStyle/>
          <a:p>
            <a:pPr algn="l">
              <a:spcAft>
                <a:spcPts val="600"/>
              </a:spcAft>
            </a:pPr>
            <a:r>
              <a:rPr sz="1900" b="0" i="0">
                <a:solidFill>
                  <a:srgbClr val="222222"/>
                </a:solidFill>
                <a:latin typeface="Calibri"/>
              </a:rPr>
              <a:t>• Skintiefe Al bei 50 Hz:  δ = √(2 / (ω μ₀ σ)) = </a:t>
            </a:r>
            <a:r>
              <a:rPr sz="1900" b="1" i="0">
                <a:solidFill>
                  <a:srgbClr val="222222"/>
                </a:solidFill>
                <a:latin typeface="Calibri"/>
              </a:rPr>
              <a:t>12,2 mm</a:t>
            </a:r>
            <a:r>
              <a:rPr sz="1900" b="0" i="0">
                <a:solidFill>
                  <a:srgbClr val="222222"/>
                </a:solidFill>
                <a:latin typeface="Calibri"/>
              </a:rPr>
              <a:t> ≫ 3 mm  → Wirbelstrom über die Dicke fast gleich</a:t>
            </a:r>
          </a:p>
          <a:p>
            <a:pPr algn="l">
              <a:spcAft>
                <a:spcPts val="600"/>
              </a:spcAft>
            </a:pPr>
            <a:r>
              <a:rPr sz="1900" b="0" i="0">
                <a:solidFill>
                  <a:srgbClr val="222222"/>
                </a:solidFill>
                <a:latin typeface="Calibri"/>
              </a:rPr>
              <a:t>• Biot-Zahl:  Bi = h (d/2) / k = 25 · 0,0015 / 237 = </a:t>
            </a:r>
            <a:r>
              <a:rPr sz="1900" b="1" i="0">
                <a:solidFill>
                  <a:srgbClr val="222222"/>
                </a:solidFill>
                <a:latin typeface="Calibri"/>
              </a:rPr>
              <a:t>1,6 · 10⁻⁴</a:t>
            </a:r>
            <a:r>
              <a:rPr sz="1900" b="0" i="0">
                <a:solidFill>
                  <a:srgbClr val="222222"/>
                </a:solidFill>
                <a:latin typeface="Calibri"/>
              </a:rPr>
              <a:t> ≪ 0,1  → Scheibe nahezu gleichmäßig warm</a:t>
            </a:r>
          </a:p>
          <a:p>
            <a:pPr algn="l">
              <a:spcAft>
                <a:spcPts val="600"/>
              </a:spcAft>
            </a:pPr>
            <a:r>
              <a:rPr sz="1900" b="0" i="0">
                <a:solidFill>
                  <a:srgbClr val="222222"/>
                </a:solidFill>
                <a:latin typeface="Calibri"/>
              </a:rPr>
              <a:t>• Wärmekapazität:  C = ρ c_p π R² d = </a:t>
            </a:r>
            <a:r>
              <a:rPr sz="1900" b="1" i="0">
                <a:solidFill>
                  <a:srgbClr val="222222"/>
                </a:solidFill>
                <a:latin typeface="Calibri"/>
              </a:rPr>
              <a:t>146,6 J/K</a:t>
            </a:r>
          </a:p>
          <a:p>
            <a:pPr algn="l">
              <a:spcAft>
                <a:spcPts val="600"/>
              </a:spcAft>
            </a:pPr>
            <a:r>
              <a:rPr sz="1900" b="0" i="0">
                <a:solidFill>
                  <a:srgbClr val="222222"/>
                </a:solidFill>
                <a:latin typeface="Calibri"/>
              </a:rPr>
              <a:t>• Wärmeabgabe:  UA = P_ref / ΔT̄ = 25,81 / 43,03 = </a:t>
            </a:r>
            <a:r>
              <a:rPr sz="1900" b="1" i="0">
                <a:solidFill>
                  <a:srgbClr val="222222"/>
                </a:solidFill>
                <a:latin typeface="Calibri"/>
              </a:rPr>
              <a:t>0,600 W/K</a:t>
            </a:r>
          </a:p>
          <a:p>
            <a:pPr algn="l">
              <a:spcAft>
                <a:spcPts val="600"/>
              </a:spcAft>
            </a:pPr>
            <a:r>
              <a:rPr sz="1900" b="0" i="0">
                <a:solidFill>
                  <a:srgbClr val="222222"/>
                </a:solidFill>
                <a:latin typeface="Calibri"/>
              </a:rPr>
              <a:t>• Zeitkonstante:  τ = C / UA = </a:t>
            </a:r>
            <a:r>
              <a:rPr sz="1900" b="1" i="0">
                <a:solidFill>
                  <a:srgbClr val="222222"/>
                </a:solidFill>
                <a:latin typeface="Calibri"/>
              </a:rPr>
              <a:t>244 s</a:t>
            </a:r>
            <a:r>
              <a:rPr sz="1900" b="0" i="0">
                <a:solidFill>
                  <a:srgbClr val="222222"/>
                </a:solidFill>
                <a:latin typeface="Calibri"/>
              </a:rPr>
              <a:t> ≈ 4 min   (Eigenproblem: τ₁ = 204 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B4 · Was ist gemessen, angenommen, kalibriert?</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19</a:t>
            </a:r>
          </a:p>
        </p:txBody>
      </p:sp>
      <p:sp>
        <p:nvSpPr>
          <p:cNvPr id="7" name="Rounded Rectangle 6"/>
          <p:cNvSpPr/>
          <p:nvPr/>
        </p:nvSpPr>
        <p:spPr>
          <a:xfrm>
            <a:off x="548640" y="1600200"/>
            <a:ext cx="3474720" cy="594360"/>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gemessen</a:t>
            </a:r>
          </a:p>
        </p:txBody>
      </p:sp>
      <p:sp>
        <p:nvSpPr>
          <p:cNvPr id="8" name="Rounded Rectangle 7"/>
          <p:cNvSpPr/>
          <p:nvPr/>
        </p:nvSpPr>
        <p:spPr>
          <a:xfrm>
            <a:off x="4297679" y="1600200"/>
            <a:ext cx="3474720" cy="59436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angenommen</a:t>
            </a:r>
          </a:p>
        </p:txBody>
      </p:sp>
      <p:sp>
        <p:nvSpPr>
          <p:cNvPr id="9" name="Rounded Rectangle 8"/>
          <p:cNvSpPr/>
          <p:nvPr/>
        </p:nvSpPr>
        <p:spPr>
          <a:xfrm>
            <a:off x="8046719" y="1600200"/>
            <a:ext cx="3474720" cy="594360"/>
          </a:xfrm>
          <a:prstGeom prst="roundRect">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i="0">
                <a:solidFill>
                  <a:srgbClr val="FFFFFF"/>
                </a:solidFill>
                <a:latin typeface="Calibri"/>
              </a:rPr>
              <a:t>kalibriert</a:t>
            </a:r>
          </a:p>
        </p:txBody>
      </p:sp>
      <p:sp>
        <p:nvSpPr>
          <p:cNvPr id="10" name="TextBox 9"/>
          <p:cNvSpPr txBox="1"/>
          <p:nvPr/>
        </p:nvSpPr>
        <p:spPr>
          <a:xfrm>
            <a:off x="548640" y="2331720"/>
            <a:ext cx="3474720" cy="3657600"/>
          </a:xfrm>
          <a:prstGeom prst="rect">
            <a:avLst/>
          </a:prstGeom>
          <a:noFill/>
        </p:spPr>
        <p:txBody>
          <a:bodyPr wrap="square" anchor="t" lIns="45720" rIns="45720" tIns="27432" bIns="27432">
            <a:spAutoFit/>
          </a:bodyPr>
          <a:lstStyle/>
          <a:p>
            <a:pPr algn="l">
              <a:spcAft>
                <a:spcPts val="600"/>
              </a:spcAft>
            </a:pPr>
            <a:r>
              <a:rPr sz="1600" b="0" i="0">
                <a:solidFill>
                  <a:srgbClr val="222222"/>
                </a:solidFill>
                <a:latin typeface="Calibri"/>
              </a:rPr>
              <a:t>• Radien, Höhe (Lineal)</a:t>
            </a:r>
          </a:p>
          <a:p>
            <a:pPr algn="l">
              <a:spcAft>
                <a:spcPts val="600"/>
              </a:spcAft>
            </a:pPr>
            <a:r>
              <a:rPr sz="1600" b="0" i="0">
                <a:solidFill>
                  <a:srgbClr val="222222"/>
                </a:solidFill>
                <a:latin typeface="Calibri"/>
              </a:rPr>
              <a:t>• Scheibe 80 mm / 3 mm / 159–163 g</a:t>
            </a:r>
          </a:p>
          <a:p>
            <a:pPr algn="l">
              <a:spcAft>
                <a:spcPts val="600"/>
              </a:spcAft>
            </a:pPr>
            <a:r>
              <a:rPr sz="1600" b="0" i="0">
                <a:solidFill>
                  <a:srgbClr val="222222"/>
                </a:solidFill>
                <a:latin typeface="Calibri"/>
              </a:rPr>
              <a:t>• Strom 5,0 / 7,8 A eff.</a:t>
            </a:r>
          </a:p>
          <a:p>
            <a:pPr algn="l">
              <a:spcAft>
                <a:spcPts val="600"/>
              </a:spcAft>
            </a:pPr>
            <a:r>
              <a:rPr sz="1600" b="0" i="0">
                <a:solidFill>
                  <a:srgbClr val="222222"/>
                </a:solidFill>
                <a:latin typeface="Calibri"/>
              </a:rPr>
              <a:t>• Variac 220° / 270°</a:t>
            </a:r>
          </a:p>
          <a:p>
            <a:pPr algn="l">
              <a:spcAft>
                <a:spcPts val="600"/>
              </a:spcAft>
            </a:pPr>
            <a:r>
              <a:rPr sz="1600" b="0" i="0">
                <a:solidFill>
                  <a:srgbClr val="222222"/>
                </a:solidFill>
                <a:latin typeface="Calibri"/>
              </a:rPr>
              <a:t>• IR: Spulen 79 / 74 °C (7,8 A)</a:t>
            </a:r>
          </a:p>
          <a:p>
            <a:pPr algn="l">
              <a:spcAft>
                <a:spcPts val="600"/>
              </a:spcAft>
            </a:pPr>
            <a:r>
              <a:rPr sz="1600" b="0" i="0">
                <a:solidFill>
                  <a:srgbClr val="222222"/>
                </a:solidFill>
                <a:latin typeface="Calibri"/>
              </a:rPr>
              <a:t>• IR-Rampe Außenspule</a:t>
            </a:r>
          </a:p>
          <a:p>
            <a:pPr algn="l">
              <a:spcAft>
                <a:spcPts val="600"/>
              </a:spcAft>
            </a:pPr>
            <a:r>
              <a:rPr sz="1600" b="0" i="0">
                <a:solidFill>
                  <a:srgbClr val="222222"/>
                </a:solidFill>
                <a:latin typeface="Calibri"/>
              </a:rPr>
              <a:t>• Schwebehöhe 7–8 mm</a:t>
            </a:r>
          </a:p>
        </p:txBody>
      </p:sp>
      <p:sp>
        <p:nvSpPr>
          <p:cNvPr id="11" name="TextBox 10"/>
          <p:cNvSpPr txBox="1"/>
          <p:nvPr/>
        </p:nvSpPr>
        <p:spPr>
          <a:xfrm>
            <a:off x="4297680" y="2331720"/>
            <a:ext cx="3474720" cy="3657600"/>
          </a:xfrm>
          <a:prstGeom prst="rect">
            <a:avLst/>
          </a:prstGeom>
          <a:noFill/>
        </p:spPr>
        <p:txBody>
          <a:bodyPr wrap="square" anchor="t" lIns="45720" rIns="45720" tIns="27432" bIns="27432">
            <a:spAutoFit/>
          </a:bodyPr>
          <a:lstStyle/>
          <a:p>
            <a:pPr algn="l">
              <a:spcAft>
                <a:spcPts val="600"/>
              </a:spcAft>
            </a:pPr>
            <a:r>
              <a:rPr sz="1600" b="0" i="0">
                <a:solidFill>
                  <a:srgbClr val="222222"/>
                </a:solidFill>
                <a:latin typeface="Calibri"/>
              </a:rPr>
              <a:t>• Eisen μr = 1000, σ = 1 MS/m</a:t>
            </a:r>
          </a:p>
          <a:p>
            <a:pPr algn="l">
              <a:spcAft>
                <a:spcPts val="600"/>
              </a:spcAft>
            </a:pPr>
            <a:r>
              <a:rPr sz="1600" b="0" i="0">
                <a:solidFill>
                  <a:srgbClr val="222222"/>
                </a:solidFill>
                <a:latin typeface="Calibri"/>
              </a:rPr>
              <a:t>• Wärmeübergänge Scheibe (10 / 25 W/m²K)</a:t>
            </a:r>
          </a:p>
          <a:p>
            <a:pPr algn="l">
              <a:spcAft>
                <a:spcPts val="600"/>
              </a:spcAft>
            </a:pPr>
            <a:r>
              <a:rPr sz="1600" b="0" i="0">
                <a:solidFill>
                  <a:srgbClr val="222222"/>
                </a:solidFill>
                <a:latin typeface="Calibri"/>
              </a:rPr>
              <a:t>• Luftknoten C, hA</a:t>
            </a:r>
          </a:p>
          <a:p>
            <a:pPr algn="l">
              <a:spcAft>
                <a:spcPts val="600"/>
              </a:spcAft>
            </a:pPr>
            <a:r>
              <a:rPr sz="1600" b="0" i="0">
                <a:solidFill>
                  <a:srgbClr val="222222"/>
                </a:solidFill>
                <a:latin typeface="Calibri"/>
              </a:rPr>
              <a:t>• Draht 1,2 mm, Füllfaktor 0,6</a:t>
            </a:r>
          </a:p>
          <a:p>
            <a:pPr algn="l">
              <a:spcAft>
                <a:spcPts val="600"/>
              </a:spcAft>
            </a:pPr>
            <a:r>
              <a:rPr sz="1600" b="0" i="0">
                <a:solidFill>
                  <a:srgbClr val="222222"/>
                </a:solidFill>
                <a:latin typeface="Calibri"/>
              </a:rPr>
              <a:t>• Materialdaten Al/Cu (Literatur)</a:t>
            </a:r>
          </a:p>
        </p:txBody>
      </p:sp>
      <p:sp>
        <p:nvSpPr>
          <p:cNvPr id="12" name="TextBox 11"/>
          <p:cNvSpPr txBox="1"/>
          <p:nvPr/>
        </p:nvSpPr>
        <p:spPr>
          <a:xfrm>
            <a:off x="8046720" y="2331720"/>
            <a:ext cx="3474720" cy="3657600"/>
          </a:xfrm>
          <a:prstGeom prst="rect">
            <a:avLst/>
          </a:prstGeom>
          <a:noFill/>
        </p:spPr>
        <p:txBody>
          <a:bodyPr wrap="square" anchor="t" lIns="45720" rIns="45720" tIns="27432" bIns="27432">
            <a:spAutoFit/>
          </a:bodyPr>
          <a:lstStyle/>
          <a:p>
            <a:pPr algn="l">
              <a:spcAft>
                <a:spcPts val="600"/>
              </a:spcAft>
            </a:pPr>
            <a:r>
              <a:rPr sz="1600" b="0" i="0">
                <a:solidFill>
                  <a:srgbClr val="222222"/>
                </a:solidFill>
                <a:latin typeface="Calibri"/>
              </a:rPr>
              <a:t>• hA innen = 2,474 W/K</a:t>
            </a:r>
          </a:p>
          <a:p>
            <a:pPr algn="l">
              <a:spcAft>
                <a:spcPts val="600"/>
              </a:spcAft>
            </a:pPr>
            <a:r>
              <a:rPr sz="1600" b="0" i="0">
                <a:solidFill>
                  <a:srgbClr val="222222"/>
                </a:solidFill>
                <a:latin typeface="Calibri"/>
              </a:rPr>
              <a:t>• hA außen = 2,889 W/K</a:t>
            </a:r>
          </a:p>
          <a:p>
            <a:pPr algn="l">
              <a:spcAft>
                <a:spcPts val="600"/>
              </a:spcAft>
            </a:pPr>
            <a:r>
              <a:rPr sz="1600" b="0" i="0">
                <a:solidFill>
                  <a:srgbClr val="222222"/>
                </a:solidFill>
                <a:latin typeface="Calibri"/>
              </a:rPr>
              <a:t>• (auf 79 / 74 °C bei 7,8 A, T_amb 29 °C)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B5 · Plausibilität der FEM</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20</a:t>
            </a:r>
          </a:p>
        </p:txBody>
      </p:sp>
      <p:sp>
        <p:nvSpPr>
          <p:cNvPr id="7" name="TextBox 6"/>
          <p:cNvSpPr txBox="1"/>
          <p:nvPr/>
        </p:nvSpPr>
        <p:spPr>
          <a:xfrm>
            <a:off x="548640" y="1554480"/>
            <a:ext cx="10972800" cy="4389120"/>
          </a:xfrm>
          <a:prstGeom prst="rect">
            <a:avLst/>
          </a:prstGeom>
          <a:noFill/>
        </p:spPr>
        <p:txBody>
          <a:bodyPr wrap="square" anchor="t" lIns="45720" rIns="45720" tIns="27432" bIns="27432">
            <a:spAutoFit/>
          </a:bodyPr>
          <a:lstStyle/>
          <a:p>
            <a:pPr algn="l">
              <a:spcAft>
                <a:spcPts val="600"/>
              </a:spcAft>
            </a:pPr>
            <a:r>
              <a:rPr sz="1900" b="0" i="0">
                <a:solidFill>
                  <a:srgbClr val="222222"/>
                </a:solidFill>
                <a:latin typeface="Calibri"/>
              </a:rPr>
              <a:t>• Energiebilanz Scheibe:  erzeugt 25,81388 W = abgegeben 25,81388 W</a:t>
            </a:r>
          </a:p>
          <a:p>
            <a:pPr algn="l">
              <a:spcAft>
                <a:spcPts val="600"/>
              </a:spcAft>
            </a:pPr>
            <a:r>
              <a:rPr sz="1900" b="0" i="0">
                <a:solidFill>
                  <a:srgbClr val="222222"/>
                </a:solidFill>
                <a:latin typeface="Calibri"/>
              </a:rPr>
              <a:t>• Gebiet 1 m × 1 m; Dirichlet- vs. Neumann-Rand: größte Abweichung </a:t>
            </a:r>
            <a:r>
              <a:rPr sz="1900" b="1" i="0">
                <a:solidFill>
                  <a:srgbClr val="222222"/>
                </a:solidFill>
                <a:latin typeface="Calibri"/>
              </a:rPr>
              <a:t>0,77 %</a:t>
            </a:r>
          </a:p>
          <a:p>
            <a:pPr algn="l">
              <a:spcAft>
                <a:spcPts val="600"/>
              </a:spcAft>
            </a:pPr>
            <a:r>
              <a:rPr sz="1900" b="0" i="0">
                <a:solidFill>
                  <a:srgbClr val="222222"/>
                </a:solidFill>
                <a:latin typeface="Calibri"/>
              </a:rPr>
              <a:t>• Linearität: P(2I) / P(I) = </a:t>
            </a:r>
            <a:r>
              <a:rPr sz="1900" b="1" i="0">
                <a:solidFill>
                  <a:srgbClr val="222222"/>
                </a:solidFill>
                <a:latin typeface="Calibri"/>
              </a:rPr>
              <a:t>4,000</a:t>
            </a:r>
          </a:p>
          <a:p>
            <a:pPr algn="l">
              <a:spcAft>
                <a:spcPts val="600"/>
              </a:spcAft>
            </a:pPr>
            <a:r>
              <a:rPr sz="1900" b="0" i="0">
                <a:solidFill>
                  <a:srgbClr val="222222"/>
                </a:solidFill>
                <a:latin typeface="Calibri"/>
              </a:rPr>
              <a:t>• Netz: Feld 8 700 Knoten / 17 028 Dreiecke (0,40 s); Wärme 697 Knoten / 1 280 Dreiecke (0,03 s)</a:t>
            </a:r>
          </a:p>
          <a:p>
            <a:pPr algn="l">
              <a:spcAft>
                <a:spcPts val="600"/>
              </a:spcAft>
            </a:pPr>
            <a:r>
              <a:rPr sz="1900" b="0" i="0">
                <a:solidFill>
                  <a:srgbClr val="C0392B"/>
                </a:solidFill>
                <a:latin typeface="Calibri"/>
              </a:rPr>
              <a:t>• Keine systematische Netzkonvergenzstudie im Bericht – offener Punkt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B6 · Code-Module im Überblick</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21</a:t>
            </a:r>
          </a:p>
        </p:txBody>
      </p:sp>
      <p:sp>
        <p:nvSpPr>
          <p:cNvPr id="7" name="TextBox 6"/>
          <p:cNvSpPr txBox="1"/>
          <p:nvPr/>
        </p:nvSpPr>
        <p:spPr>
          <a:xfrm>
            <a:off x="548640" y="1554480"/>
            <a:ext cx="10972800" cy="4572000"/>
          </a:xfrm>
          <a:prstGeom prst="rect">
            <a:avLst/>
          </a:prstGeom>
          <a:noFill/>
        </p:spPr>
        <p:txBody>
          <a:bodyPr wrap="square" anchor="t" lIns="45720" rIns="45720" tIns="27432" bIns="27432">
            <a:spAutoFit/>
          </a:bodyPr>
          <a:lstStyle/>
          <a:p>
            <a:pPr algn="l">
              <a:spcAft>
                <a:spcPts val="600"/>
              </a:spcAft>
            </a:pPr>
            <a:r>
              <a:rPr sz="1800" b="0" i="0">
                <a:solidFill>
                  <a:srgbClr val="222222"/>
                </a:solidFill>
                <a:latin typeface="Calibri"/>
              </a:rPr>
              <a:t>• </a:t>
            </a:r>
            <a:r>
              <a:rPr sz="1800" b="1" i="0">
                <a:solidFill>
                  <a:srgbClr val="222222"/>
                </a:solidFill>
                <a:latin typeface="Calibri"/>
              </a:rPr>
              <a:t>config.py</a:t>
            </a:r>
            <a:r>
              <a:rPr sz="1800" b="0" i="0">
                <a:solidFill>
                  <a:srgbClr val="222222"/>
                </a:solidFill>
                <a:latin typeface="Calibri"/>
              </a:rPr>
              <a:t> – params.yaml laden, mm → m, I_peak = I_eff·√2</a:t>
            </a:r>
          </a:p>
          <a:p>
            <a:pPr algn="l">
              <a:spcAft>
                <a:spcPts val="600"/>
              </a:spcAft>
            </a:pPr>
            <a:r>
              <a:rPr sz="1800" b="0" i="0">
                <a:solidFill>
                  <a:srgbClr val="222222"/>
                </a:solidFill>
                <a:latin typeface="Calibri"/>
              </a:rPr>
              <a:t>• </a:t>
            </a:r>
            <a:r>
              <a:rPr sz="1800" b="1" i="0">
                <a:solidFill>
                  <a:srgbClr val="222222"/>
                </a:solidFill>
                <a:latin typeface="Calibri"/>
              </a:rPr>
              <a:t>em_solver.py</a:t>
            </a:r>
            <a:r>
              <a:rPr sz="1800" b="0" i="0">
                <a:solidFill>
                  <a:srgbClr val="222222"/>
                </a:solidFill>
                <a:latin typeface="Calibri"/>
              </a:rPr>
              <a:t> – Feld-FEM (komplex), Verluste, Hubkraft · spsolve</a:t>
            </a:r>
          </a:p>
          <a:p>
            <a:pPr algn="l">
              <a:spcAft>
                <a:spcPts val="600"/>
              </a:spcAft>
            </a:pPr>
            <a:r>
              <a:rPr sz="1800" b="0" i="0">
                <a:solidFill>
                  <a:srgbClr val="222222"/>
                </a:solidFill>
                <a:latin typeface="Calibri"/>
              </a:rPr>
              <a:t>• </a:t>
            </a:r>
            <a:r>
              <a:rPr sz="1800" b="1" i="0">
                <a:solidFill>
                  <a:srgbClr val="222222"/>
                </a:solidFill>
                <a:latin typeface="Calibri"/>
              </a:rPr>
              <a:t>thermal_solver.py</a:t>
            </a:r>
            <a:r>
              <a:rPr sz="1800" b="0" i="0">
                <a:solidFill>
                  <a:srgbClr val="222222"/>
                </a:solidFill>
                <a:latin typeface="Calibri"/>
              </a:rPr>
              <a:t> – Wärme-FEM der Scheibe, Energiebilanz · spsolve</a:t>
            </a:r>
          </a:p>
          <a:p>
            <a:pPr algn="l">
              <a:spcAft>
                <a:spcPts val="600"/>
              </a:spcAft>
            </a:pPr>
            <a:r>
              <a:rPr sz="1800" b="0" i="0">
                <a:solidFill>
                  <a:srgbClr val="222222"/>
                </a:solidFill>
                <a:latin typeface="Calibri"/>
              </a:rPr>
              <a:t>• </a:t>
            </a:r>
            <a:r>
              <a:rPr sz="1800" b="1" i="0">
                <a:solidFill>
                  <a:srgbClr val="222222"/>
                </a:solidFill>
                <a:latin typeface="Calibri"/>
              </a:rPr>
              <a:t>rom.py</a:t>
            </a:r>
            <a:r>
              <a:rPr sz="1800" b="0" i="0">
                <a:solidFill>
                  <a:srgbClr val="222222"/>
                </a:solidFill>
                <a:latin typeface="Calibri"/>
              </a:rPr>
              <a:t> – Reduktion A + B, τ = C/UA · Kontrolle mit solve_ivp</a:t>
            </a:r>
          </a:p>
          <a:p>
            <a:pPr algn="l">
              <a:spcAft>
                <a:spcPts val="600"/>
              </a:spcAft>
            </a:pPr>
            <a:r>
              <a:rPr sz="1800" b="0" i="0">
                <a:solidFill>
                  <a:srgbClr val="222222"/>
                </a:solidFill>
                <a:latin typeface="Calibri"/>
              </a:rPr>
              <a:t>• </a:t>
            </a:r>
            <a:r>
              <a:rPr sz="1800" b="1" i="0">
                <a:solidFill>
                  <a:srgbClr val="222222"/>
                </a:solidFill>
                <a:latin typeface="Calibri"/>
              </a:rPr>
              <a:t>twin_core.py</a:t>
            </a:r>
            <a:r>
              <a:rPr sz="1800" b="0" i="0">
                <a:solidFill>
                  <a:srgbClr val="222222"/>
                </a:solidFill>
                <a:latin typeface="Calibri"/>
              </a:rPr>
              <a:t> – ROM online, explizites Euler mit Teilschritten ≤ 5 % von τ</a:t>
            </a:r>
          </a:p>
          <a:p>
            <a:pPr algn="l">
              <a:spcAft>
                <a:spcPts val="600"/>
              </a:spcAft>
            </a:pPr>
            <a:r>
              <a:rPr sz="1800" b="0" i="0">
                <a:solidFill>
                  <a:srgbClr val="222222"/>
                </a:solidFill>
                <a:latin typeface="Calibri"/>
              </a:rPr>
              <a:t>• </a:t>
            </a:r>
            <a:r>
              <a:rPr sz="1800" b="1" i="0">
                <a:solidFill>
                  <a:srgbClr val="222222"/>
                </a:solidFill>
                <a:latin typeface="Calibri"/>
              </a:rPr>
              <a:t>refit_hA.py</a:t>
            </a:r>
            <a:r>
              <a:rPr sz="1800" b="0" i="0">
                <a:solidFill>
                  <a:srgbClr val="222222"/>
                </a:solidFill>
                <a:latin typeface="Calibri"/>
              </a:rPr>
              <a:t> – Kalibrierung hA · fsolve durch das laufende Modell</a:t>
            </a:r>
          </a:p>
          <a:p>
            <a:pPr algn="l">
              <a:spcAft>
                <a:spcPts val="600"/>
              </a:spcAft>
            </a:pPr>
            <a:r>
              <a:rPr sz="1800" b="0" i="0">
                <a:solidFill>
                  <a:srgbClr val="222222"/>
                </a:solidFill>
                <a:latin typeface="Calibri"/>
              </a:rPr>
              <a:t>• </a:t>
            </a:r>
            <a:r>
              <a:rPr sz="1800" b="1" i="0">
                <a:solidFill>
                  <a:srgbClr val="222222"/>
                </a:solidFill>
                <a:latin typeface="Calibri"/>
              </a:rPr>
              <a:t>build_twin_html_fem.py</a:t>
            </a:r>
            <a:r>
              <a:rPr sz="1800" b="0" i="0">
                <a:solidFill>
                  <a:srgbClr val="222222"/>
                </a:solidFill>
                <a:latin typeface="Calibri"/>
              </a:rPr>
              <a:t> – Reduktion C + HTML-Ansicht (JavaScript)</a:t>
            </a:r>
          </a:p>
          <a:p>
            <a:pPr algn="l">
              <a:spcAft>
                <a:spcPts val="600"/>
              </a:spcAft>
            </a:pPr>
            <a:r>
              <a:rPr sz="1800" b="0" i="0">
                <a:solidFill>
                  <a:srgbClr val="222222"/>
                </a:solidFill>
                <a:latin typeface="Calibri"/>
              </a:rPr>
              <a:t>• </a:t>
            </a:r>
            <a:r>
              <a:rPr sz="1800" b="1" i="0">
                <a:solidFill>
                  <a:srgbClr val="222222"/>
                </a:solidFill>
                <a:latin typeface="Calibri"/>
              </a:rPr>
              <a:t>data_io.py</a:t>
            </a:r>
            <a:r>
              <a:rPr sz="1800" b="0" i="0">
                <a:solidFill>
                  <a:srgbClr val="222222"/>
                </a:solidFill>
                <a:latin typeface="Calibri"/>
              </a:rPr>
              <a:t> – Stromeingang vom Arduino (vorbereitet)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7315200" cy="274320"/>
          </a:xfrm>
          <a:prstGeom prst="rect">
            <a:avLst/>
          </a:prstGeom>
          <a:noFill/>
        </p:spPr>
        <p:txBody>
          <a:bodyPr wrap="square" anchor="t" lIns="45720" rIns="45720" tIns="27432" bIns="27432">
            <a:spAutoFit/>
          </a:bodyPr>
          <a:lstStyle/>
          <a:p>
            <a:pPr algn="l">
              <a:spcAft>
                <a:spcPts val="0"/>
              </a:spcAft>
            </a:pPr>
            <a:r>
              <a:rPr sz="1100" b="0" i="0">
                <a:solidFill>
                  <a:srgbClr val="C8641E"/>
                </a:solidFill>
                <a:latin typeface="Calibri"/>
              </a:rPr>
              <a:t>BACKUP</a:t>
            </a:r>
          </a:p>
        </p:txBody>
      </p:sp>
      <p:sp>
        <p:nvSpPr>
          <p:cNvPr id="3" name="TextBox 2"/>
          <p:cNvSpPr txBox="1"/>
          <p:nvPr/>
        </p:nvSpPr>
        <p:spPr>
          <a:xfrm>
            <a:off x="548640" y="411480"/>
            <a:ext cx="11064240" cy="731520"/>
          </a:xfrm>
          <a:prstGeom prst="rect">
            <a:avLst/>
          </a:prstGeom>
          <a:noFill/>
        </p:spPr>
        <p:txBody>
          <a:bodyPr wrap="square" anchor="t" lIns="45720" rIns="45720" tIns="27432" bIns="27432">
            <a:spAutoFit/>
          </a:bodyPr>
          <a:lstStyle/>
          <a:p>
            <a:pPr algn="l">
              <a:spcAft>
                <a:spcPts val="0"/>
              </a:spcAft>
            </a:pPr>
            <a:r>
              <a:rPr sz="3000" b="0" i="0">
                <a:solidFill>
                  <a:srgbClr val="1F3A5F"/>
                </a:solidFill>
                <a:latin typeface="Calibri"/>
              </a:rPr>
              <a:t>B7 · Die Reduktion anschaulich: von groß zu klein</a:t>
            </a:r>
          </a:p>
        </p:txBody>
      </p:sp>
      <p:sp>
        <p:nvSpPr>
          <p:cNvPr id="4" name="Rectangle 3"/>
          <p:cNvSpPr/>
          <p:nvPr/>
        </p:nvSpPr>
        <p:spPr>
          <a:xfrm>
            <a:off x="566928" y="1115568"/>
            <a:ext cx="1188720" cy="54864"/>
          </a:xfrm>
          <a:prstGeom prst="rect">
            <a:avLst/>
          </a:prstGeom>
          <a:solidFill>
            <a:srgbClr val="C86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28232"/>
            <a:ext cx="9144000" cy="274320"/>
          </a:xfrm>
          <a:prstGeom prst="rect">
            <a:avLst/>
          </a:prstGeom>
          <a:noFill/>
        </p:spPr>
        <p:txBody>
          <a:bodyPr wrap="square" anchor="t" lIns="45720" rIns="45720" tIns="27432" bIns="27432">
            <a:spAutoFit/>
          </a:bodyPr>
          <a:lstStyle/>
          <a:p>
            <a:pPr algn="l">
              <a:spcAft>
                <a:spcPts val="0"/>
              </a:spcAft>
            </a:pPr>
            <a:r>
              <a:rPr sz="1000" b="0" i="0">
                <a:solidFill>
                  <a:srgbClr val="5F6670"/>
                </a:solidFill>
                <a:latin typeface="Calibri"/>
              </a:rPr>
              <a:t>DT4TM · Digital Twin für das Thermomanagement eines elektrodynamischen Levitators</a:t>
            </a:r>
          </a:p>
        </p:txBody>
      </p:sp>
      <p:sp>
        <p:nvSpPr>
          <p:cNvPr id="6" name="TextBox 5"/>
          <p:cNvSpPr txBox="1"/>
          <p:nvPr/>
        </p:nvSpPr>
        <p:spPr>
          <a:xfrm>
            <a:off x="10881360" y="6428232"/>
            <a:ext cx="777240" cy="274320"/>
          </a:xfrm>
          <a:prstGeom prst="rect">
            <a:avLst/>
          </a:prstGeom>
          <a:noFill/>
        </p:spPr>
        <p:txBody>
          <a:bodyPr wrap="square" anchor="t" lIns="45720" rIns="45720" tIns="27432" bIns="27432">
            <a:spAutoFit/>
          </a:bodyPr>
          <a:lstStyle/>
          <a:p>
            <a:pPr algn="r">
              <a:spcAft>
                <a:spcPts val="0"/>
              </a:spcAft>
            </a:pPr>
            <a:r>
              <a:rPr sz="1000" b="0" i="0">
                <a:solidFill>
                  <a:srgbClr val="5F6670"/>
                </a:solidFill>
                <a:latin typeface="Calibri"/>
              </a:rPr>
              <a:t>22</a:t>
            </a:r>
          </a:p>
        </p:txBody>
      </p:sp>
      <p:sp>
        <p:nvSpPr>
          <p:cNvPr id="7" name="Rounded Rectangle 6"/>
          <p:cNvSpPr/>
          <p:nvPr/>
        </p:nvSpPr>
        <p:spPr>
          <a:xfrm>
            <a:off x="548640" y="1371600"/>
            <a:ext cx="3383280" cy="347472"/>
          </a:xfrm>
          <a:prstGeom prst="roundRect">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FFFFFF"/>
                </a:solidFill>
                <a:latin typeface="Calibri"/>
              </a:rPr>
              <a:t>VORHER: großes Modell</a:t>
            </a:r>
          </a:p>
        </p:txBody>
      </p:sp>
      <p:sp>
        <p:nvSpPr>
          <p:cNvPr id="8" name="Rounded Rectangle 7"/>
          <p:cNvSpPr/>
          <p:nvPr/>
        </p:nvSpPr>
        <p:spPr>
          <a:xfrm>
            <a:off x="4206240" y="1371600"/>
            <a:ext cx="3931920" cy="347472"/>
          </a:xfrm>
          <a:prstGeom prst="roundRect">
            <a:avLst/>
          </a:prstGeom>
          <a:solidFill>
            <a:srgbClr val="C86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FFFFFF"/>
                </a:solidFill>
                <a:latin typeface="Calibri"/>
              </a:rPr>
              <a:t>IDEE</a:t>
            </a:r>
          </a:p>
        </p:txBody>
      </p:sp>
      <p:sp>
        <p:nvSpPr>
          <p:cNvPr id="9" name="Rounded Rectangle 8"/>
          <p:cNvSpPr/>
          <p:nvPr/>
        </p:nvSpPr>
        <p:spPr>
          <a:xfrm>
            <a:off x="8412480" y="1371600"/>
            <a:ext cx="3200400" cy="347472"/>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FFFFFF"/>
                </a:solidFill>
                <a:latin typeface="Calibri"/>
              </a:rPr>
              <a:t>NACHHER: ROM</a:t>
            </a:r>
          </a:p>
        </p:txBody>
      </p:sp>
      <p:sp>
        <p:nvSpPr>
          <p:cNvPr id="10" name="Rectangle 9"/>
          <p:cNvSpPr/>
          <p:nvPr/>
        </p:nvSpPr>
        <p:spPr>
          <a:xfrm>
            <a:off x="640080" y="1828800"/>
            <a:ext cx="320040" cy="201168"/>
          </a:xfrm>
          <a:prstGeom prst="rect">
            <a:avLst/>
          </a:prstGeom>
          <a:solidFill>
            <a:srgbClr val="F6C7A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1" name="Rectangle 10"/>
          <p:cNvSpPr/>
          <p:nvPr/>
        </p:nvSpPr>
        <p:spPr>
          <a:xfrm>
            <a:off x="640080" y="2029968"/>
            <a:ext cx="320040" cy="201168"/>
          </a:xfrm>
          <a:prstGeom prst="rect">
            <a:avLst/>
          </a:prstGeom>
          <a:solidFill>
            <a:srgbClr val="F6C59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2" name="Rectangle 11"/>
          <p:cNvSpPr/>
          <p:nvPr/>
        </p:nvSpPr>
        <p:spPr>
          <a:xfrm>
            <a:off x="640080" y="2231136"/>
            <a:ext cx="320040" cy="201168"/>
          </a:xfrm>
          <a:prstGeom prst="rect">
            <a:avLst/>
          </a:prstGeom>
          <a:solidFill>
            <a:srgbClr val="F6C7A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3" name="Rectangle 12"/>
          <p:cNvSpPr/>
          <p:nvPr/>
        </p:nvSpPr>
        <p:spPr>
          <a:xfrm>
            <a:off x="960119" y="1828800"/>
            <a:ext cx="320040" cy="201168"/>
          </a:xfrm>
          <a:prstGeom prst="rect">
            <a:avLst/>
          </a:prstGeom>
          <a:solidFill>
            <a:srgbClr val="F4BA8B"/>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4" name="Rectangle 13"/>
          <p:cNvSpPr/>
          <p:nvPr/>
        </p:nvSpPr>
        <p:spPr>
          <a:xfrm>
            <a:off x="960119" y="2029968"/>
            <a:ext cx="320040" cy="201168"/>
          </a:xfrm>
          <a:prstGeom prst="rect">
            <a:avLst/>
          </a:prstGeom>
          <a:solidFill>
            <a:srgbClr val="F4B685"/>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5" name="Rectangle 14"/>
          <p:cNvSpPr/>
          <p:nvPr/>
        </p:nvSpPr>
        <p:spPr>
          <a:xfrm>
            <a:off x="960119" y="2231136"/>
            <a:ext cx="320040" cy="201168"/>
          </a:xfrm>
          <a:prstGeom prst="rect">
            <a:avLst/>
          </a:prstGeom>
          <a:solidFill>
            <a:srgbClr val="F4BA8B"/>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6" name="Rectangle 15"/>
          <p:cNvSpPr/>
          <p:nvPr/>
        </p:nvSpPr>
        <p:spPr>
          <a:xfrm>
            <a:off x="1280160" y="1828800"/>
            <a:ext cx="320040" cy="201168"/>
          </a:xfrm>
          <a:prstGeom prst="rect">
            <a:avLst/>
          </a:prstGeom>
          <a:solidFill>
            <a:srgbClr val="F3AE7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7" name="Rectangle 16"/>
          <p:cNvSpPr/>
          <p:nvPr/>
        </p:nvSpPr>
        <p:spPr>
          <a:xfrm>
            <a:off x="1280160" y="2029968"/>
            <a:ext cx="320040" cy="201168"/>
          </a:xfrm>
          <a:prstGeom prst="rect">
            <a:avLst/>
          </a:prstGeom>
          <a:solidFill>
            <a:srgbClr val="F2A86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8" name="Rectangle 17"/>
          <p:cNvSpPr/>
          <p:nvPr/>
        </p:nvSpPr>
        <p:spPr>
          <a:xfrm>
            <a:off x="1280160" y="2231136"/>
            <a:ext cx="320040" cy="201168"/>
          </a:xfrm>
          <a:prstGeom prst="rect">
            <a:avLst/>
          </a:prstGeom>
          <a:solidFill>
            <a:srgbClr val="F3AE7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19" name="Rectangle 18"/>
          <p:cNvSpPr/>
          <p:nvPr/>
        </p:nvSpPr>
        <p:spPr>
          <a:xfrm>
            <a:off x="1600199" y="1828800"/>
            <a:ext cx="320040" cy="201168"/>
          </a:xfrm>
          <a:prstGeom prst="rect">
            <a:avLst/>
          </a:prstGeom>
          <a:solidFill>
            <a:srgbClr val="F2A86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0" name="Rectangle 19"/>
          <p:cNvSpPr/>
          <p:nvPr/>
        </p:nvSpPr>
        <p:spPr>
          <a:xfrm>
            <a:off x="1600199" y="2029968"/>
            <a:ext cx="320040" cy="201168"/>
          </a:xfrm>
          <a:prstGeom prst="rect">
            <a:avLst/>
          </a:prstGeom>
          <a:solidFill>
            <a:srgbClr val="F09A55"/>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1" name="Rectangle 20"/>
          <p:cNvSpPr/>
          <p:nvPr/>
        </p:nvSpPr>
        <p:spPr>
          <a:xfrm>
            <a:off x="1600199" y="2231136"/>
            <a:ext cx="320040" cy="201168"/>
          </a:xfrm>
          <a:prstGeom prst="rect">
            <a:avLst/>
          </a:prstGeom>
          <a:solidFill>
            <a:srgbClr val="F2A86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2" name="Rectangle 21"/>
          <p:cNvSpPr/>
          <p:nvPr/>
        </p:nvSpPr>
        <p:spPr>
          <a:xfrm>
            <a:off x="1920239" y="1828800"/>
            <a:ext cx="320040" cy="201168"/>
          </a:xfrm>
          <a:prstGeom prst="rect">
            <a:avLst/>
          </a:prstGeom>
          <a:solidFill>
            <a:srgbClr val="F3AE7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3" name="Rectangle 22"/>
          <p:cNvSpPr/>
          <p:nvPr/>
        </p:nvSpPr>
        <p:spPr>
          <a:xfrm>
            <a:off x="1920239" y="2029968"/>
            <a:ext cx="320040" cy="201168"/>
          </a:xfrm>
          <a:prstGeom prst="rect">
            <a:avLst/>
          </a:prstGeom>
          <a:solidFill>
            <a:srgbClr val="F2A86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4" name="Rectangle 23"/>
          <p:cNvSpPr/>
          <p:nvPr/>
        </p:nvSpPr>
        <p:spPr>
          <a:xfrm>
            <a:off x="1920239" y="2231136"/>
            <a:ext cx="320040" cy="201168"/>
          </a:xfrm>
          <a:prstGeom prst="rect">
            <a:avLst/>
          </a:prstGeom>
          <a:solidFill>
            <a:srgbClr val="F3AE7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5" name="Rectangle 24"/>
          <p:cNvSpPr/>
          <p:nvPr/>
        </p:nvSpPr>
        <p:spPr>
          <a:xfrm>
            <a:off x="2240280" y="1828800"/>
            <a:ext cx="320040" cy="201168"/>
          </a:xfrm>
          <a:prstGeom prst="rect">
            <a:avLst/>
          </a:prstGeom>
          <a:solidFill>
            <a:srgbClr val="F4BA8B"/>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6" name="Rectangle 25"/>
          <p:cNvSpPr/>
          <p:nvPr/>
        </p:nvSpPr>
        <p:spPr>
          <a:xfrm>
            <a:off x="2240280" y="2029968"/>
            <a:ext cx="320040" cy="201168"/>
          </a:xfrm>
          <a:prstGeom prst="rect">
            <a:avLst/>
          </a:prstGeom>
          <a:solidFill>
            <a:srgbClr val="F4B685"/>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7" name="Rectangle 26"/>
          <p:cNvSpPr/>
          <p:nvPr/>
        </p:nvSpPr>
        <p:spPr>
          <a:xfrm>
            <a:off x="2240280" y="2231136"/>
            <a:ext cx="320040" cy="201168"/>
          </a:xfrm>
          <a:prstGeom prst="rect">
            <a:avLst/>
          </a:prstGeom>
          <a:solidFill>
            <a:srgbClr val="F4BA8B"/>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8" name="Rectangle 27"/>
          <p:cNvSpPr/>
          <p:nvPr/>
        </p:nvSpPr>
        <p:spPr>
          <a:xfrm>
            <a:off x="2560320" y="1828800"/>
            <a:ext cx="320040" cy="201168"/>
          </a:xfrm>
          <a:prstGeom prst="rect">
            <a:avLst/>
          </a:prstGeom>
          <a:solidFill>
            <a:srgbClr val="F6C7A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29" name="Rectangle 28"/>
          <p:cNvSpPr/>
          <p:nvPr/>
        </p:nvSpPr>
        <p:spPr>
          <a:xfrm>
            <a:off x="2560320" y="2029968"/>
            <a:ext cx="320040" cy="201168"/>
          </a:xfrm>
          <a:prstGeom prst="rect">
            <a:avLst/>
          </a:prstGeom>
          <a:solidFill>
            <a:srgbClr val="F6C59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0" name="Rectangle 29"/>
          <p:cNvSpPr/>
          <p:nvPr/>
        </p:nvSpPr>
        <p:spPr>
          <a:xfrm>
            <a:off x="2560320" y="2231136"/>
            <a:ext cx="320040" cy="201168"/>
          </a:xfrm>
          <a:prstGeom prst="rect">
            <a:avLst/>
          </a:prstGeom>
          <a:solidFill>
            <a:srgbClr val="F6C7A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1" name="Rectangle 30"/>
          <p:cNvSpPr/>
          <p:nvPr/>
        </p:nvSpPr>
        <p:spPr>
          <a:xfrm>
            <a:off x="2880359" y="1828800"/>
            <a:ext cx="320040" cy="201168"/>
          </a:xfrm>
          <a:prstGeom prst="rect">
            <a:avLst/>
          </a:prstGeom>
          <a:solidFill>
            <a:srgbClr val="F8D5B9"/>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2" name="Rectangle 31"/>
          <p:cNvSpPr/>
          <p:nvPr/>
        </p:nvSpPr>
        <p:spPr>
          <a:xfrm>
            <a:off x="2880359" y="2029968"/>
            <a:ext cx="320040" cy="201168"/>
          </a:xfrm>
          <a:prstGeom prst="rect">
            <a:avLst/>
          </a:prstGeom>
          <a:solidFill>
            <a:srgbClr val="F8D3B6"/>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3" name="Rectangle 32"/>
          <p:cNvSpPr/>
          <p:nvPr/>
        </p:nvSpPr>
        <p:spPr>
          <a:xfrm>
            <a:off x="2880359" y="2231136"/>
            <a:ext cx="320040" cy="201168"/>
          </a:xfrm>
          <a:prstGeom prst="rect">
            <a:avLst/>
          </a:prstGeom>
          <a:solidFill>
            <a:srgbClr val="F8D5B9"/>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4" name="Rectangle 33"/>
          <p:cNvSpPr/>
          <p:nvPr/>
        </p:nvSpPr>
        <p:spPr>
          <a:xfrm>
            <a:off x="3200400" y="1828800"/>
            <a:ext cx="320040" cy="201168"/>
          </a:xfrm>
          <a:prstGeom prst="rect">
            <a:avLst/>
          </a:prstGeom>
          <a:solidFill>
            <a:srgbClr val="FAE3D0"/>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5" name="Rectangle 34"/>
          <p:cNvSpPr/>
          <p:nvPr/>
        </p:nvSpPr>
        <p:spPr>
          <a:xfrm>
            <a:off x="3200400" y="2029968"/>
            <a:ext cx="320040" cy="201168"/>
          </a:xfrm>
          <a:prstGeom prst="rect">
            <a:avLst/>
          </a:prstGeom>
          <a:solidFill>
            <a:srgbClr val="FAE2CE"/>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6" name="Rectangle 35"/>
          <p:cNvSpPr/>
          <p:nvPr/>
        </p:nvSpPr>
        <p:spPr>
          <a:xfrm>
            <a:off x="3200400" y="2231136"/>
            <a:ext cx="320040" cy="201168"/>
          </a:xfrm>
          <a:prstGeom prst="rect">
            <a:avLst/>
          </a:prstGeom>
          <a:solidFill>
            <a:srgbClr val="FAE3D0"/>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7" name="Rectangle 36"/>
          <p:cNvSpPr/>
          <p:nvPr/>
        </p:nvSpPr>
        <p:spPr>
          <a:xfrm>
            <a:off x="3520439" y="1828800"/>
            <a:ext cx="320040" cy="201168"/>
          </a:xfrm>
          <a:prstGeom prst="rect">
            <a:avLst/>
          </a:prstGeom>
          <a:solidFill>
            <a:srgbClr val="FDF1E8"/>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8" name="Rectangle 37"/>
          <p:cNvSpPr/>
          <p:nvPr/>
        </p:nvSpPr>
        <p:spPr>
          <a:xfrm>
            <a:off x="3520439" y="2029968"/>
            <a:ext cx="320040" cy="201168"/>
          </a:xfrm>
          <a:prstGeom prst="rect">
            <a:avLst/>
          </a:prstGeom>
          <a:solidFill>
            <a:srgbClr val="FCF0E6"/>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39" name="Rectangle 38"/>
          <p:cNvSpPr/>
          <p:nvPr/>
        </p:nvSpPr>
        <p:spPr>
          <a:xfrm>
            <a:off x="3520439" y="2231136"/>
            <a:ext cx="320040" cy="201168"/>
          </a:xfrm>
          <a:prstGeom prst="rect">
            <a:avLst/>
          </a:prstGeom>
          <a:solidFill>
            <a:srgbClr val="FDF1E8"/>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40" name="TextBox 39"/>
          <p:cNvSpPr txBox="1"/>
          <p:nvPr/>
        </p:nvSpPr>
        <p:spPr>
          <a:xfrm>
            <a:off x="548640" y="2487168"/>
            <a:ext cx="3474720" cy="320040"/>
          </a:xfrm>
          <a:prstGeom prst="rect">
            <a:avLst/>
          </a:prstGeom>
          <a:noFill/>
        </p:spPr>
        <p:txBody>
          <a:bodyPr wrap="square" anchor="t" lIns="45720" rIns="45720" tIns="27432" bIns="27432">
            <a:spAutoFit/>
          </a:bodyPr>
          <a:lstStyle/>
          <a:p>
            <a:pPr algn="ctr">
              <a:spcAft>
                <a:spcPts val="600"/>
              </a:spcAft>
            </a:pPr>
            <a:r>
              <a:rPr sz="1000" b="0" i="0">
                <a:solidFill>
                  <a:srgbClr val="5F6670"/>
                </a:solidFill>
                <a:latin typeface="Calibri"/>
              </a:rPr>
              <a:t>Feld-FEM: 8 700 komplexe Unbekannte, für jeden Strom neu</a:t>
            </a:r>
          </a:p>
        </p:txBody>
      </p:sp>
      <p:sp>
        <p:nvSpPr>
          <p:cNvPr id="41" name="Rounded Rectangle 40"/>
          <p:cNvSpPr/>
          <p:nvPr/>
        </p:nvSpPr>
        <p:spPr>
          <a:xfrm>
            <a:off x="4206240" y="1810512"/>
            <a:ext cx="3931920" cy="932688"/>
          </a:xfrm>
          <a:prstGeom prst="roundRect">
            <a:avLst/>
          </a:prstGeom>
          <a:solidFill>
            <a:srgbClr val="FFF4CC"/>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i="0">
                <a:solidFill>
                  <a:srgbClr val="222222"/>
                </a:solidFill>
                <a:latin typeface="Calibri"/>
              </a:rPr>
              <a:t>Reduktion A: Strom-Skalierung</a:t>
            </a:r>
          </a:p>
          <a:p>
            <a:pPr algn="ctr"/>
            <a:r>
              <a:rPr sz="1100" b="0" i="0">
                <a:solidFill>
                  <a:srgbClr val="222222"/>
                </a:solidFill>
                <a:latin typeface="Calibri"/>
              </a:rPr>
              <a:t>Feldgleichung linear → doppelter Strom = vierfache Verluste, überall gleich</a:t>
            </a:r>
          </a:p>
          <a:p>
            <a:pPr algn="ctr"/>
            <a:r>
              <a:rPr sz="1100" b="0" i="0">
                <a:solidFill>
                  <a:srgbClr val="222222"/>
                </a:solidFill>
                <a:latin typeface="Calibri"/>
              </a:rPr>
              <a:t>„Lautstärkeregler: dieselbe Melodie, nur lauter“</a:t>
            </a:r>
          </a:p>
        </p:txBody>
      </p:sp>
      <p:cxnSp>
        <p:nvCxnSpPr>
          <p:cNvPr id="42" name="Connector 41"/>
          <p:cNvCxnSpPr/>
          <p:nvPr/>
        </p:nvCxnSpPr>
        <p:spPr>
          <a:xfrm>
            <a:off x="3977639" y="2240280"/>
            <a:ext cx="210313" cy="0"/>
          </a:xfrm>
          <a:prstGeom prst="line">
            <a:avLst/>
          </a:prstGeom>
          <a:ln w="15875">
            <a:solidFill>
              <a:srgbClr val="5F667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156448" y="2240280"/>
            <a:ext cx="237744" cy="0"/>
          </a:xfrm>
          <a:prstGeom prst="line">
            <a:avLst/>
          </a:prstGeom>
          <a:ln w="15875">
            <a:solidFill>
              <a:srgbClr val="5F6670"/>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40080" y="3063240"/>
            <a:ext cx="106984" cy="274320"/>
          </a:xfrm>
          <a:prstGeom prst="rect">
            <a:avLst/>
          </a:prstGeom>
          <a:solidFill>
            <a:srgbClr val="F9DAC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45" name="Rectangle 44"/>
          <p:cNvSpPr/>
          <p:nvPr/>
        </p:nvSpPr>
        <p:spPr>
          <a:xfrm>
            <a:off x="747064" y="3063240"/>
            <a:ext cx="106984" cy="274320"/>
          </a:xfrm>
          <a:prstGeom prst="rect">
            <a:avLst/>
          </a:prstGeom>
          <a:solidFill>
            <a:srgbClr val="F9DAC0"/>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46" name="Rectangle 45"/>
          <p:cNvSpPr/>
          <p:nvPr/>
        </p:nvSpPr>
        <p:spPr>
          <a:xfrm>
            <a:off x="854049" y="3063240"/>
            <a:ext cx="106984" cy="274320"/>
          </a:xfrm>
          <a:prstGeom prst="rect">
            <a:avLst/>
          </a:prstGeom>
          <a:solidFill>
            <a:srgbClr val="F9D9BF"/>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47" name="Rectangle 46"/>
          <p:cNvSpPr/>
          <p:nvPr/>
        </p:nvSpPr>
        <p:spPr>
          <a:xfrm>
            <a:off x="961034" y="3063240"/>
            <a:ext cx="106984" cy="274320"/>
          </a:xfrm>
          <a:prstGeom prst="rect">
            <a:avLst/>
          </a:prstGeom>
          <a:solidFill>
            <a:srgbClr val="F9D8BD"/>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48" name="Rectangle 47"/>
          <p:cNvSpPr/>
          <p:nvPr/>
        </p:nvSpPr>
        <p:spPr>
          <a:xfrm>
            <a:off x="1068019" y="3063240"/>
            <a:ext cx="106984" cy="274320"/>
          </a:xfrm>
          <a:prstGeom prst="rect">
            <a:avLst/>
          </a:prstGeom>
          <a:solidFill>
            <a:srgbClr val="F9D6BB"/>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49" name="Rectangle 48"/>
          <p:cNvSpPr/>
          <p:nvPr/>
        </p:nvSpPr>
        <p:spPr>
          <a:xfrm>
            <a:off x="1175004" y="3063240"/>
            <a:ext cx="106984" cy="274320"/>
          </a:xfrm>
          <a:prstGeom prst="rect">
            <a:avLst/>
          </a:prstGeom>
          <a:solidFill>
            <a:srgbClr val="F8D4B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0" name="Rectangle 49"/>
          <p:cNvSpPr/>
          <p:nvPr/>
        </p:nvSpPr>
        <p:spPr>
          <a:xfrm>
            <a:off x="1281988" y="3063240"/>
            <a:ext cx="106984" cy="274320"/>
          </a:xfrm>
          <a:prstGeom prst="rect">
            <a:avLst/>
          </a:prstGeom>
          <a:solidFill>
            <a:srgbClr val="F8D2B3"/>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1" name="Rectangle 50"/>
          <p:cNvSpPr/>
          <p:nvPr/>
        </p:nvSpPr>
        <p:spPr>
          <a:xfrm>
            <a:off x="1388973" y="3063240"/>
            <a:ext cx="106984" cy="274320"/>
          </a:xfrm>
          <a:prstGeom prst="rect">
            <a:avLst/>
          </a:prstGeom>
          <a:solidFill>
            <a:srgbClr val="F7CFAE"/>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2" name="Rectangle 51"/>
          <p:cNvSpPr/>
          <p:nvPr/>
        </p:nvSpPr>
        <p:spPr>
          <a:xfrm>
            <a:off x="1495958" y="3063240"/>
            <a:ext cx="106984" cy="274320"/>
          </a:xfrm>
          <a:prstGeom prst="rect">
            <a:avLst/>
          </a:prstGeom>
          <a:solidFill>
            <a:srgbClr val="F7CBA8"/>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3" name="Rectangle 52"/>
          <p:cNvSpPr/>
          <p:nvPr/>
        </p:nvSpPr>
        <p:spPr>
          <a:xfrm>
            <a:off x="1602943" y="3063240"/>
            <a:ext cx="106984" cy="274320"/>
          </a:xfrm>
          <a:prstGeom prst="rect">
            <a:avLst/>
          </a:prstGeom>
          <a:solidFill>
            <a:srgbClr val="F6C7A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4" name="Rectangle 53"/>
          <p:cNvSpPr/>
          <p:nvPr/>
        </p:nvSpPr>
        <p:spPr>
          <a:xfrm>
            <a:off x="1709928" y="3063240"/>
            <a:ext cx="106984" cy="274320"/>
          </a:xfrm>
          <a:prstGeom prst="rect">
            <a:avLst/>
          </a:prstGeom>
          <a:solidFill>
            <a:srgbClr val="F6C299"/>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5" name="Rectangle 54"/>
          <p:cNvSpPr/>
          <p:nvPr/>
        </p:nvSpPr>
        <p:spPr>
          <a:xfrm>
            <a:off x="1816912" y="3063240"/>
            <a:ext cx="106984" cy="274320"/>
          </a:xfrm>
          <a:prstGeom prst="rect">
            <a:avLst/>
          </a:prstGeom>
          <a:solidFill>
            <a:srgbClr val="F5BD90"/>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6" name="Rectangle 55"/>
          <p:cNvSpPr/>
          <p:nvPr/>
        </p:nvSpPr>
        <p:spPr>
          <a:xfrm>
            <a:off x="1923897" y="3063240"/>
            <a:ext cx="106984" cy="274320"/>
          </a:xfrm>
          <a:prstGeom prst="rect">
            <a:avLst/>
          </a:prstGeom>
          <a:solidFill>
            <a:srgbClr val="F4B88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7" name="Rectangle 56"/>
          <p:cNvSpPr/>
          <p:nvPr/>
        </p:nvSpPr>
        <p:spPr>
          <a:xfrm>
            <a:off x="2030882" y="3063240"/>
            <a:ext cx="106984" cy="274320"/>
          </a:xfrm>
          <a:prstGeom prst="rect">
            <a:avLst/>
          </a:prstGeom>
          <a:solidFill>
            <a:srgbClr val="F3B27E"/>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8" name="Rectangle 57"/>
          <p:cNvSpPr/>
          <p:nvPr/>
        </p:nvSpPr>
        <p:spPr>
          <a:xfrm>
            <a:off x="2137867" y="3063240"/>
            <a:ext cx="106984" cy="274320"/>
          </a:xfrm>
          <a:prstGeom prst="rect">
            <a:avLst/>
          </a:prstGeom>
          <a:solidFill>
            <a:srgbClr val="F2AE76"/>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59" name="Rectangle 58"/>
          <p:cNvSpPr/>
          <p:nvPr/>
        </p:nvSpPr>
        <p:spPr>
          <a:xfrm>
            <a:off x="2244852" y="3063240"/>
            <a:ext cx="106984" cy="274320"/>
          </a:xfrm>
          <a:prstGeom prst="rect">
            <a:avLst/>
          </a:prstGeom>
          <a:solidFill>
            <a:srgbClr val="F2A96F"/>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0" name="Rectangle 59"/>
          <p:cNvSpPr/>
          <p:nvPr/>
        </p:nvSpPr>
        <p:spPr>
          <a:xfrm>
            <a:off x="2351836" y="3063240"/>
            <a:ext cx="106984" cy="274320"/>
          </a:xfrm>
          <a:prstGeom prst="rect">
            <a:avLst/>
          </a:prstGeom>
          <a:solidFill>
            <a:srgbClr val="F1A66A"/>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1" name="Rectangle 60"/>
          <p:cNvSpPr/>
          <p:nvPr/>
        </p:nvSpPr>
        <p:spPr>
          <a:xfrm>
            <a:off x="2458821" y="3063240"/>
            <a:ext cx="106984" cy="274320"/>
          </a:xfrm>
          <a:prstGeom prst="rect">
            <a:avLst/>
          </a:prstGeom>
          <a:solidFill>
            <a:srgbClr val="F1A46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2" name="Rectangle 61"/>
          <p:cNvSpPr/>
          <p:nvPr/>
        </p:nvSpPr>
        <p:spPr>
          <a:xfrm>
            <a:off x="2565806" y="3063240"/>
            <a:ext cx="106984" cy="274320"/>
          </a:xfrm>
          <a:prstGeom prst="rect">
            <a:avLst/>
          </a:prstGeom>
          <a:solidFill>
            <a:srgbClr val="F1A466"/>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3" name="Rectangle 62"/>
          <p:cNvSpPr/>
          <p:nvPr/>
        </p:nvSpPr>
        <p:spPr>
          <a:xfrm>
            <a:off x="2672791" y="3063240"/>
            <a:ext cx="106984" cy="274320"/>
          </a:xfrm>
          <a:prstGeom prst="rect">
            <a:avLst/>
          </a:prstGeom>
          <a:solidFill>
            <a:srgbClr val="F1A46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4" name="Rectangle 63"/>
          <p:cNvSpPr/>
          <p:nvPr/>
        </p:nvSpPr>
        <p:spPr>
          <a:xfrm>
            <a:off x="2779776" y="3063240"/>
            <a:ext cx="106984" cy="274320"/>
          </a:xfrm>
          <a:prstGeom prst="rect">
            <a:avLst/>
          </a:prstGeom>
          <a:solidFill>
            <a:srgbClr val="F1A66A"/>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5" name="Rectangle 64"/>
          <p:cNvSpPr/>
          <p:nvPr/>
        </p:nvSpPr>
        <p:spPr>
          <a:xfrm>
            <a:off x="2886760" y="3063240"/>
            <a:ext cx="106984" cy="274320"/>
          </a:xfrm>
          <a:prstGeom prst="rect">
            <a:avLst/>
          </a:prstGeom>
          <a:solidFill>
            <a:srgbClr val="F2A96F"/>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6" name="Rectangle 65"/>
          <p:cNvSpPr/>
          <p:nvPr/>
        </p:nvSpPr>
        <p:spPr>
          <a:xfrm>
            <a:off x="2993745" y="3063240"/>
            <a:ext cx="106984" cy="274320"/>
          </a:xfrm>
          <a:prstGeom prst="rect">
            <a:avLst/>
          </a:prstGeom>
          <a:solidFill>
            <a:srgbClr val="F2AE76"/>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7" name="Rectangle 66"/>
          <p:cNvSpPr/>
          <p:nvPr/>
        </p:nvSpPr>
        <p:spPr>
          <a:xfrm>
            <a:off x="3100730" y="3063240"/>
            <a:ext cx="106984" cy="274320"/>
          </a:xfrm>
          <a:prstGeom prst="rect">
            <a:avLst/>
          </a:prstGeom>
          <a:solidFill>
            <a:srgbClr val="F3B27E"/>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8" name="Rectangle 67"/>
          <p:cNvSpPr/>
          <p:nvPr/>
        </p:nvSpPr>
        <p:spPr>
          <a:xfrm>
            <a:off x="3207715" y="3063240"/>
            <a:ext cx="106984" cy="274320"/>
          </a:xfrm>
          <a:prstGeom prst="rect">
            <a:avLst/>
          </a:prstGeom>
          <a:solidFill>
            <a:srgbClr val="F4B887"/>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69" name="Rectangle 68"/>
          <p:cNvSpPr/>
          <p:nvPr/>
        </p:nvSpPr>
        <p:spPr>
          <a:xfrm>
            <a:off x="3314700" y="3063240"/>
            <a:ext cx="106984" cy="274320"/>
          </a:xfrm>
          <a:prstGeom prst="rect">
            <a:avLst/>
          </a:prstGeom>
          <a:solidFill>
            <a:srgbClr val="F5BD90"/>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70" name="Rectangle 69"/>
          <p:cNvSpPr/>
          <p:nvPr/>
        </p:nvSpPr>
        <p:spPr>
          <a:xfrm>
            <a:off x="3421684" y="3063240"/>
            <a:ext cx="106984" cy="274320"/>
          </a:xfrm>
          <a:prstGeom prst="rect">
            <a:avLst/>
          </a:prstGeom>
          <a:solidFill>
            <a:srgbClr val="F6C299"/>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71" name="Rectangle 70"/>
          <p:cNvSpPr/>
          <p:nvPr/>
        </p:nvSpPr>
        <p:spPr>
          <a:xfrm>
            <a:off x="3528669" y="3063240"/>
            <a:ext cx="106984" cy="274320"/>
          </a:xfrm>
          <a:prstGeom prst="rect">
            <a:avLst/>
          </a:prstGeom>
          <a:solidFill>
            <a:srgbClr val="F6C7A1"/>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72" name="Rectangle 71"/>
          <p:cNvSpPr/>
          <p:nvPr/>
        </p:nvSpPr>
        <p:spPr>
          <a:xfrm>
            <a:off x="3635654" y="3063240"/>
            <a:ext cx="106984" cy="274320"/>
          </a:xfrm>
          <a:prstGeom prst="rect">
            <a:avLst/>
          </a:prstGeom>
          <a:solidFill>
            <a:srgbClr val="F7CBA8"/>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73" name="Rectangle 72"/>
          <p:cNvSpPr/>
          <p:nvPr/>
        </p:nvSpPr>
        <p:spPr>
          <a:xfrm>
            <a:off x="3742639" y="3063240"/>
            <a:ext cx="106984" cy="274320"/>
          </a:xfrm>
          <a:prstGeom prst="rect">
            <a:avLst/>
          </a:prstGeom>
          <a:solidFill>
            <a:srgbClr val="F7CFAE"/>
          </a:solidFill>
          <a:ln w="31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74" name="TextBox 73"/>
          <p:cNvSpPr txBox="1"/>
          <p:nvPr/>
        </p:nvSpPr>
        <p:spPr>
          <a:xfrm>
            <a:off x="594360" y="2807208"/>
            <a:ext cx="3291840" cy="274320"/>
          </a:xfrm>
          <a:prstGeom prst="rect">
            <a:avLst/>
          </a:prstGeom>
          <a:noFill/>
        </p:spPr>
        <p:txBody>
          <a:bodyPr wrap="square" anchor="t" lIns="45720" rIns="45720" tIns="27432" bIns="27432">
            <a:spAutoFit/>
          </a:bodyPr>
          <a:lstStyle/>
          <a:p>
            <a:pPr algn="l">
              <a:spcAft>
                <a:spcPts val="600"/>
              </a:spcAft>
            </a:pPr>
            <a:r>
              <a:rPr sz="1000" b="0" i="0">
                <a:solidFill>
                  <a:srgbClr val="5F6670"/>
                </a:solidFill>
                <a:latin typeface="Calibri"/>
              </a:rPr>
              <a:t>T₁  T₂   …                                   T₆₉₇</a:t>
            </a:r>
          </a:p>
        </p:txBody>
      </p:sp>
      <p:sp>
        <p:nvSpPr>
          <p:cNvPr id="75" name="TextBox 74"/>
          <p:cNvSpPr txBox="1"/>
          <p:nvPr/>
        </p:nvSpPr>
        <p:spPr>
          <a:xfrm>
            <a:off x="548640" y="3538728"/>
            <a:ext cx="3474720" cy="320040"/>
          </a:xfrm>
          <a:prstGeom prst="rect">
            <a:avLst/>
          </a:prstGeom>
          <a:noFill/>
        </p:spPr>
        <p:txBody>
          <a:bodyPr wrap="square" anchor="t" lIns="45720" rIns="45720" tIns="27432" bIns="27432">
            <a:spAutoFit/>
          </a:bodyPr>
          <a:lstStyle/>
          <a:p>
            <a:pPr algn="ctr">
              <a:spcAft>
                <a:spcPts val="600"/>
              </a:spcAft>
            </a:pPr>
            <a:r>
              <a:rPr sz="1000" b="0" i="0">
                <a:solidFill>
                  <a:srgbClr val="5F6670"/>
                </a:solidFill>
                <a:latin typeface="Calibri"/>
              </a:rPr>
              <a:t>Scheibe: 697 Knotentemperaturen</a:t>
            </a:r>
          </a:p>
        </p:txBody>
      </p:sp>
      <p:sp>
        <p:nvSpPr>
          <p:cNvPr id="76" name="Rounded Rectangle 75"/>
          <p:cNvSpPr/>
          <p:nvPr/>
        </p:nvSpPr>
        <p:spPr>
          <a:xfrm>
            <a:off x="4206240" y="2862072"/>
            <a:ext cx="3931920" cy="932688"/>
          </a:xfrm>
          <a:prstGeom prst="roundRect">
            <a:avLst/>
          </a:prstGeom>
          <a:solidFill>
            <a:srgbClr val="FFF4CC"/>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i="0">
                <a:solidFill>
                  <a:srgbClr val="222222"/>
                </a:solidFill>
                <a:latin typeface="Calibri"/>
              </a:rPr>
              <a:t>Reduktion B: eine Form für die Scheibe</a:t>
            </a:r>
          </a:p>
          <a:p>
            <a:pPr algn="ctr"/>
            <a:r>
              <a:rPr sz="1100" b="0" i="0">
                <a:solidFill>
                  <a:srgbClr val="222222"/>
                </a:solidFill>
                <a:latin typeface="Calibri"/>
              </a:rPr>
              <a:t>Nur die Höhe der Temperatur ändert sich, nicht die Form</a:t>
            </a:r>
          </a:p>
          <a:p>
            <a:pPr algn="ctr"/>
            <a:r>
              <a:rPr sz="1100" b="0" i="0">
                <a:solidFill>
                  <a:srgbClr val="222222"/>
                </a:solidFill>
                <a:latin typeface="Calibri"/>
              </a:rPr>
              <a:t>„Foto, das nur heller oder dunkler wird“</a:t>
            </a:r>
          </a:p>
        </p:txBody>
      </p:sp>
      <p:cxnSp>
        <p:nvCxnSpPr>
          <p:cNvPr id="77" name="Connector 76"/>
          <p:cNvCxnSpPr/>
          <p:nvPr/>
        </p:nvCxnSpPr>
        <p:spPr>
          <a:xfrm>
            <a:off x="3977639" y="3291840"/>
            <a:ext cx="210313" cy="0"/>
          </a:xfrm>
          <a:prstGeom prst="line">
            <a:avLst/>
          </a:prstGeom>
          <a:ln w="15875">
            <a:solidFill>
              <a:srgbClr val="5F667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156448" y="3291840"/>
            <a:ext cx="237744" cy="0"/>
          </a:xfrm>
          <a:prstGeom prst="line">
            <a:avLst/>
          </a:prstGeom>
          <a:ln w="15875">
            <a:solidFill>
              <a:srgbClr val="5F6670"/>
            </a:solidFill>
            <a:tailEnd type="triangle"/>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640080" y="4041648"/>
            <a:ext cx="805220" cy="502920"/>
          </a:xfrm>
          <a:prstGeom prst="rect">
            <a:avLst/>
          </a:prstGeom>
          <a:solidFill>
            <a:srgbClr val="D9DBDF"/>
          </a:solidFill>
          <a:ln w="635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80" name="Rectangle 79"/>
          <p:cNvSpPr/>
          <p:nvPr/>
        </p:nvSpPr>
        <p:spPr>
          <a:xfrm>
            <a:off x="1507479" y="4041648"/>
            <a:ext cx="1057046" cy="502920"/>
          </a:xfrm>
          <a:prstGeom prst="rect">
            <a:avLst/>
          </a:prstGeom>
          <a:solidFill>
            <a:srgbClr val="F6D9C2"/>
          </a:solidFill>
          <a:ln w="635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81" name="Rectangle 80"/>
          <p:cNvSpPr/>
          <p:nvPr/>
        </p:nvSpPr>
        <p:spPr>
          <a:xfrm>
            <a:off x="2657795" y="4041648"/>
            <a:ext cx="466344" cy="502920"/>
          </a:xfrm>
          <a:prstGeom prst="rect">
            <a:avLst/>
          </a:prstGeom>
          <a:solidFill>
            <a:srgbClr val="D9DBDF"/>
          </a:solidFill>
          <a:ln w="635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82" name="Rectangle 81"/>
          <p:cNvSpPr/>
          <p:nvPr/>
        </p:nvSpPr>
        <p:spPr>
          <a:xfrm>
            <a:off x="3217407" y="4041648"/>
            <a:ext cx="621792" cy="502920"/>
          </a:xfrm>
          <a:prstGeom prst="rect">
            <a:avLst/>
          </a:prstGeom>
          <a:solidFill>
            <a:srgbClr val="F6D9C2"/>
          </a:solidFill>
          <a:ln w="635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83" name="Rectangle 82"/>
          <p:cNvSpPr/>
          <p:nvPr/>
        </p:nvSpPr>
        <p:spPr>
          <a:xfrm>
            <a:off x="640080" y="3886200"/>
            <a:ext cx="3200400" cy="155448"/>
          </a:xfrm>
          <a:prstGeom prst="rect">
            <a:avLst/>
          </a:prstGeom>
          <a:solidFill>
            <a:srgbClr val="D4ECF8"/>
          </a:solidFill>
          <a:ln w="635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p>
        </p:txBody>
      </p:sp>
      <p:sp>
        <p:nvSpPr>
          <p:cNvPr id="84" name="TextBox 83"/>
          <p:cNvSpPr txBox="1"/>
          <p:nvPr/>
        </p:nvSpPr>
        <p:spPr>
          <a:xfrm>
            <a:off x="548640" y="4590288"/>
            <a:ext cx="3474720" cy="320040"/>
          </a:xfrm>
          <a:prstGeom prst="rect">
            <a:avLst/>
          </a:prstGeom>
          <a:noFill/>
        </p:spPr>
        <p:txBody>
          <a:bodyPr wrap="square" anchor="t" lIns="45720" rIns="45720" tIns="27432" bIns="27432">
            <a:spAutoFit/>
          </a:bodyPr>
          <a:lstStyle/>
          <a:p>
            <a:pPr algn="ctr">
              <a:spcAft>
                <a:spcPts val="600"/>
              </a:spcAft>
            </a:pPr>
            <a:r>
              <a:rPr sz="1000" b="0" i="0">
                <a:solidFill>
                  <a:srgbClr val="5F6670"/>
                </a:solidFill>
                <a:latin typeface="Calibri"/>
              </a:rPr>
              <a:t>Spulen, Eisen, Luft als feines Feld (so nicht gerechnet)</a:t>
            </a:r>
          </a:p>
        </p:txBody>
      </p:sp>
      <p:sp>
        <p:nvSpPr>
          <p:cNvPr id="85" name="Rounded Rectangle 84"/>
          <p:cNvSpPr/>
          <p:nvPr/>
        </p:nvSpPr>
        <p:spPr>
          <a:xfrm>
            <a:off x="4206240" y="3913632"/>
            <a:ext cx="3931920" cy="932688"/>
          </a:xfrm>
          <a:prstGeom prst="roundRect">
            <a:avLst/>
          </a:prstGeom>
          <a:solidFill>
            <a:srgbClr val="FFF4CC"/>
          </a:solidFill>
          <a:ln w="15875">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i="0">
                <a:solidFill>
                  <a:srgbClr val="222222"/>
                </a:solidFill>
                <a:latin typeface="Calibri"/>
              </a:rPr>
              <a:t>Reduktion C: RC-Netzwerk</a:t>
            </a:r>
          </a:p>
          <a:p>
            <a:pPr algn="ctr"/>
            <a:r>
              <a:rPr sz="1100" b="0" i="0">
                <a:solidFill>
                  <a:srgbClr val="222222"/>
                </a:solidFill>
                <a:latin typeface="Calibri"/>
              </a:rPr>
              <a:t>Jeder Körper fast gleich warm → ein Knoten pro Körper</a:t>
            </a:r>
          </a:p>
          <a:p>
            <a:pPr algn="ctr"/>
            <a:r>
              <a:rPr sz="1100" b="0" i="0">
                <a:solidFill>
                  <a:srgbClr val="222222"/>
                </a:solidFill>
                <a:latin typeface="Calibri"/>
              </a:rPr>
              <a:t>„Schaltplan statt Landkarte“</a:t>
            </a:r>
          </a:p>
        </p:txBody>
      </p:sp>
      <p:cxnSp>
        <p:nvCxnSpPr>
          <p:cNvPr id="86" name="Connector 85"/>
          <p:cNvCxnSpPr/>
          <p:nvPr/>
        </p:nvCxnSpPr>
        <p:spPr>
          <a:xfrm>
            <a:off x="3977639" y="4343400"/>
            <a:ext cx="210313" cy="0"/>
          </a:xfrm>
          <a:prstGeom prst="line">
            <a:avLst/>
          </a:prstGeom>
          <a:ln w="15875">
            <a:solidFill>
              <a:srgbClr val="5F6670"/>
            </a:solidFill>
            <a:tailEnd type="triangle"/>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156448" y="4343400"/>
            <a:ext cx="237744" cy="0"/>
          </a:xfrm>
          <a:prstGeom prst="line">
            <a:avLst/>
          </a:prstGeom>
          <a:ln w="15875">
            <a:solidFill>
              <a:srgbClr val="5F667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458200" y="1874519"/>
            <a:ext cx="822960" cy="502920"/>
          </a:xfrm>
          <a:prstGeom prst="rect">
            <a:avLst/>
          </a:prstGeom>
          <a:gradFill rotWithShape="1">
            <a:gsLst>
              <a:gs pos="0">
                <a:srgbClr val="C8641E"/>
              </a:gs>
              <a:gs pos="100000">
                <a:srgbClr val="FDF1E6"/>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12480" y="2377440"/>
            <a:ext cx="914400" cy="274320"/>
          </a:xfrm>
          <a:prstGeom prst="rect">
            <a:avLst/>
          </a:prstGeom>
          <a:noFill/>
        </p:spPr>
        <p:txBody>
          <a:bodyPr wrap="square" anchor="t" lIns="45720" rIns="45720" tIns="27432" bIns="27432">
            <a:spAutoFit/>
          </a:bodyPr>
          <a:lstStyle/>
          <a:p>
            <a:pPr algn="ctr">
              <a:spcAft>
                <a:spcPts val="600"/>
              </a:spcAft>
            </a:pPr>
            <a:r>
              <a:rPr sz="1000" b="0" i="0">
                <a:solidFill>
                  <a:srgbClr val="5F6670"/>
                </a:solidFill>
                <a:latin typeface="Calibri"/>
              </a:rPr>
              <a:t>q̂ bei 5 A</a:t>
            </a:r>
          </a:p>
        </p:txBody>
      </p:sp>
      <p:sp>
        <p:nvSpPr>
          <p:cNvPr id="90" name="TextBox 89"/>
          <p:cNvSpPr txBox="1"/>
          <p:nvPr/>
        </p:nvSpPr>
        <p:spPr>
          <a:xfrm>
            <a:off x="9281160" y="1901952"/>
            <a:ext cx="365760" cy="457200"/>
          </a:xfrm>
          <a:prstGeom prst="rect">
            <a:avLst/>
          </a:prstGeom>
          <a:noFill/>
        </p:spPr>
        <p:txBody>
          <a:bodyPr wrap="square" anchor="t" lIns="45720" rIns="45720" tIns="27432" bIns="27432">
            <a:spAutoFit/>
          </a:bodyPr>
          <a:lstStyle/>
          <a:p>
            <a:pPr algn="ctr">
              <a:spcAft>
                <a:spcPts val="600"/>
              </a:spcAft>
            </a:pPr>
            <a:r>
              <a:rPr sz="2000" b="0" i="0">
                <a:solidFill>
                  <a:srgbClr val="222222"/>
                </a:solidFill>
                <a:latin typeface="Calibri"/>
              </a:rPr>
              <a:t>×</a:t>
            </a:r>
          </a:p>
        </p:txBody>
      </p:sp>
      <p:sp>
        <p:nvSpPr>
          <p:cNvPr id="91" name="Rounded Rectangle 90"/>
          <p:cNvSpPr/>
          <p:nvPr/>
        </p:nvSpPr>
        <p:spPr>
          <a:xfrm>
            <a:off x="9646920" y="1920240"/>
            <a:ext cx="1005840" cy="411480"/>
          </a:xfrm>
          <a:prstGeom prst="roundRect">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i="0">
                <a:solidFill>
                  <a:srgbClr val="222222"/>
                </a:solidFill>
                <a:latin typeface="Calibri"/>
              </a:rPr>
              <a:t>(I / 5 A)²</a:t>
            </a:r>
          </a:p>
        </p:txBody>
      </p:sp>
      <p:sp>
        <p:nvSpPr>
          <p:cNvPr id="92" name="TextBox 91"/>
          <p:cNvSpPr txBox="1"/>
          <p:nvPr/>
        </p:nvSpPr>
        <p:spPr>
          <a:xfrm>
            <a:off x="10698480" y="1901952"/>
            <a:ext cx="960120" cy="822960"/>
          </a:xfrm>
          <a:prstGeom prst="rect">
            <a:avLst/>
          </a:prstGeom>
          <a:noFill/>
        </p:spPr>
        <p:txBody>
          <a:bodyPr wrap="square" anchor="t" lIns="45720" rIns="45720" tIns="27432" bIns="27432">
            <a:spAutoFit/>
          </a:bodyPr>
          <a:lstStyle/>
          <a:p>
            <a:pPr algn="l">
              <a:spcAft>
                <a:spcPts val="600"/>
              </a:spcAft>
            </a:pPr>
            <a:r>
              <a:rPr sz="1400" b="0" i="0">
                <a:solidFill>
                  <a:srgbClr val="222222"/>
                </a:solidFill>
                <a:latin typeface="Calibri"/>
              </a:rPr>
              <a:t>= q(I)</a:t>
            </a:r>
          </a:p>
          <a:p>
            <a:pPr algn="l">
              <a:spcAft>
                <a:spcPts val="600"/>
              </a:spcAft>
            </a:pPr>
            <a:r>
              <a:rPr sz="1000" b="1" i="0">
                <a:solidFill>
                  <a:srgbClr val="2E8B57"/>
                </a:solidFill>
                <a:latin typeface="Calibri"/>
              </a:rPr>
              <a:t>1 Multiplikation</a:t>
            </a:r>
          </a:p>
        </p:txBody>
      </p:sp>
      <p:sp>
        <p:nvSpPr>
          <p:cNvPr id="93" name="Rectangle 92"/>
          <p:cNvSpPr/>
          <p:nvPr/>
        </p:nvSpPr>
        <p:spPr>
          <a:xfrm>
            <a:off x="8458200" y="3017520"/>
            <a:ext cx="1828800" cy="320040"/>
          </a:xfrm>
          <a:prstGeom prst="rect">
            <a:avLst/>
          </a:prstGeom>
          <a:gradFill rotWithShape="1">
            <a:gsLst>
              <a:gs pos="0">
                <a:srgbClr val="F6D9C2"/>
              </a:gs>
              <a:gs pos="100000">
                <a:srgbClr val="C8641E"/>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412480" y="3337560"/>
            <a:ext cx="1920240" cy="274320"/>
          </a:xfrm>
          <a:prstGeom prst="rect">
            <a:avLst/>
          </a:prstGeom>
          <a:noFill/>
        </p:spPr>
        <p:txBody>
          <a:bodyPr wrap="square" anchor="t" lIns="45720" rIns="45720" tIns="27432" bIns="27432">
            <a:spAutoFit/>
          </a:bodyPr>
          <a:lstStyle/>
          <a:p>
            <a:pPr algn="l">
              <a:spcAft>
                <a:spcPts val="600"/>
              </a:spcAft>
            </a:pPr>
            <a:r>
              <a:rPr sz="1000" b="0" i="0">
                <a:solidFill>
                  <a:srgbClr val="5F6670"/>
                </a:solidFill>
                <a:latin typeface="Calibri"/>
              </a:rPr>
              <a:t>Form ΔT_ref (gespeichert)</a:t>
            </a:r>
          </a:p>
        </p:txBody>
      </p:sp>
      <p:sp>
        <p:nvSpPr>
          <p:cNvPr id="95" name="TextBox 94"/>
          <p:cNvSpPr txBox="1"/>
          <p:nvPr/>
        </p:nvSpPr>
        <p:spPr>
          <a:xfrm>
            <a:off x="10287000" y="2944368"/>
            <a:ext cx="365760" cy="457200"/>
          </a:xfrm>
          <a:prstGeom prst="rect">
            <a:avLst/>
          </a:prstGeom>
          <a:noFill/>
        </p:spPr>
        <p:txBody>
          <a:bodyPr wrap="square" anchor="t" lIns="45720" rIns="45720" tIns="27432" bIns="27432">
            <a:spAutoFit/>
          </a:bodyPr>
          <a:lstStyle/>
          <a:p>
            <a:pPr algn="ctr">
              <a:spcAft>
                <a:spcPts val="600"/>
              </a:spcAft>
            </a:pPr>
            <a:r>
              <a:rPr sz="2000" b="0" i="0">
                <a:solidFill>
                  <a:srgbClr val="222222"/>
                </a:solidFill>
                <a:latin typeface="Calibri"/>
              </a:rPr>
              <a:t>×</a:t>
            </a:r>
          </a:p>
        </p:txBody>
      </p:sp>
      <p:sp>
        <p:nvSpPr>
          <p:cNvPr id="96" name="Rounded Rectangle 95"/>
          <p:cNvSpPr/>
          <p:nvPr/>
        </p:nvSpPr>
        <p:spPr>
          <a:xfrm>
            <a:off x="10698480" y="2971800"/>
            <a:ext cx="731520" cy="411480"/>
          </a:xfrm>
          <a:prstGeom prst="roundRect">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222222"/>
                </a:solidFill>
                <a:latin typeface="Calibri"/>
              </a:rPr>
              <a:t>β(t)</a:t>
            </a:r>
          </a:p>
        </p:txBody>
      </p:sp>
      <p:sp>
        <p:nvSpPr>
          <p:cNvPr id="97" name="TextBox 96"/>
          <p:cNvSpPr txBox="1"/>
          <p:nvPr/>
        </p:nvSpPr>
        <p:spPr>
          <a:xfrm>
            <a:off x="8412480" y="3566160"/>
            <a:ext cx="3291840" cy="274320"/>
          </a:xfrm>
          <a:prstGeom prst="rect">
            <a:avLst/>
          </a:prstGeom>
          <a:noFill/>
        </p:spPr>
        <p:txBody>
          <a:bodyPr wrap="square" anchor="t" lIns="45720" rIns="45720" tIns="27432" bIns="27432">
            <a:spAutoFit/>
          </a:bodyPr>
          <a:lstStyle/>
          <a:p>
            <a:pPr algn="l">
              <a:spcAft>
                <a:spcPts val="600"/>
              </a:spcAft>
            </a:pPr>
            <a:r>
              <a:rPr sz="1000" b="1" i="0">
                <a:solidFill>
                  <a:srgbClr val="2E8B57"/>
                </a:solidFill>
                <a:latin typeface="Calibri"/>
              </a:rPr>
              <a:t>2 Zahlen: β Wirbel, β Luft</a:t>
            </a:r>
          </a:p>
        </p:txBody>
      </p:sp>
      <p:sp>
        <p:nvSpPr>
          <p:cNvPr id="98" name="Oval 97"/>
          <p:cNvSpPr/>
          <p:nvPr/>
        </p:nvSpPr>
        <p:spPr>
          <a:xfrm>
            <a:off x="8394192" y="3977639"/>
            <a:ext cx="402336" cy="402336"/>
          </a:xfrm>
          <a:prstGeom prst="ellipse">
            <a:avLst/>
          </a:prstGeom>
          <a:solidFill>
            <a:srgbClr val="F6D9C2"/>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i="0">
                <a:solidFill>
                  <a:srgbClr val="222222"/>
                </a:solidFill>
                <a:latin typeface="Calibri"/>
              </a:rPr>
              <a:t>iW</a:t>
            </a:r>
          </a:p>
        </p:txBody>
      </p:sp>
      <p:sp>
        <p:nvSpPr>
          <p:cNvPr id="99" name="Oval 98"/>
          <p:cNvSpPr/>
          <p:nvPr/>
        </p:nvSpPr>
        <p:spPr>
          <a:xfrm>
            <a:off x="8988552" y="3977639"/>
            <a:ext cx="402336" cy="402336"/>
          </a:xfrm>
          <a:prstGeom prst="ellipse">
            <a:avLst/>
          </a:prstGeom>
          <a:solidFill>
            <a:srgbClr val="F6D9C2"/>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i="0">
                <a:solidFill>
                  <a:srgbClr val="222222"/>
                </a:solidFill>
                <a:latin typeface="Calibri"/>
              </a:rPr>
              <a:t>iO</a:t>
            </a:r>
          </a:p>
        </p:txBody>
      </p:sp>
      <p:sp>
        <p:nvSpPr>
          <p:cNvPr id="100" name="Oval 99"/>
          <p:cNvSpPr/>
          <p:nvPr/>
        </p:nvSpPr>
        <p:spPr>
          <a:xfrm>
            <a:off x="9582911" y="3977639"/>
            <a:ext cx="402336" cy="402336"/>
          </a:xfrm>
          <a:prstGeom prst="ellipse">
            <a:avLst/>
          </a:prstGeom>
          <a:solidFill>
            <a:srgbClr val="D9DBD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i="0">
                <a:solidFill>
                  <a:srgbClr val="222222"/>
                </a:solidFill>
                <a:latin typeface="Calibri"/>
              </a:rPr>
              <a:t>Fe</a:t>
            </a:r>
          </a:p>
        </p:txBody>
      </p:sp>
      <p:sp>
        <p:nvSpPr>
          <p:cNvPr id="101" name="Oval 100"/>
          <p:cNvSpPr/>
          <p:nvPr/>
        </p:nvSpPr>
        <p:spPr>
          <a:xfrm>
            <a:off x="10177272" y="3977639"/>
            <a:ext cx="402336" cy="402336"/>
          </a:xfrm>
          <a:prstGeom prst="ellipse">
            <a:avLst/>
          </a:prstGeom>
          <a:solidFill>
            <a:srgbClr val="F6D9C2"/>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i="0">
                <a:solidFill>
                  <a:srgbClr val="222222"/>
                </a:solidFill>
                <a:latin typeface="Calibri"/>
              </a:rPr>
              <a:t>aO</a:t>
            </a:r>
          </a:p>
        </p:txBody>
      </p:sp>
      <p:sp>
        <p:nvSpPr>
          <p:cNvPr id="102" name="Oval 101"/>
          <p:cNvSpPr/>
          <p:nvPr/>
        </p:nvSpPr>
        <p:spPr>
          <a:xfrm>
            <a:off x="10771632" y="3977639"/>
            <a:ext cx="402336" cy="402336"/>
          </a:xfrm>
          <a:prstGeom prst="ellipse">
            <a:avLst/>
          </a:prstGeom>
          <a:solidFill>
            <a:srgbClr val="F6D9C2"/>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i="0">
                <a:solidFill>
                  <a:srgbClr val="222222"/>
                </a:solidFill>
                <a:latin typeface="Calibri"/>
              </a:rPr>
              <a:t>aW</a:t>
            </a:r>
          </a:p>
        </p:txBody>
      </p:sp>
      <p:sp>
        <p:nvSpPr>
          <p:cNvPr id="103" name="Oval 102"/>
          <p:cNvSpPr/>
          <p:nvPr/>
        </p:nvSpPr>
        <p:spPr>
          <a:xfrm>
            <a:off x="9582911" y="4480560"/>
            <a:ext cx="402336" cy="402336"/>
          </a:xfrm>
          <a:prstGeom prst="ellipse">
            <a:avLst/>
          </a:prstGeom>
          <a:solidFill>
            <a:srgbClr val="D4EC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i="0">
                <a:solidFill>
                  <a:srgbClr val="222222"/>
                </a:solidFill>
                <a:latin typeface="Calibri"/>
              </a:rPr>
              <a:t>L</a:t>
            </a:r>
          </a:p>
        </p:txBody>
      </p:sp>
      <p:cxnSp>
        <p:nvCxnSpPr>
          <p:cNvPr id="104" name="Connector 103"/>
          <p:cNvCxnSpPr/>
          <p:nvPr/>
        </p:nvCxnSpPr>
        <p:spPr>
          <a:xfrm>
            <a:off x="8796528" y="4178808"/>
            <a:ext cx="192024" cy="0"/>
          </a:xfrm>
          <a:prstGeom prst="line">
            <a:avLst/>
          </a:prstGeom>
          <a:ln w="9525">
            <a:solidFill>
              <a:srgbClr val="1F3A5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390888" y="4178808"/>
            <a:ext cx="192023" cy="0"/>
          </a:xfrm>
          <a:prstGeom prst="line">
            <a:avLst/>
          </a:prstGeom>
          <a:ln w="9525">
            <a:solidFill>
              <a:srgbClr val="1F3A5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579608" y="4178808"/>
            <a:ext cx="192024" cy="0"/>
          </a:xfrm>
          <a:prstGeom prst="line">
            <a:avLst/>
          </a:prstGeom>
          <a:ln w="9525">
            <a:solidFill>
              <a:srgbClr val="1F3A5F"/>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0332720" y="4526280"/>
            <a:ext cx="1371600" cy="274320"/>
          </a:xfrm>
          <a:prstGeom prst="rect">
            <a:avLst/>
          </a:prstGeom>
          <a:noFill/>
        </p:spPr>
        <p:txBody>
          <a:bodyPr wrap="square" anchor="t" lIns="45720" rIns="45720" tIns="27432" bIns="27432">
            <a:spAutoFit/>
          </a:bodyPr>
          <a:lstStyle/>
          <a:p>
            <a:pPr algn="l">
              <a:spcAft>
                <a:spcPts val="600"/>
              </a:spcAft>
            </a:pPr>
            <a:r>
              <a:rPr sz="1000" b="1" i="0">
                <a:solidFill>
                  <a:srgbClr val="2E8B57"/>
                </a:solidFill>
                <a:latin typeface="Calibri"/>
              </a:rPr>
              <a:t>6 Knoten</a:t>
            </a:r>
          </a:p>
        </p:txBody>
      </p:sp>
      <p:sp>
        <p:nvSpPr>
          <p:cNvPr id="108" name="Rounded Rectangle 107"/>
          <p:cNvSpPr/>
          <p:nvPr/>
        </p:nvSpPr>
        <p:spPr>
          <a:xfrm>
            <a:off x="548640" y="5029200"/>
            <a:ext cx="11064240" cy="329184"/>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FFFFFF"/>
                </a:solidFill>
                <a:latin typeface="Calibri"/>
              </a:rPr>
              <a:t>PRO ZEITSCHRITT: alle drei gleichzeitig</a:t>
            </a:r>
          </a:p>
        </p:txBody>
      </p:sp>
      <p:sp>
        <p:nvSpPr>
          <p:cNvPr id="109" name="Rounded Rectangle 108"/>
          <p:cNvSpPr/>
          <p:nvPr/>
        </p:nvSpPr>
        <p:spPr>
          <a:xfrm>
            <a:off x="548640" y="5532120"/>
            <a:ext cx="1188720" cy="548640"/>
          </a:xfrm>
          <a:prstGeom prst="roundRect">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i="0">
                <a:solidFill>
                  <a:srgbClr val="222222"/>
                </a:solidFill>
                <a:latin typeface="Calibri"/>
              </a:rPr>
              <a:t>Strom I(t)</a:t>
            </a:r>
          </a:p>
        </p:txBody>
      </p:sp>
      <p:sp>
        <p:nvSpPr>
          <p:cNvPr id="110" name="Rounded Rectangle 109"/>
          <p:cNvSpPr/>
          <p:nvPr/>
        </p:nvSpPr>
        <p:spPr>
          <a:xfrm>
            <a:off x="2103120" y="5532120"/>
            <a:ext cx="1828800" cy="548640"/>
          </a:xfrm>
          <a:prstGeom prst="roundRect">
            <a:avLst/>
          </a:prstGeom>
          <a:solidFill>
            <a:srgbClr val="FFF4CC"/>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222222"/>
                </a:solidFill>
                <a:latin typeface="Calibri"/>
              </a:rPr>
              <a:t>A</a:t>
            </a:r>
            <a:r>
              <a:rPr sz="1200" b="0" i="0">
                <a:solidFill>
                  <a:srgbClr val="222222"/>
                </a:solidFill>
                <a:latin typeface="Calibri"/>
              </a:rPr>
              <a:t>: × (I/5 A)²</a:t>
            </a:r>
          </a:p>
        </p:txBody>
      </p:sp>
      <p:sp>
        <p:nvSpPr>
          <p:cNvPr id="111" name="Rounded Rectangle 110"/>
          <p:cNvSpPr/>
          <p:nvPr/>
        </p:nvSpPr>
        <p:spPr>
          <a:xfrm>
            <a:off x="4389120" y="5440680"/>
            <a:ext cx="2194560" cy="365760"/>
          </a:xfrm>
          <a:prstGeom prst="roundRect">
            <a:avLst/>
          </a:prstGeom>
          <a:solidFill>
            <a:srgbClr val="F6D9C2"/>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222222"/>
                </a:solidFill>
                <a:latin typeface="Calibri"/>
              </a:rPr>
              <a:t>C</a:t>
            </a:r>
            <a:r>
              <a:rPr sz="1200" b="0" i="0">
                <a:solidFill>
                  <a:srgbClr val="222222"/>
                </a:solidFill>
                <a:latin typeface="Calibri"/>
              </a:rPr>
              <a:t>: 6 Knoten</a:t>
            </a:r>
          </a:p>
        </p:txBody>
      </p:sp>
      <p:sp>
        <p:nvSpPr>
          <p:cNvPr id="112" name="Rounded Rectangle 111"/>
          <p:cNvSpPr/>
          <p:nvPr/>
        </p:nvSpPr>
        <p:spPr>
          <a:xfrm>
            <a:off x="4389120" y="5897880"/>
            <a:ext cx="2194560" cy="365760"/>
          </a:xfrm>
          <a:prstGeom prst="roundRect">
            <a:avLst/>
          </a:prstGeom>
          <a:solidFill>
            <a:srgbClr val="F6D9C2"/>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222222"/>
                </a:solidFill>
                <a:latin typeface="Calibri"/>
              </a:rPr>
              <a:t>B</a:t>
            </a:r>
            <a:r>
              <a:rPr sz="1200" b="0" i="0">
                <a:solidFill>
                  <a:srgbClr val="222222"/>
                </a:solidFill>
                <a:latin typeface="Calibri"/>
              </a:rPr>
              <a:t>: 2 Gewichte β</a:t>
            </a:r>
          </a:p>
        </p:txBody>
      </p:sp>
      <p:sp>
        <p:nvSpPr>
          <p:cNvPr id="113" name="Rounded Rectangle 112"/>
          <p:cNvSpPr/>
          <p:nvPr/>
        </p:nvSpPr>
        <p:spPr>
          <a:xfrm>
            <a:off x="7040880" y="5532120"/>
            <a:ext cx="1737360" cy="548640"/>
          </a:xfrm>
          <a:prstGeom prst="roundRect">
            <a:avLst/>
          </a:prstGeom>
          <a:solidFill>
            <a:srgbClr val="DDF0E4"/>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i="0">
                <a:solidFill>
                  <a:srgbClr val="222222"/>
                </a:solidFill>
                <a:latin typeface="Calibri"/>
              </a:rPr>
              <a:t>Temperaturen,</a:t>
            </a:r>
          </a:p>
          <a:p>
            <a:pPr algn="ctr"/>
            <a:r>
              <a:rPr sz="1100" b="0" i="0">
                <a:solidFill>
                  <a:srgbClr val="222222"/>
                </a:solidFill>
                <a:latin typeface="Calibri"/>
              </a:rPr>
              <a:t>Schwebehöhe</a:t>
            </a:r>
          </a:p>
        </p:txBody>
      </p:sp>
      <p:sp>
        <p:nvSpPr>
          <p:cNvPr id="114" name="Rounded Rectangle 113"/>
          <p:cNvSpPr/>
          <p:nvPr/>
        </p:nvSpPr>
        <p:spPr>
          <a:xfrm>
            <a:off x="9052560" y="5486400"/>
            <a:ext cx="2560320" cy="640080"/>
          </a:xfrm>
          <a:prstGeom prst="roundRect">
            <a:avLst/>
          </a:prstGeom>
          <a:solidFill>
            <a:srgbClr val="DDF0E4"/>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222222"/>
                </a:solidFill>
                <a:latin typeface="Calibri"/>
              </a:rPr>
              <a:t>8 Zahlen</a:t>
            </a:r>
            <a:r>
              <a:rPr sz="1200" b="0" i="0">
                <a:solidFill>
                  <a:srgbClr val="222222"/>
                </a:solidFill>
                <a:latin typeface="Calibri"/>
              </a:rPr>
              <a:t> statt 8 700 + 697</a:t>
            </a:r>
          </a:p>
          <a:p>
            <a:pPr algn="ctr"/>
            <a:r>
              <a:rPr sz="1200" b="0" i="0">
                <a:solidFill>
                  <a:srgbClr val="222222"/>
                </a:solidFill>
                <a:latin typeface="Calibri"/>
              </a:rPr>
              <a:t>≈ 3 µs pro Schritt</a:t>
            </a:r>
          </a:p>
        </p:txBody>
      </p:sp>
      <p:cxnSp>
        <p:nvCxnSpPr>
          <p:cNvPr id="115" name="Connector 114"/>
          <p:cNvCxnSpPr/>
          <p:nvPr/>
        </p:nvCxnSpPr>
        <p:spPr>
          <a:xfrm>
            <a:off x="1737360" y="580644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931920" y="5623560"/>
            <a:ext cx="457200" cy="9144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3931920" y="5897880"/>
            <a:ext cx="457200" cy="1828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486400" y="5806440"/>
            <a:ext cx="0" cy="91440"/>
          </a:xfrm>
          <a:prstGeom prst="line">
            <a:avLst/>
          </a:prstGeom>
          <a:ln w="190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583680" y="5623560"/>
            <a:ext cx="457200" cy="13716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583680" y="5897880"/>
            <a:ext cx="457200" cy="1828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532120" y="5742432"/>
            <a:ext cx="1097280" cy="182880"/>
          </a:xfrm>
          <a:prstGeom prst="rect">
            <a:avLst/>
          </a:prstGeom>
          <a:noFill/>
        </p:spPr>
        <p:txBody>
          <a:bodyPr wrap="square" anchor="t" lIns="45720" rIns="45720" tIns="27432" bIns="27432">
            <a:spAutoFit/>
          </a:bodyPr>
          <a:lstStyle/>
          <a:p>
            <a:pPr algn="l">
              <a:spcAft>
                <a:spcPts val="600"/>
              </a:spcAft>
            </a:pPr>
            <a:r>
              <a:rPr sz="800" b="0" i="0">
                <a:solidFill>
                  <a:srgbClr val="C0392B"/>
                </a:solidFill>
                <a:latin typeface="Calibri"/>
              </a:rPr>
              <a:t>warme Luft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